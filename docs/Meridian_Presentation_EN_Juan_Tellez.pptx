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483"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9974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Streamlit BEFORE starting. 15 sec here.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20 seconds, then move 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The point: this challenge rewards judgement, not the cleverest agent.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Don't read all eight. Point at 2 and 7.</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Read the FX one only.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2 min. Pause after 'the sign flips'.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Read the boxed sentence aloud.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Say: every row on the right is a bug that does not happen.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slide. Skip at 15 min; keep at 30.</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Second strong moment.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Stress that 27,900 are not breaches.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Good for technical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at 15. Dwell at 30.</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for technical questions.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HERE. Rehearse: rename, reload, ask.</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 last sentence answers what the role is looking for.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Do not apologise for any of 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and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4"/>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B2A5E"/>
          </a:solidFill>
          <a:ln/>
        </p:spPr>
        <p:txBody>
          <a:bodyPr/>
          <a:p/>
        </p:txBody>
      </p:sp>
      <p:sp>
        <p:nvSpPr>
          <p:cNvPr id="3" name="Text 1"/>
          <p:cNvSpPr/>
          <p:nvPr/>
        </p:nvSpPr>
        <p:spPr>
          <a:xfrm>
            <a:off x="868680" y="1920240"/>
            <a:ext cx="9144000" cy="274320"/>
          </a:xfrm>
          <a:prstGeom prst="rect">
            <a:avLst/>
          </a:prstGeom>
          <a:noFill/>
          <a:ln/>
        </p:spPr>
        <p:txBody>
          <a:bodyPr wrap="square" lIns="0" tIns="0" rIns="0" bIns="0" rtlCol="0" anchor="ctr"/>
          <a:lstStyle/>
          <a:p>
            <a:pPr marL="0" indent="0">
              <a:buNone/>
            </a:pPr>
            <a:r>
              <a:rPr lang="en-US" sz="1200" b="1" kern="0" spc="250" dirty="0">
                <a:solidFill>
                  <a:srgbClr val="9FB0DC"/>
                </a:solidFill>
                <a:latin typeface="Calibri" pitchFamily="34" charset="0"/>
                <a:ea typeface="Calibri" pitchFamily="34" charset="-122"/>
                <a:cs typeface="Calibri" pitchFamily="34" charset="-120"/>
              </a:rPr>
              <a:t>FINANCIAL ANALYSIS CASE STUDY</a:t>
            </a:r>
            <a:endParaRPr lang="en-US" sz="1200" dirty="0"/>
          </a:p>
        </p:txBody>
      </p:sp>
      <p:sp>
        <p:nvSpPr>
          <p:cNvPr id="4" name="Text 2"/>
          <p:cNvSpPr/>
          <p:nvPr/>
        </p:nvSpPr>
        <p:spPr>
          <a:xfrm>
            <a:off x="868680" y="2331720"/>
            <a:ext cx="10058400" cy="1554480"/>
          </a:xfrm>
          <a:prstGeom prst="rect">
            <a:avLst/>
          </a:prstGeom>
          <a:noFill/>
          <a:ln/>
        </p:spPr>
        <p:txBody>
          <a:bodyPr wrap="square" lIns="0" tIns="0" rIns="0" bIns="0" rtlCol="0" anchor="ctr"/>
          <a:lstStyle/>
          <a:p>
            <a:pPr marL="0" indent="0">
              <a:lnSpc>
                <a:spcPts val="5200"/>
              </a:lnSpc>
              <a:buNone/>
            </a:pPr>
            <a:r>
              <a:rPr lang="en-US" sz="4200" b="1" dirty="0">
                <a:solidFill>
                  <a:srgbClr val="FFFFFF"/>
                </a:solidFill>
                <a:latin typeface="Cambria" pitchFamily="34" charset="0"/>
                <a:ea typeface="Cambria" pitchFamily="34" charset="-122"/>
                <a:cs typeface="Cambria" pitchFamily="34" charset="-120"/>
              </a:rPr>
              <a:t>Meridian Finance</a:t>
            </a:r>
            <a:endParaRPr lang="en-US" sz="4200" dirty="0"/>
          </a:p>
          <a:p>
            <a:pPr marL="0" indent="0">
              <a:lnSpc>
                <a:spcPts val="5200"/>
              </a:lnSpc>
              <a:buNone/>
            </a:pPr>
            <a:r>
              <a:rPr lang="en-US" sz="4200" b="1" dirty="0">
                <a:solidFill>
                  <a:srgbClr val="FFFFFF"/>
                </a:solidFill>
                <a:latin typeface="Cambria" pitchFamily="34" charset="0"/>
                <a:ea typeface="Cambria" pitchFamily="34" charset="-122"/>
                <a:cs typeface="Cambria" pitchFamily="34" charset="-120"/>
              </a:rPr>
              <a:t>Analyst Assistant</a:t>
            </a:r>
            <a:endParaRPr lang="en-US" sz="4200" dirty="0"/>
          </a:p>
        </p:txBody>
      </p:sp>
      <p:sp>
        <p:nvSpPr>
          <p:cNvPr id="5" name="Shape 3"/>
          <p:cNvSpPr/>
          <p:nvPr/>
        </p:nvSpPr>
        <p:spPr>
          <a:xfrm>
            <a:off x="868680" y="4114800"/>
            <a:ext cx="1097280" cy="32004"/>
          </a:xfrm>
          <a:prstGeom prst="rect">
            <a:avLst/>
          </a:prstGeom>
          <a:solidFill>
            <a:srgbClr val="CADCFC"/>
          </a:solidFill>
          <a:ln/>
        </p:spPr>
        <p:txBody>
          <a:bodyPr/>
          <a:p/>
        </p:txBody>
      </p:sp>
      <p:sp>
        <p:nvSpPr>
          <p:cNvPr id="6" name="Text 4"/>
          <p:cNvSpPr/>
          <p:nvPr/>
        </p:nvSpPr>
        <p:spPr>
          <a:xfrm>
            <a:off x="868680" y="4407408"/>
            <a:ext cx="9601200" cy="731520"/>
          </a:xfrm>
          <a:prstGeom prst="rect">
            <a:avLst/>
          </a:prstGeom>
          <a:noFill/>
          <a:ln/>
        </p:spPr>
        <p:txBody>
          <a:bodyPr wrap="square" lIns="0" tIns="0" rIns="0" bIns="0" rtlCol="0" anchor="ctr"/>
          <a:lstStyle/>
          <a:p>
            <a:pPr marL="0" indent="0">
              <a:lnSpc>
                <a:spcPts val="2500"/>
              </a:lnSpc>
              <a:buNone/>
            </a:pPr>
            <a:r>
              <a:rPr lang="en-US" sz="1600" i="1" dirty="0">
                <a:solidFill>
                  <a:srgbClr val="CADCFC"/>
                </a:solidFill>
                <a:latin typeface="Calibri" pitchFamily="34" charset="0"/>
                <a:ea typeface="Calibri" pitchFamily="34" charset="-122"/>
                <a:cs typeface="Calibri" pitchFamily="34" charset="-120"/>
              </a:rPr>
              <a:t>An assistant that answers finance questions in plain English,</a:t>
            </a:r>
            <a:endParaRPr lang="en-US" sz="1600" dirty="0"/>
          </a:p>
          <a:p>
            <a:pPr marL="0" indent="0">
              <a:lnSpc>
                <a:spcPts val="2500"/>
              </a:lnSpc>
              <a:buNone/>
            </a:pPr>
            <a:r>
              <a:rPr lang="en-US" sz="1600" i="1" dirty="0">
                <a:solidFill>
                  <a:srgbClr val="CADCFC"/>
                </a:solidFill>
                <a:latin typeface="Calibri" pitchFamily="34" charset="0"/>
                <a:ea typeface="Calibri" pitchFamily="34" charset="-122"/>
                <a:cs typeface="Calibri" pitchFamily="34" charset="-120"/>
              </a:rPr>
              <a:t>and knows when it should not answer at all.</a:t>
            </a:r>
            <a:endParaRPr lang="en-US" sz="1600" dirty="0"/>
          </a:p>
        </p:txBody>
      </p:sp>
      <p:sp>
        <p:nvSpPr>
          <p:cNvPr id="7" name="Text 5"/>
          <p:cNvSpPr/>
          <p:nvPr/>
        </p:nvSpPr>
        <p:spPr>
          <a:xfrm>
            <a:off x="868680" y="5852160"/>
            <a:ext cx="7315200" cy="274320"/>
          </a:xfrm>
          <a:prstGeom prst="rect">
            <a:avLst/>
          </a:prstGeom>
          <a:noFill/>
          <a:ln/>
        </p:spPr>
        <p:txBody>
          <a:bodyPr wrap="square" lIns="0" tIns="0" rIns="0" bIns="0" rtlCol="0" anchor="ctr"/>
          <a:lstStyle/>
          <a:p>
            <a:pPr marL="0" indent="0">
              <a:buNone/>
            </a:pPr>
            <a:r>
              <a:rPr lang="en-US" sz="1200" dirty="0">
                <a:solidFill>
                  <a:srgbClr val="5A6899"/>
                </a:solidFill>
                <a:latin typeface="Calibri" pitchFamily="34" charset="0"/>
                <a:ea typeface="Calibri" pitchFamily="34" charset="-122"/>
                <a:cs typeface="Calibri" pitchFamily="34" charset="-120"/>
              </a:rPr>
              <a:t>Juan Sebastián Téllez López· August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02</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WALKTHROUGH</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What we will cover</a:t>
            </a:r>
            <a:endParaRPr lang="en-US" sz="2800" dirty="0"/>
          </a:p>
        </p:txBody>
      </p:sp>
      <p:sp>
        <p:nvSpPr>
          <p:cNvPr id="6" name="Shape 4"/>
          <p:cNvSpPr/>
          <p:nvPr/>
        </p:nvSpPr>
        <p:spPr>
          <a:xfrm>
            <a:off x="566928" y="1691640"/>
            <a:ext cx="5349240" cy="1078992"/>
          </a:xfrm>
          <a:prstGeom prst="roundRect">
            <a:avLst>
              <a:gd name="adj" fmla="val 4237"/>
            </a:avLst>
          </a:prstGeom>
          <a:solidFill>
            <a:srgbClr val="F3F5FA"/>
          </a:solidFill>
          <a:ln w="12700">
            <a:solidFill>
              <a:srgbClr val="DCE2F0"/>
            </a:solidFill>
            <a:prstDash val="solid"/>
          </a:ln>
        </p:spPr>
        <p:txBody>
          <a:bodyPr/>
          <a:p/>
        </p:txBody>
      </p:sp>
      <p:sp>
        <p:nvSpPr>
          <p:cNvPr id="7" name="Text 5"/>
          <p:cNvSpPr/>
          <p:nvPr/>
        </p:nvSpPr>
        <p:spPr>
          <a:xfrm>
            <a:off x="822960" y="1929384"/>
            <a:ext cx="640080" cy="457200"/>
          </a:xfrm>
          <a:prstGeom prst="rect">
            <a:avLst/>
          </a:prstGeom>
          <a:noFill/>
          <a:ln/>
        </p:spPr>
        <p:txBody>
          <a:bodyPr wrap="square" lIns="0" tIns="0" rIns="0" bIns="0" rtlCol="0" anchor="ctr"/>
          <a:lstStyle/>
          <a:p>
            <a:pPr marL="0" indent="0">
              <a:buNone/>
            </a:pPr>
            <a:r>
              <a:rPr lang="en-US" sz="2200" b="1" dirty="0">
                <a:solidFill>
                  <a:srgbClr val="9FB0DC"/>
                </a:solidFill>
                <a:latin typeface="Cambria" pitchFamily="34" charset="0"/>
                <a:ea typeface="Cambria" pitchFamily="34" charset="-122"/>
                <a:cs typeface="Cambria" pitchFamily="34" charset="-120"/>
              </a:rPr>
              <a:t>01</a:t>
            </a:r>
            <a:endParaRPr lang="en-US" sz="2200" dirty="0"/>
          </a:p>
        </p:txBody>
      </p:sp>
      <p:sp>
        <p:nvSpPr>
          <p:cNvPr id="8" name="Text 6"/>
          <p:cNvSpPr/>
          <p:nvPr/>
        </p:nvSpPr>
        <p:spPr>
          <a:xfrm>
            <a:off x="1527048" y="1911096"/>
            <a:ext cx="4114800" cy="274320"/>
          </a:xfrm>
          <a:prstGeom prst="rect">
            <a:avLst/>
          </a:prstGeom>
          <a:noFill/>
          <a:ln/>
        </p:spPr>
        <p:txBody>
          <a:bodyPr wrap="square" lIns="0" tIns="0" rIns="0" bIns="0" rtlCol="0" anchor="ctr"/>
          <a:lstStyle/>
          <a:p>
            <a:pPr marL="0" indent="0">
              <a:buNone/>
            </a:pPr>
            <a:r>
              <a:rPr lang="en-US" sz="1400" b="1" dirty="0">
                <a:solidFill>
                  <a:srgbClr val="10162F"/>
                </a:solidFill>
                <a:latin typeface="Calibri" pitchFamily="34" charset="0"/>
                <a:ea typeface="Calibri" pitchFamily="34" charset="-122"/>
                <a:cs typeface="Calibri" pitchFamily="34" charset="-120"/>
              </a:rPr>
              <a:t>The brief</a:t>
            </a:r>
            <a:endParaRPr lang="en-US" sz="1400" dirty="0"/>
          </a:p>
        </p:txBody>
      </p:sp>
      <p:sp>
        <p:nvSpPr>
          <p:cNvPr id="9" name="Text 7"/>
          <p:cNvSpPr/>
          <p:nvPr/>
        </p:nvSpPr>
        <p:spPr>
          <a:xfrm>
            <a:off x="1527048" y="2221992"/>
            <a:ext cx="4160520" cy="384048"/>
          </a:xfrm>
          <a:prstGeom prst="rect">
            <a:avLst/>
          </a:prstGeom>
          <a:noFill/>
          <a:ln/>
        </p:spPr>
        <p:txBody>
          <a:bodyPr wrap="square" lIns="0" tIns="0" rIns="0" bIns="0" rtlCol="0" anchor="ctr"/>
          <a:lstStyle/>
          <a:p>
            <a:pPr marL="0" indent="0">
              <a:lnSpc>
                <a:spcPts val="1500"/>
              </a:lnSpc>
              <a:buNone/>
            </a:pPr>
            <a:r>
              <a:rPr lang="en-US" sz="1150" dirty="0">
                <a:solidFill>
                  <a:srgbClr val="5C6784"/>
                </a:solidFill>
                <a:latin typeface="Calibri" pitchFamily="34" charset="0"/>
                <a:ea typeface="Calibri" pitchFamily="34" charset="-122"/>
                <a:cs typeface="Calibri" pitchFamily="34" charset="-120"/>
              </a:rPr>
              <a:t>What was asked, and what success actually meant.</a:t>
            </a:r>
            <a:endParaRPr lang="en-US" sz="1150" dirty="0"/>
          </a:p>
        </p:txBody>
      </p:sp>
      <p:sp>
        <p:nvSpPr>
          <p:cNvPr id="10" name="Shape 8"/>
          <p:cNvSpPr/>
          <p:nvPr/>
        </p:nvSpPr>
        <p:spPr>
          <a:xfrm>
            <a:off x="6236208" y="1691640"/>
            <a:ext cx="5349240" cy="1078992"/>
          </a:xfrm>
          <a:prstGeom prst="roundRect">
            <a:avLst>
              <a:gd name="adj" fmla="val 4237"/>
            </a:avLst>
          </a:prstGeom>
          <a:solidFill>
            <a:srgbClr val="F3F5FA"/>
          </a:solidFill>
          <a:ln w="12700">
            <a:solidFill>
              <a:srgbClr val="DCE2F0"/>
            </a:solidFill>
            <a:prstDash val="solid"/>
          </a:ln>
        </p:spPr>
        <p:txBody>
          <a:bodyPr/>
          <a:p/>
        </p:txBody>
      </p:sp>
      <p:sp>
        <p:nvSpPr>
          <p:cNvPr id="11" name="Text 9"/>
          <p:cNvSpPr/>
          <p:nvPr/>
        </p:nvSpPr>
        <p:spPr>
          <a:xfrm>
            <a:off x="6492240" y="1929384"/>
            <a:ext cx="640080" cy="457200"/>
          </a:xfrm>
          <a:prstGeom prst="rect">
            <a:avLst/>
          </a:prstGeom>
          <a:noFill/>
          <a:ln/>
        </p:spPr>
        <p:txBody>
          <a:bodyPr wrap="square" lIns="0" tIns="0" rIns="0" bIns="0" rtlCol="0" anchor="ctr"/>
          <a:lstStyle/>
          <a:p>
            <a:pPr marL="0" indent="0">
              <a:buNone/>
            </a:pPr>
            <a:r>
              <a:rPr lang="en-US" sz="2200" b="1" dirty="0">
                <a:solidFill>
                  <a:srgbClr val="9FB0DC"/>
                </a:solidFill>
                <a:latin typeface="Cambria" pitchFamily="34" charset="0"/>
                <a:ea typeface="Cambria" pitchFamily="34" charset="-122"/>
                <a:cs typeface="Cambria" pitchFamily="34" charset="-120"/>
              </a:rPr>
              <a:t>02</a:t>
            </a:r>
            <a:endParaRPr lang="en-US" sz="2200" dirty="0"/>
          </a:p>
        </p:txBody>
      </p:sp>
      <p:sp>
        <p:nvSpPr>
          <p:cNvPr id="12" name="Text 10"/>
          <p:cNvSpPr/>
          <p:nvPr/>
        </p:nvSpPr>
        <p:spPr>
          <a:xfrm>
            <a:off x="7196328" y="1911096"/>
            <a:ext cx="4114800" cy="274320"/>
          </a:xfrm>
          <a:prstGeom prst="rect">
            <a:avLst/>
          </a:prstGeom>
          <a:noFill/>
          <a:ln/>
        </p:spPr>
        <p:txBody>
          <a:bodyPr wrap="square" lIns="0" tIns="0" rIns="0" bIns="0" rtlCol="0" anchor="ctr"/>
          <a:lstStyle/>
          <a:p>
            <a:pPr marL="0" indent="0">
              <a:buNone/>
            </a:pPr>
            <a:r>
              <a:rPr lang="en-US" sz="1400" b="1" dirty="0">
                <a:solidFill>
                  <a:srgbClr val="10162F"/>
                </a:solidFill>
                <a:latin typeface="Calibri" pitchFamily="34" charset="0"/>
                <a:ea typeface="Calibri" pitchFamily="34" charset="-122"/>
                <a:cs typeface="Calibri" pitchFamily="34" charset="-120"/>
              </a:rPr>
              <a:t>The dataset</a:t>
            </a:r>
            <a:endParaRPr lang="en-US" sz="1400" dirty="0"/>
          </a:p>
        </p:txBody>
      </p:sp>
      <p:sp>
        <p:nvSpPr>
          <p:cNvPr id="13" name="Text 11"/>
          <p:cNvSpPr/>
          <p:nvPr/>
        </p:nvSpPr>
        <p:spPr>
          <a:xfrm>
            <a:off x="7196328" y="2221992"/>
            <a:ext cx="4160520" cy="384048"/>
          </a:xfrm>
          <a:prstGeom prst="rect">
            <a:avLst/>
          </a:prstGeom>
          <a:noFill/>
          <a:ln/>
        </p:spPr>
        <p:txBody>
          <a:bodyPr wrap="square" lIns="0" tIns="0" rIns="0" bIns="0" rtlCol="0" anchor="ctr"/>
          <a:lstStyle/>
          <a:p>
            <a:pPr marL="0" indent="0">
              <a:lnSpc>
                <a:spcPts val="1500"/>
              </a:lnSpc>
              <a:buNone/>
            </a:pPr>
            <a:r>
              <a:rPr lang="en-US" sz="1150" dirty="0">
                <a:solidFill>
                  <a:srgbClr val="5C6784"/>
                </a:solidFill>
                <a:latin typeface="Calibri" pitchFamily="34" charset="0"/>
                <a:ea typeface="Calibri" pitchFamily="34" charset="-122"/>
                <a:cs typeface="Calibri" pitchFamily="34" charset="-120"/>
              </a:rPr>
              <a:t>Six deliberate anomalies and what each one breaks.</a:t>
            </a:r>
            <a:endParaRPr lang="en-US" sz="1150" dirty="0"/>
          </a:p>
        </p:txBody>
      </p:sp>
      <p:sp>
        <p:nvSpPr>
          <p:cNvPr id="14" name="Shape 12"/>
          <p:cNvSpPr/>
          <p:nvPr/>
        </p:nvSpPr>
        <p:spPr>
          <a:xfrm>
            <a:off x="566928" y="2990088"/>
            <a:ext cx="5349240" cy="1078992"/>
          </a:xfrm>
          <a:prstGeom prst="roundRect">
            <a:avLst>
              <a:gd name="adj" fmla="val 4237"/>
            </a:avLst>
          </a:prstGeom>
          <a:solidFill>
            <a:srgbClr val="F3F5FA"/>
          </a:solidFill>
          <a:ln w="12700">
            <a:solidFill>
              <a:srgbClr val="DCE2F0"/>
            </a:solidFill>
            <a:prstDash val="solid"/>
          </a:ln>
        </p:spPr>
        <p:txBody>
          <a:bodyPr/>
          <a:p/>
        </p:txBody>
      </p:sp>
      <p:sp>
        <p:nvSpPr>
          <p:cNvPr id="15" name="Text 13"/>
          <p:cNvSpPr/>
          <p:nvPr/>
        </p:nvSpPr>
        <p:spPr>
          <a:xfrm>
            <a:off x="822960" y="3227832"/>
            <a:ext cx="640080" cy="457200"/>
          </a:xfrm>
          <a:prstGeom prst="rect">
            <a:avLst/>
          </a:prstGeom>
          <a:noFill/>
          <a:ln/>
        </p:spPr>
        <p:txBody>
          <a:bodyPr wrap="square" lIns="0" tIns="0" rIns="0" bIns="0" rtlCol="0" anchor="ctr"/>
          <a:lstStyle/>
          <a:p>
            <a:pPr marL="0" indent="0">
              <a:buNone/>
            </a:pPr>
            <a:r>
              <a:rPr lang="en-US" sz="2200" b="1" dirty="0">
                <a:solidFill>
                  <a:srgbClr val="9FB0DC"/>
                </a:solidFill>
                <a:latin typeface="Cambria" pitchFamily="34" charset="0"/>
                <a:ea typeface="Cambria" pitchFamily="34" charset="-122"/>
                <a:cs typeface="Cambria" pitchFamily="34" charset="-120"/>
              </a:rPr>
              <a:t>03</a:t>
            </a:r>
            <a:endParaRPr lang="en-US" sz="2200" dirty="0"/>
          </a:p>
        </p:txBody>
      </p:sp>
      <p:sp>
        <p:nvSpPr>
          <p:cNvPr id="16" name="Text 14"/>
          <p:cNvSpPr/>
          <p:nvPr/>
        </p:nvSpPr>
        <p:spPr>
          <a:xfrm>
            <a:off x="1527048" y="3209544"/>
            <a:ext cx="4114800" cy="274320"/>
          </a:xfrm>
          <a:prstGeom prst="rect">
            <a:avLst/>
          </a:prstGeom>
          <a:noFill/>
          <a:ln/>
        </p:spPr>
        <p:txBody>
          <a:bodyPr wrap="square" lIns="0" tIns="0" rIns="0" bIns="0" rtlCol="0" anchor="ctr"/>
          <a:lstStyle/>
          <a:p>
            <a:pPr marL="0" indent="0">
              <a:buNone/>
            </a:pPr>
            <a:r>
              <a:rPr lang="en-US" sz="1400" b="1" dirty="0">
                <a:solidFill>
                  <a:srgbClr val="10162F"/>
                </a:solidFill>
                <a:latin typeface="Calibri" pitchFamily="34" charset="0"/>
                <a:ea typeface="Calibri" pitchFamily="34" charset="-122"/>
                <a:cs typeface="Calibri" pitchFamily="34" charset="-120"/>
              </a:rPr>
              <a:t>The architecture</a:t>
            </a:r>
            <a:endParaRPr lang="en-US" sz="1400" dirty="0"/>
          </a:p>
        </p:txBody>
      </p:sp>
      <p:sp>
        <p:nvSpPr>
          <p:cNvPr id="17" name="Text 15"/>
          <p:cNvSpPr/>
          <p:nvPr/>
        </p:nvSpPr>
        <p:spPr>
          <a:xfrm>
            <a:off x="1527048" y="3520440"/>
            <a:ext cx="4160520" cy="384048"/>
          </a:xfrm>
          <a:prstGeom prst="rect">
            <a:avLst/>
          </a:prstGeom>
          <a:noFill/>
          <a:ln/>
        </p:spPr>
        <p:txBody>
          <a:bodyPr wrap="square" lIns="0" tIns="0" rIns="0" bIns="0" rtlCol="0" anchor="ctr"/>
          <a:lstStyle/>
          <a:p>
            <a:pPr marL="0" indent="0">
              <a:lnSpc>
                <a:spcPts val="1500"/>
              </a:lnSpc>
              <a:buNone/>
            </a:pPr>
            <a:r>
              <a:rPr lang="en-US" sz="1150" dirty="0">
                <a:solidFill>
                  <a:srgbClr val="5C6784"/>
                </a:solidFill>
                <a:latin typeface="Calibri" pitchFamily="34" charset="0"/>
                <a:ea typeface="Calibri" pitchFamily="34" charset="-122"/>
                <a:cs typeface="Calibri" pitchFamily="34" charset="-120"/>
              </a:rPr>
              <a:t>Where I drew the boundary, and why there.</a:t>
            </a:r>
            <a:endParaRPr lang="en-US" sz="1150" dirty="0"/>
          </a:p>
        </p:txBody>
      </p:sp>
      <p:sp>
        <p:nvSpPr>
          <p:cNvPr id="18" name="Shape 16"/>
          <p:cNvSpPr/>
          <p:nvPr/>
        </p:nvSpPr>
        <p:spPr>
          <a:xfrm>
            <a:off x="6236208" y="2990088"/>
            <a:ext cx="5349240" cy="1078992"/>
          </a:xfrm>
          <a:prstGeom prst="roundRect">
            <a:avLst>
              <a:gd name="adj" fmla="val 4237"/>
            </a:avLst>
          </a:prstGeom>
          <a:solidFill>
            <a:srgbClr val="F3F5FA"/>
          </a:solidFill>
          <a:ln w="12700">
            <a:solidFill>
              <a:srgbClr val="DCE2F0"/>
            </a:solidFill>
            <a:prstDash val="solid"/>
          </a:ln>
        </p:spPr>
        <p:txBody>
          <a:bodyPr/>
          <a:p/>
        </p:txBody>
      </p:sp>
      <p:sp>
        <p:nvSpPr>
          <p:cNvPr id="19" name="Text 17"/>
          <p:cNvSpPr/>
          <p:nvPr/>
        </p:nvSpPr>
        <p:spPr>
          <a:xfrm>
            <a:off x="6492240" y="3227832"/>
            <a:ext cx="640080" cy="457200"/>
          </a:xfrm>
          <a:prstGeom prst="rect">
            <a:avLst/>
          </a:prstGeom>
          <a:noFill/>
          <a:ln/>
        </p:spPr>
        <p:txBody>
          <a:bodyPr wrap="square" lIns="0" tIns="0" rIns="0" bIns="0" rtlCol="0" anchor="ctr"/>
          <a:lstStyle/>
          <a:p>
            <a:pPr marL="0" indent="0">
              <a:buNone/>
            </a:pPr>
            <a:r>
              <a:rPr lang="en-US" sz="2200" b="1" dirty="0">
                <a:solidFill>
                  <a:srgbClr val="9FB0DC"/>
                </a:solidFill>
                <a:latin typeface="Cambria" pitchFamily="34" charset="0"/>
                <a:ea typeface="Cambria" pitchFamily="34" charset="-122"/>
                <a:cs typeface="Cambria" pitchFamily="34" charset="-120"/>
              </a:rPr>
              <a:t>04</a:t>
            </a:r>
            <a:endParaRPr lang="en-US" sz="2200" dirty="0"/>
          </a:p>
        </p:txBody>
      </p:sp>
      <p:sp>
        <p:nvSpPr>
          <p:cNvPr id="20" name="Text 18"/>
          <p:cNvSpPr/>
          <p:nvPr/>
        </p:nvSpPr>
        <p:spPr>
          <a:xfrm>
            <a:off x="7196328" y="3209544"/>
            <a:ext cx="4114800" cy="274320"/>
          </a:xfrm>
          <a:prstGeom prst="rect">
            <a:avLst/>
          </a:prstGeom>
          <a:noFill/>
          <a:ln/>
        </p:spPr>
        <p:txBody>
          <a:bodyPr wrap="square" lIns="0" tIns="0" rIns="0" bIns="0" rtlCol="0" anchor="ctr"/>
          <a:lstStyle/>
          <a:p>
            <a:pPr marL="0" indent="0">
              <a:buNone/>
            </a:pPr>
            <a:r>
              <a:rPr lang="en-US" sz="1400" b="1" dirty="0">
                <a:solidFill>
                  <a:srgbClr val="10162F"/>
                </a:solidFill>
                <a:latin typeface="Calibri" pitchFamily="34" charset="0"/>
                <a:ea typeface="Calibri" pitchFamily="34" charset="-122"/>
                <a:cs typeface="Calibri" pitchFamily="34" charset="-120"/>
              </a:rPr>
              <a:t>The results</a:t>
            </a:r>
            <a:endParaRPr lang="en-US" sz="1400" dirty="0"/>
          </a:p>
        </p:txBody>
      </p:sp>
      <p:sp>
        <p:nvSpPr>
          <p:cNvPr id="21" name="Text 19"/>
          <p:cNvSpPr/>
          <p:nvPr/>
        </p:nvSpPr>
        <p:spPr>
          <a:xfrm>
            <a:off x="7196328" y="3520440"/>
            <a:ext cx="4160520" cy="384048"/>
          </a:xfrm>
          <a:prstGeom prst="rect">
            <a:avLst/>
          </a:prstGeom>
          <a:noFill/>
          <a:ln/>
        </p:spPr>
        <p:txBody>
          <a:bodyPr wrap="square" lIns="0" tIns="0" rIns="0" bIns="0" rtlCol="0" anchor="ctr"/>
          <a:lstStyle/>
          <a:p>
            <a:pPr marL="0" indent="0">
              <a:lnSpc>
                <a:spcPts val="1500"/>
              </a:lnSpc>
              <a:buNone/>
            </a:pPr>
            <a:r>
              <a:rPr lang="en-US" sz="1150" dirty="0">
                <a:solidFill>
                  <a:srgbClr val="5C6784"/>
                </a:solidFill>
                <a:latin typeface="Calibri" pitchFamily="34" charset="0"/>
                <a:ea typeface="Calibri" pitchFamily="34" charset="-122"/>
                <a:cs typeface="Calibri" pitchFamily="34" charset="-120"/>
              </a:rPr>
              <a:t>All eight questions, including the two refusals.</a:t>
            </a:r>
            <a:endParaRPr lang="en-US" sz="1150" dirty="0"/>
          </a:p>
        </p:txBody>
      </p:sp>
      <p:sp>
        <p:nvSpPr>
          <p:cNvPr id="22" name="Shape 20"/>
          <p:cNvSpPr/>
          <p:nvPr/>
        </p:nvSpPr>
        <p:spPr>
          <a:xfrm>
            <a:off x="566928" y="4288536"/>
            <a:ext cx="5349240" cy="1078992"/>
          </a:xfrm>
          <a:prstGeom prst="roundRect">
            <a:avLst>
              <a:gd name="adj" fmla="val 4237"/>
            </a:avLst>
          </a:prstGeom>
          <a:solidFill>
            <a:srgbClr val="F3F5FA"/>
          </a:solidFill>
          <a:ln w="12700">
            <a:solidFill>
              <a:srgbClr val="DCE2F0"/>
            </a:solidFill>
            <a:prstDash val="solid"/>
          </a:ln>
        </p:spPr>
        <p:txBody>
          <a:bodyPr/>
          <a:p/>
        </p:txBody>
      </p:sp>
      <p:sp>
        <p:nvSpPr>
          <p:cNvPr id="23" name="Text 21"/>
          <p:cNvSpPr/>
          <p:nvPr/>
        </p:nvSpPr>
        <p:spPr>
          <a:xfrm>
            <a:off x="822960" y="4526280"/>
            <a:ext cx="640080" cy="457200"/>
          </a:xfrm>
          <a:prstGeom prst="rect">
            <a:avLst/>
          </a:prstGeom>
          <a:noFill/>
          <a:ln/>
        </p:spPr>
        <p:txBody>
          <a:bodyPr wrap="square" lIns="0" tIns="0" rIns="0" bIns="0" rtlCol="0" anchor="ctr"/>
          <a:lstStyle/>
          <a:p>
            <a:pPr marL="0" indent="0">
              <a:buNone/>
            </a:pPr>
            <a:r>
              <a:rPr lang="en-US" sz="2200" b="1" dirty="0">
                <a:solidFill>
                  <a:srgbClr val="9FB0DC"/>
                </a:solidFill>
                <a:latin typeface="Cambria" pitchFamily="34" charset="0"/>
                <a:ea typeface="Cambria" pitchFamily="34" charset="-122"/>
                <a:cs typeface="Cambria" pitchFamily="34" charset="-120"/>
              </a:rPr>
              <a:t>05</a:t>
            </a:r>
            <a:endParaRPr lang="en-US" sz="2200" dirty="0"/>
          </a:p>
        </p:txBody>
      </p:sp>
      <p:sp>
        <p:nvSpPr>
          <p:cNvPr id="24" name="Text 22"/>
          <p:cNvSpPr/>
          <p:nvPr/>
        </p:nvSpPr>
        <p:spPr>
          <a:xfrm>
            <a:off x="1527048" y="4507992"/>
            <a:ext cx="4114800" cy="274320"/>
          </a:xfrm>
          <a:prstGeom prst="rect">
            <a:avLst/>
          </a:prstGeom>
          <a:noFill/>
          <a:ln/>
        </p:spPr>
        <p:txBody>
          <a:bodyPr wrap="square" lIns="0" tIns="0" rIns="0" bIns="0" rtlCol="0" anchor="ctr"/>
          <a:lstStyle/>
          <a:p>
            <a:pPr marL="0" indent="0">
              <a:buNone/>
            </a:pPr>
            <a:r>
              <a:rPr lang="en-US" sz="1400" b="1" dirty="0">
                <a:solidFill>
                  <a:srgbClr val="10162F"/>
                </a:solidFill>
                <a:latin typeface="Calibri" pitchFamily="34" charset="0"/>
                <a:ea typeface="Calibri" pitchFamily="34" charset="-122"/>
                <a:cs typeface="Calibri" pitchFamily="34" charset="-120"/>
              </a:rPr>
              <a:t>Verification</a:t>
            </a:r>
            <a:endParaRPr lang="en-US" sz="1400" dirty="0"/>
          </a:p>
        </p:txBody>
      </p:sp>
      <p:sp>
        <p:nvSpPr>
          <p:cNvPr id="25" name="Text 23"/>
          <p:cNvSpPr/>
          <p:nvPr/>
        </p:nvSpPr>
        <p:spPr>
          <a:xfrm>
            <a:off x="1527048" y="4818888"/>
            <a:ext cx="4160520" cy="384048"/>
          </a:xfrm>
          <a:prstGeom prst="rect">
            <a:avLst/>
          </a:prstGeom>
          <a:noFill/>
          <a:ln/>
        </p:spPr>
        <p:txBody>
          <a:bodyPr wrap="square" lIns="0" tIns="0" rIns="0" bIns="0" rtlCol="0" anchor="ctr"/>
          <a:lstStyle/>
          <a:p>
            <a:pPr marL="0" indent="0">
              <a:lnSpc>
                <a:spcPts val="1500"/>
              </a:lnSpc>
              <a:buNone/>
            </a:pPr>
            <a:r>
              <a:rPr lang="en-US" sz="1150" dirty="0">
                <a:solidFill>
                  <a:srgbClr val="5C6784"/>
                </a:solidFill>
                <a:latin typeface="Calibri" pitchFamily="34" charset="0"/>
                <a:ea typeface="Calibri" pitchFamily="34" charset="-122"/>
                <a:cs typeface="Calibri" pitchFamily="34" charset="-120"/>
              </a:rPr>
              <a:t>How I know it works, and on a second dataset.</a:t>
            </a:r>
            <a:endParaRPr lang="en-US" sz="1150" dirty="0"/>
          </a:p>
        </p:txBody>
      </p:sp>
      <p:sp>
        <p:nvSpPr>
          <p:cNvPr id="26" name="Shape 24"/>
          <p:cNvSpPr/>
          <p:nvPr/>
        </p:nvSpPr>
        <p:spPr>
          <a:xfrm>
            <a:off x="6236208" y="4288536"/>
            <a:ext cx="5349240" cy="1078992"/>
          </a:xfrm>
          <a:prstGeom prst="roundRect">
            <a:avLst>
              <a:gd name="adj" fmla="val 4237"/>
            </a:avLst>
          </a:prstGeom>
          <a:solidFill>
            <a:srgbClr val="F3F5FA"/>
          </a:solidFill>
          <a:ln w="12700">
            <a:solidFill>
              <a:srgbClr val="DCE2F0"/>
            </a:solidFill>
            <a:prstDash val="solid"/>
          </a:ln>
        </p:spPr>
        <p:txBody>
          <a:bodyPr/>
          <a:p/>
        </p:txBody>
      </p:sp>
      <p:sp>
        <p:nvSpPr>
          <p:cNvPr id="27" name="Text 25"/>
          <p:cNvSpPr/>
          <p:nvPr/>
        </p:nvSpPr>
        <p:spPr>
          <a:xfrm>
            <a:off x="6492240" y="4526280"/>
            <a:ext cx="640080" cy="457200"/>
          </a:xfrm>
          <a:prstGeom prst="rect">
            <a:avLst/>
          </a:prstGeom>
          <a:noFill/>
          <a:ln/>
        </p:spPr>
        <p:txBody>
          <a:bodyPr wrap="square" lIns="0" tIns="0" rIns="0" bIns="0" rtlCol="0" anchor="ctr"/>
          <a:lstStyle/>
          <a:p>
            <a:pPr marL="0" indent="0">
              <a:buNone/>
            </a:pPr>
            <a:r>
              <a:rPr lang="en-US" sz="2200" b="1" dirty="0">
                <a:solidFill>
                  <a:srgbClr val="9FB0DC"/>
                </a:solidFill>
                <a:latin typeface="Cambria" pitchFamily="34" charset="0"/>
                <a:ea typeface="Cambria" pitchFamily="34" charset="-122"/>
                <a:cs typeface="Cambria" pitchFamily="34" charset="-120"/>
              </a:rPr>
              <a:t>06</a:t>
            </a:r>
            <a:endParaRPr lang="en-US" sz="2200" dirty="0"/>
          </a:p>
        </p:txBody>
      </p:sp>
      <p:sp>
        <p:nvSpPr>
          <p:cNvPr id="28" name="Text 26"/>
          <p:cNvSpPr/>
          <p:nvPr/>
        </p:nvSpPr>
        <p:spPr>
          <a:xfrm>
            <a:off x="7196328" y="4507992"/>
            <a:ext cx="4114800" cy="274320"/>
          </a:xfrm>
          <a:prstGeom prst="rect">
            <a:avLst/>
          </a:prstGeom>
          <a:noFill/>
          <a:ln/>
        </p:spPr>
        <p:txBody>
          <a:bodyPr wrap="square" lIns="0" tIns="0" rIns="0" bIns="0" rtlCol="0" anchor="ctr"/>
          <a:lstStyle/>
          <a:p>
            <a:pPr marL="0" indent="0">
              <a:buNone/>
            </a:pPr>
            <a:r>
              <a:rPr lang="en-US" sz="1400" b="1" dirty="0">
                <a:solidFill>
                  <a:srgbClr val="10162F"/>
                </a:solidFill>
                <a:latin typeface="Calibri" pitchFamily="34" charset="0"/>
                <a:ea typeface="Calibri" pitchFamily="34" charset="-122"/>
                <a:cs typeface="Calibri" pitchFamily="34" charset="-120"/>
              </a:rPr>
              <a:t>Production</a:t>
            </a:r>
            <a:endParaRPr lang="en-US" sz="1400" dirty="0"/>
          </a:p>
        </p:txBody>
      </p:sp>
      <p:sp>
        <p:nvSpPr>
          <p:cNvPr id="29" name="Text 27"/>
          <p:cNvSpPr/>
          <p:nvPr/>
        </p:nvSpPr>
        <p:spPr>
          <a:xfrm>
            <a:off x="7196328" y="4818888"/>
            <a:ext cx="4160520" cy="384048"/>
          </a:xfrm>
          <a:prstGeom prst="rect">
            <a:avLst/>
          </a:prstGeom>
          <a:noFill/>
          <a:ln/>
        </p:spPr>
        <p:txBody>
          <a:bodyPr wrap="square" lIns="0" tIns="0" rIns="0" bIns="0" rtlCol="0" anchor="ctr"/>
          <a:lstStyle/>
          <a:p>
            <a:pPr marL="0" indent="0">
              <a:lnSpc>
                <a:spcPts val="1500"/>
              </a:lnSpc>
              <a:buNone/>
            </a:pPr>
            <a:r>
              <a:rPr lang="en-US" sz="1150" dirty="0">
                <a:solidFill>
                  <a:srgbClr val="5C6784"/>
                </a:solidFill>
                <a:latin typeface="Calibri" pitchFamily="34" charset="0"/>
                <a:ea typeface="Calibri" pitchFamily="34" charset="-122"/>
                <a:cs typeface="Calibri" pitchFamily="34" charset="-120"/>
              </a:rPr>
              <a:t>What would change, and what would not.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03</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01 · THE BRIEF</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Three people, four files, two unwritten conventions</a:t>
            </a:r>
            <a:endParaRPr lang="en-US" sz="2800" dirty="0"/>
          </a:p>
        </p:txBody>
      </p:sp>
      <p:sp>
        <p:nvSpPr>
          <p:cNvPr id="6" name="Text 4"/>
          <p:cNvSpPr/>
          <p:nvPr/>
        </p:nvSpPr>
        <p:spPr>
          <a:xfrm>
            <a:off x="566928" y="1627632"/>
            <a:ext cx="6583680" cy="914400"/>
          </a:xfrm>
          <a:prstGeom prst="rect">
            <a:avLst/>
          </a:prstGeom>
          <a:noFill/>
          <a:ln/>
        </p:spPr>
        <p:txBody>
          <a:bodyPr wrap="square" lIns="0" tIns="0" rIns="0" bIns="0" rtlCol="0" anchor="ctr"/>
          <a:lstStyle/>
          <a:p>
            <a:pPr marL="0" indent="0">
              <a:lnSpc>
                <a:spcPts val="2100"/>
              </a:lnSpc>
              <a:buNone/>
            </a:pPr>
            <a:r>
              <a:rPr lang="en-US" sz="1400" dirty="0">
                <a:solidFill>
                  <a:srgbClr val="10162F"/>
                </a:solidFill>
                <a:latin typeface="Calibri" pitchFamily="34" charset="0"/>
                <a:ea typeface="Calibri" pitchFamily="34" charset="-122"/>
                <a:cs typeface="Calibri" pitchFamily="34" charset="-120"/>
              </a:rPr>
              <a:t>Meridian's FP&amp;A team spends the day answering one question in different clothes: why is this number not the number we expected. To answer it they open four files and apply two accounting conventions nobody ever wrote down.</a:t>
            </a:r>
            <a:endParaRPr lang="en-US" sz="1400" dirty="0"/>
          </a:p>
        </p:txBody>
      </p:sp>
      <p:sp>
        <p:nvSpPr>
          <p:cNvPr id="7" name="Text 5"/>
          <p:cNvSpPr/>
          <p:nvPr/>
        </p:nvSpPr>
        <p:spPr>
          <a:xfrm>
            <a:off x="566928" y="2788920"/>
            <a:ext cx="1371600" cy="402336"/>
          </a:xfrm>
          <a:prstGeom prst="rect">
            <a:avLst/>
          </a:prstGeom>
          <a:noFill/>
          <a:ln/>
        </p:spPr>
        <p:txBody>
          <a:bodyPr wrap="square" lIns="0" tIns="0" rIns="0" bIns="0" rtlCol="0" anchor="ctr"/>
          <a:lstStyle/>
          <a:p>
            <a:pPr marL="0" indent="0" algn="r">
              <a:buNone/>
            </a:pPr>
            <a:r>
              <a:rPr lang="en-US" sz="2200" b="1" dirty="0">
                <a:solidFill>
                  <a:srgbClr val="1B2A5E"/>
                </a:solidFill>
                <a:latin typeface="Cambria" pitchFamily="34" charset="0"/>
                <a:ea typeface="Cambria" pitchFamily="34" charset="-122"/>
                <a:cs typeface="Cambria" pitchFamily="34" charset="-120"/>
              </a:rPr>
              <a:t>10,916</a:t>
            </a:r>
            <a:endParaRPr lang="en-US" sz="2200" dirty="0"/>
          </a:p>
        </p:txBody>
      </p:sp>
      <p:sp>
        <p:nvSpPr>
          <p:cNvPr id="8" name="Text 6"/>
          <p:cNvSpPr/>
          <p:nvPr/>
        </p:nvSpPr>
        <p:spPr>
          <a:xfrm>
            <a:off x="2084832" y="2871216"/>
            <a:ext cx="4937760" cy="310896"/>
          </a:xfrm>
          <a:prstGeom prst="rect">
            <a:avLst/>
          </a:prstGeom>
          <a:noFill/>
          <a:ln/>
        </p:spPr>
        <p:txBody>
          <a:bodyPr wrap="square" lIns="0" tIns="0" rIns="0" bIns="0" rtlCol="0" anchor="ctr"/>
          <a:lstStyle/>
          <a:p>
            <a:pPr marL="0" indent="0">
              <a:buNone/>
            </a:pPr>
            <a:r>
              <a:rPr lang="en-US" sz="1300" dirty="0">
                <a:solidFill>
                  <a:srgbClr val="10162F"/>
                </a:solidFill>
                <a:latin typeface="Calibri" pitchFamily="34" charset="0"/>
                <a:ea typeface="Calibri" pitchFamily="34" charset="-122"/>
                <a:cs typeface="Calibri" pitchFamily="34" charset="-120"/>
              </a:rPr>
              <a:t>ledger transactions</a:t>
            </a:r>
            <a:endParaRPr lang="en-US" sz="1300" dirty="0"/>
          </a:p>
        </p:txBody>
      </p:sp>
      <p:sp>
        <p:nvSpPr>
          <p:cNvPr id="9" name="Text 7"/>
          <p:cNvSpPr/>
          <p:nvPr/>
        </p:nvSpPr>
        <p:spPr>
          <a:xfrm>
            <a:off x="566928" y="3447288"/>
            <a:ext cx="1371600" cy="402336"/>
          </a:xfrm>
          <a:prstGeom prst="rect">
            <a:avLst/>
          </a:prstGeom>
          <a:noFill/>
          <a:ln/>
        </p:spPr>
        <p:txBody>
          <a:bodyPr wrap="square" lIns="0" tIns="0" rIns="0" bIns="0" rtlCol="0" anchor="ctr"/>
          <a:lstStyle/>
          <a:p>
            <a:pPr marL="0" indent="0" algn="r">
              <a:buNone/>
            </a:pPr>
            <a:r>
              <a:rPr lang="en-US" sz="2200" b="1" dirty="0">
                <a:solidFill>
                  <a:srgbClr val="1B2A5E"/>
                </a:solidFill>
                <a:latin typeface="Cambria" pitchFamily="34" charset="0"/>
                <a:ea typeface="Cambria" pitchFamily="34" charset="-122"/>
                <a:cs typeface="Cambria" pitchFamily="34" charset="-120"/>
              </a:rPr>
              <a:t>3</a:t>
            </a:r>
            <a:endParaRPr lang="en-US" sz="2200" dirty="0"/>
          </a:p>
        </p:txBody>
      </p:sp>
      <p:sp>
        <p:nvSpPr>
          <p:cNvPr id="10" name="Text 8"/>
          <p:cNvSpPr/>
          <p:nvPr/>
        </p:nvSpPr>
        <p:spPr>
          <a:xfrm>
            <a:off x="2084832" y="3529584"/>
            <a:ext cx="4937760" cy="310896"/>
          </a:xfrm>
          <a:prstGeom prst="rect">
            <a:avLst/>
          </a:prstGeom>
          <a:noFill/>
          <a:ln/>
        </p:spPr>
        <p:txBody>
          <a:bodyPr wrap="square" lIns="0" tIns="0" rIns="0" bIns="0" rtlCol="0" anchor="ctr"/>
          <a:lstStyle/>
          <a:p>
            <a:pPr marL="0" indent="0">
              <a:buNone/>
            </a:pPr>
            <a:r>
              <a:rPr lang="en-US" sz="1300" dirty="0">
                <a:solidFill>
                  <a:srgbClr val="10162F"/>
                </a:solidFill>
                <a:latin typeface="Calibri" pitchFamily="34" charset="0"/>
                <a:ea typeface="Calibri" pitchFamily="34" charset="-122"/>
                <a:cs typeface="Calibri" pitchFamily="34" charset="-120"/>
              </a:rPr>
              <a:t>entities and currencies</a:t>
            </a:r>
            <a:endParaRPr lang="en-US" sz="1300" dirty="0"/>
          </a:p>
        </p:txBody>
      </p:sp>
      <p:sp>
        <p:nvSpPr>
          <p:cNvPr id="11" name="Text 9"/>
          <p:cNvSpPr/>
          <p:nvPr/>
        </p:nvSpPr>
        <p:spPr>
          <a:xfrm>
            <a:off x="566928" y="4105656"/>
            <a:ext cx="1371600" cy="402336"/>
          </a:xfrm>
          <a:prstGeom prst="rect">
            <a:avLst/>
          </a:prstGeom>
          <a:noFill/>
          <a:ln/>
        </p:spPr>
        <p:txBody>
          <a:bodyPr wrap="square" lIns="0" tIns="0" rIns="0" bIns="0" rtlCol="0" anchor="ctr"/>
          <a:lstStyle/>
          <a:p>
            <a:pPr marL="0" indent="0" algn="r">
              <a:buNone/>
            </a:pPr>
            <a:r>
              <a:rPr lang="en-US" sz="2200" b="1" dirty="0">
                <a:solidFill>
                  <a:srgbClr val="1B2A5E"/>
                </a:solidFill>
                <a:latin typeface="Cambria" pitchFamily="34" charset="0"/>
                <a:ea typeface="Cambria" pitchFamily="34" charset="-122"/>
                <a:cs typeface="Cambria" pitchFamily="34" charset="-120"/>
              </a:rPr>
              <a:t>5</a:t>
            </a:r>
            <a:endParaRPr lang="en-US" sz="2200" dirty="0"/>
          </a:p>
        </p:txBody>
      </p:sp>
      <p:sp>
        <p:nvSpPr>
          <p:cNvPr id="12" name="Text 10"/>
          <p:cNvSpPr/>
          <p:nvPr/>
        </p:nvSpPr>
        <p:spPr>
          <a:xfrm>
            <a:off x="2084832" y="4187952"/>
            <a:ext cx="4937760" cy="310896"/>
          </a:xfrm>
          <a:prstGeom prst="rect">
            <a:avLst/>
          </a:prstGeom>
          <a:noFill/>
          <a:ln/>
        </p:spPr>
        <p:txBody>
          <a:bodyPr wrap="square" lIns="0" tIns="0" rIns="0" bIns="0" rtlCol="0" anchor="ctr"/>
          <a:lstStyle/>
          <a:p>
            <a:pPr marL="0" indent="0">
              <a:buNone/>
            </a:pPr>
            <a:r>
              <a:rPr lang="en-US" sz="1300" dirty="0">
                <a:solidFill>
                  <a:srgbClr val="10162F"/>
                </a:solidFill>
                <a:latin typeface="Calibri" pitchFamily="34" charset="0"/>
                <a:ea typeface="Calibri" pitchFamily="34" charset="-122"/>
                <a:cs typeface="Calibri" pitchFamily="34" charset="-120"/>
              </a:rPr>
              <a:t>data files</a:t>
            </a:r>
            <a:endParaRPr lang="en-US" sz="1300" dirty="0"/>
          </a:p>
        </p:txBody>
      </p:sp>
      <p:sp>
        <p:nvSpPr>
          <p:cNvPr id="13" name="Text 11"/>
          <p:cNvSpPr/>
          <p:nvPr/>
        </p:nvSpPr>
        <p:spPr>
          <a:xfrm>
            <a:off x="566928" y="4764024"/>
            <a:ext cx="1371600" cy="402336"/>
          </a:xfrm>
          <a:prstGeom prst="rect">
            <a:avLst/>
          </a:prstGeom>
          <a:noFill/>
          <a:ln/>
        </p:spPr>
        <p:txBody>
          <a:bodyPr wrap="square" lIns="0" tIns="0" rIns="0" bIns="0" rtlCol="0" anchor="ctr"/>
          <a:lstStyle/>
          <a:p>
            <a:pPr marL="0" indent="0" algn="r">
              <a:buNone/>
            </a:pPr>
            <a:r>
              <a:rPr lang="en-US" sz="2200" b="1" dirty="0">
                <a:solidFill>
                  <a:srgbClr val="1B2A5E"/>
                </a:solidFill>
                <a:latin typeface="Cambria" pitchFamily="34" charset="0"/>
                <a:ea typeface="Cambria" pitchFamily="34" charset="-122"/>
                <a:cs typeface="Cambria" pitchFamily="34" charset="-120"/>
              </a:rPr>
              <a:t>4</a:t>
            </a:r>
            <a:endParaRPr lang="en-US" sz="2200" dirty="0"/>
          </a:p>
        </p:txBody>
      </p:sp>
      <p:sp>
        <p:nvSpPr>
          <p:cNvPr id="14" name="Text 12"/>
          <p:cNvSpPr/>
          <p:nvPr/>
        </p:nvSpPr>
        <p:spPr>
          <a:xfrm>
            <a:off x="2084832" y="4846320"/>
            <a:ext cx="4937760" cy="310896"/>
          </a:xfrm>
          <a:prstGeom prst="rect">
            <a:avLst/>
          </a:prstGeom>
          <a:noFill/>
          <a:ln/>
        </p:spPr>
        <p:txBody>
          <a:bodyPr wrap="square" lIns="0" tIns="0" rIns="0" bIns="0" rtlCol="0" anchor="ctr"/>
          <a:lstStyle/>
          <a:p>
            <a:pPr marL="0" indent="0">
              <a:buNone/>
            </a:pPr>
            <a:r>
              <a:rPr lang="en-US" sz="1300" dirty="0">
                <a:solidFill>
                  <a:srgbClr val="10162F"/>
                </a:solidFill>
                <a:latin typeface="Calibri" pitchFamily="34" charset="0"/>
                <a:ea typeface="Calibri" pitchFamily="34" charset="-122"/>
                <a:cs typeface="Calibri" pitchFamily="34" charset="-120"/>
              </a:rPr>
              <a:t>internal documents</a:t>
            </a:r>
            <a:endParaRPr lang="en-US" sz="1300" dirty="0"/>
          </a:p>
        </p:txBody>
      </p:sp>
      <p:sp>
        <p:nvSpPr>
          <p:cNvPr id="15" name="Shape 13"/>
          <p:cNvSpPr/>
          <p:nvPr/>
        </p:nvSpPr>
        <p:spPr>
          <a:xfrm>
            <a:off x="7452360" y="1627632"/>
            <a:ext cx="41148" cy="2331720"/>
          </a:xfrm>
          <a:prstGeom prst="rect">
            <a:avLst/>
          </a:prstGeom>
          <a:solidFill>
            <a:srgbClr val="1B2A5E"/>
          </a:solidFill>
          <a:ln/>
        </p:spPr>
        <p:txBody>
          <a:bodyPr/>
          <a:p/>
        </p:txBody>
      </p:sp>
      <p:sp>
        <p:nvSpPr>
          <p:cNvPr id="16" name="Shape 14"/>
          <p:cNvSpPr/>
          <p:nvPr/>
        </p:nvSpPr>
        <p:spPr>
          <a:xfrm>
            <a:off x="7493508" y="1627632"/>
            <a:ext cx="4073652" cy="2331720"/>
          </a:xfrm>
          <a:prstGeom prst="rect">
            <a:avLst/>
          </a:prstGeom>
          <a:solidFill>
            <a:srgbClr val="F3F5FA"/>
          </a:solidFill>
          <a:ln w="12700">
            <a:solidFill>
              <a:srgbClr val="F3F5FA"/>
            </a:solidFill>
            <a:prstDash val="solid"/>
          </a:ln>
        </p:spPr>
        <p:txBody>
          <a:bodyPr/>
          <a:p/>
        </p:txBody>
      </p:sp>
      <p:sp>
        <p:nvSpPr>
          <p:cNvPr id="17" name="Text 15"/>
          <p:cNvSpPr/>
          <p:nvPr/>
        </p:nvSpPr>
        <p:spPr>
          <a:xfrm>
            <a:off x="7726680" y="1755648"/>
            <a:ext cx="3566160" cy="237744"/>
          </a:xfrm>
          <a:prstGeom prst="rect">
            <a:avLst/>
          </a:prstGeom>
          <a:noFill/>
          <a:ln/>
        </p:spPr>
        <p:txBody>
          <a:bodyPr wrap="square" lIns="0" tIns="0" rIns="0" bIns="0" rtlCol="0" anchor="ctr"/>
          <a:lstStyle/>
          <a:p>
            <a:pPr marL="0" indent="0">
              <a:buNone/>
            </a:pPr>
            <a:r>
              <a:rPr lang="en-US" sz="1050" b="1" dirty="0">
                <a:solidFill>
                  <a:srgbClr val="1B2A5E"/>
                </a:solidFill>
                <a:latin typeface="Calibri" pitchFamily="34" charset="0"/>
                <a:ea typeface="Calibri" pitchFamily="34" charset="-122"/>
                <a:cs typeface="Calibri" pitchFamily="34" charset="-120"/>
              </a:rPr>
              <a:t>The success criterion, verbatim</a:t>
            </a:r>
            <a:endParaRPr lang="en-US" sz="1050" dirty="0"/>
          </a:p>
        </p:txBody>
      </p:sp>
      <p:sp>
        <p:nvSpPr>
          <p:cNvPr id="18" name="Text 16"/>
          <p:cNvSpPr/>
          <p:nvPr/>
        </p:nvSpPr>
        <p:spPr>
          <a:xfrm>
            <a:off x="7726680" y="2011680"/>
            <a:ext cx="3566160" cy="1819656"/>
          </a:xfrm>
          <a:prstGeom prst="rect">
            <a:avLst/>
          </a:prstGeom>
          <a:noFill/>
          <a:ln/>
        </p:spPr>
        <p:txBody>
          <a:bodyPr wrap="square" lIns="0" tIns="0" rIns="0" bIns="0" rtlCol="0" anchor="t"/>
          <a:lstStyle/>
          <a:p>
            <a:pPr marL="0" indent="0">
              <a:lnSpc>
                <a:spcPts val="1650"/>
              </a:lnSpc>
              <a:buNone/>
            </a:pPr>
            <a:r>
              <a:rPr lang="en-US" sz="1200" dirty="0">
                <a:solidFill>
                  <a:srgbClr val="10162F"/>
                </a:solidFill>
                <a:latin typeface="Calibri" pitchFamily="34" charset="0"/>
                <a:ea typeface="Calibri" pitchFamily="34" charset="-122"/>
                <a:cs typeface="Calibri" pitchFamily="34" charset="-120"/>
              </a:rPr>
              <a:t>"If it hands a client a wrong number once, we're finished."</a:t>
            </a:r>
            <a:endParaRPr lang="en-US" sz="1200" dirty="0"/>
          </a:p>
        </p:txBody>
      </p:sp>
      <p:sp>
        <p:nvSpPr>
          <p:cNvPr id="19" name="Text 17"/>
          <p:cNvSpPr/>
          <p:nvPr/>
        </p:nvSpPr>
        <p:spPr>
          <a:xfrm>
            <a:off x="7452360" y="4160520"/>
            <a:ext cx="4114800" cy="365760"/>
          </a:xfrm>
          <a:prstGeom prst="rect">
            <a:avLst/>
          </a:prstGeom>
          <a:noFill/>
          <a:ln/>
        </p:spPr>
        <p:txBody>
          <a:bodyPr wrap="square" lIns="0" tIns="0" rIns="0" bIns="0" rtlCol="0" anchor="ctr"/>
          <a:lstStyle/>
          <a:p>
            <a:pPr marL="0" indent="0">
              <a:lnSpc>
                <a:spcPts val="1900"/>
              </a:lnSpc>
              <a:buNone/>
            </a:pPr>
            <a:r>
              <a:rPr lang="en-US" sz="1300" b="1" dirty="0">
                <a:solidFill>
                  <a:srgbClr val="10162F"/>
                </a:solidFill>
                <a:latin typeface="Calibri" pitchFamily="34" charset="0"/>
                <a:ea typeface="Calibri" pitchFamily="34" charset="-122"/>
                <a:cs typeface="Calibri" pitchFamily="34" charset="-120"/>
              </a:rPr>
              <a:t>That sentence is not rhetoric. It determines the entire architecture.</a:t>
            </a:r>
            <a:endParaRPr lang="en-US" sz="1300" dirty="0"/>
          </a:p>
        </p:txBody>
      </p:sp>
      <p:sp>
        <p:nvSpPr>
          <p:cNvPr id="20" name="Text 18"/>
          <p:cNvSpPr/>
          <p:nvPr/>
        </p:nvSpPr>
        <p:spPr>
          <a:xfrm>
            <a:off x="7452360" y="4617720"/>
            <a:ext cx="4114800" cy="822960"/>
          </a:xfrm>
          <a:prstGeom prst="rect">
            <a:avLst/>
          </a:prstGeom>
          <a:noFill/>
          <a:ln/>
        </p:spPr>
        <p:txBody>
          <a:bodyPr wrap="square" lIns="0" tIns="0" rIns="0" bIns="0" rtlCol="0" anchor="ctr"/>
          <a:lstStyle/>
          <a:p>
            <a:pPr marL="0" indent="0">
              <a:lnSpc>
                <a:spcPts val="1800"/>
              </a:lnSpc>
              <a:buNone/>
            </a:pPr>
            <a:r>
              <a:rPr lang="en-US" sz="1250" dirty="0">
                <a:solidFill>
                  <a:srgbClr val="5C6784"/>
                </a:solidFill>
                <a:latin typeface="Calibri" pitchFamily="34" charset="0"/>
                <a:ea typeface="Calibri" pitchFamily="34" charset="-122"/>
                <a:cs typeface="Calibri" pitchFamily="34" charset="-120"/>
              </a:rPr>
              <a:t>Two of the eight questions have no honest answer in the data. Working out which, and deciding what the assistant should do, is part of the exercise.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04</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01 · THE BRIEF</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Eight questions that look easy</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18520" cy="2798064"/>
        </p:xfrm>
        <a:graphic>
          <a:graphicData uri="http://schemas.openxmlformats.org/drawingml/2006/table">
            <a:tbl>
              <a:tblPr/>
              <a:tblGrid>
                <a:gridCol w="4572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6629400">
                  <a:extLst>
                    <a:ext uri="{9D8B030D-6E8A-4147-A177-3AD203B41FA5}">
                      <a16:colId xmlns:a16="http://schemas.microsoft.com/office/drawing/2014/main" val="20002"/>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Question</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Why it is not trivial</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extLst>
                  <a:ext uri="{0D108BD9-81ED-4DB2-BD59-A6C34878D82A}">
                    <a16:rowId xmlns:a16="http://schemas.microsoft.com/office/drawing/2014/main" val="10000"/>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Q2 operating expenses by cost centre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The quarter carries no year and the two years differ materially</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1"/>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Travel spend year over year</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An account is reclassified mid-year: the result flips sign</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Consolidated Q3 spend in USD</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One FX rate is missing: the exact total is not computable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3"/>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Ten largest vendors by spend</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Several IDs look like the same vendor, with no authoritative mapping</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Worst cost centres against budget, and the driver</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Budget has repeated keys and the memo does not match the numbers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5"/>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Transactions breaching the T&amp;E policy</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The ledger lacks some evidence the policy requires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Headcount cost per FTE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The denominator exists in none of the files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7"/>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Duplicate payments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The ledger detects entries, not payments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Text 4"/>
          <p:cNvSpPr/>
          <p:nvPr/>
        </p:nvSpPr>
        <p:spPr>
          <a:xfrm>
            <a:off x="566928" y="5029200"/>
            <a:ext cx="11018520" cy="548640"/>
          </a:xfrm>
          <a:prstGeom prst="rect">
            <a:avLst/>
          </a:prstGeom>
          <a:noFill/>
          <a:ln/>
        </p:spPr>
        <p:txBody>
          <a:bodyPr wrap="square" lIns="0" tIns="0" rIns="0" bIns="0" rtlCol="0" anchor="ctr"/>
          <a:lstStyle/>
          <a:p>
            <a:pPr marL="0" indent="0">
              <a:lnSpc>
                <a:spcPts val="1900"/>
              </a:lnSpc>
              <a:buNone/>
            </a:pPr>
            <a:r>
              <a:rPr lang="en-US" sz="1300" i="1" dirty="0">
                <a:solidFill>
                  <a:srgbClr val="5C6784"/>
                </a:solidFill>
                <a:latin typeface="Calibri" pitchFamily="34" charset="0"/>
                <a:ea typeface="Calibri" pitchFamily="34" charset="-122"/>
                <a:cs typeface="Calibri" pitchFamily="34" charset="-120"/>
              </a:rPr>
              <a:t>The difficulty is not the arithmetic. Each question depends on conventions absent from the data which, applied wrongly, produce results that look correct.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05</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02 · THE DATASET</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The dataset is mined on purpose (1 of 2)</a:t>
            </a:r>
            <a:endParaRPr lang="en-US" sz="2800" dirty="0"/>
          </a:p>
        </p:txBody>
      </p:sp>
      <p:sp>
        <p:nvSpPr>
          <p:cNvPr id="6" name="Shape 4"/>
          <p:cNvSpPr/>
          <p:nvPr/>
        </p:nvSpPr>
        <p:spPr>
          <a:xfrm>
            <a:off x="566928" y="1691640"/>
            <a:ext cx="11018520" cy="1225296"/>
          </a:xfrm>
          <a:prstGeom prst="roundRect">
            <a:avLst>
              <a:gd name="adj" fmla="val 3731"/>
            </a:avLst>
          </a:prstGeom>
          <a:solidFill>
            <a:srgbClr val="F3F5FA"/>
          </a:solidFill>
          <a:ln w="12700">
            <a:solidFill>
              <a:srgbClr val="DCE2F0"/>
            </a:solidFill>
            <a:prstDash val="solid"/>
          </a:ln>
        </p:spPr>
        <p:txBody>
          <a:bodyPr/>
          <a:p/>
        </p:txBody>
      </p:sp>
      <p:sp>
        <p:nvSpPr>
          <p:cNvPr id="7" name="Text 5"/>
          <p:cNvSpPr/>
          <p:nvPr/>
        </p:nvSpPr>
        <p:spPr>
          <a:xfrm>
            <a:off x="841248" y="1856232"/>
            <a:ext cx="2286000" cy="237744"/>
          </a:xfrm>
          <a:prstGeom prst="rect">
            <a:avLst/>
          </a:prstGeom>
          <a:noFill/>
          <a:ln/>
        </p:spPr>
        <p:txBody>
          <a:bodyPr wrap="square" lIns="0" tIns="0" rIns="0" bIns="0" rtlCol="0" anchor="ctr"/>
          <a:lstStyle/>
          <a:p>
            <a:pPr marL="0" indent="0">
              <a:buNone/>
            </a:pPr>
            <a:r>
              <a:rPr lang="en-US" sz="1000" b="1" kern="0" spc="120" dirty="0">
                <a:solidFill>
                  <a:srgbClr val="1B2A5E"/>
                </a:solidFill>
                <a:latin typeface="Calibri" pitchFamily="34" charset="0"/>
                <a:ea typeface="Calibri" pitchFamily="34" charset="-122"/>
                <a:cs typeface="Calibri" pitchFamily="34" charset="-120"/>
              </a:rPr>
              <a:t>DATES</a:t>
            </a:r>
            <a:endParaRPr lang="en-US" sz="1000" dirty="0"/>
          </a:p>
        </p:txBody>
      </p:sp>
      <p:sp>
        <p:nvSpPr>
          <p:cNvPr id="8" name="Text 6"/>
          <p:cNvSpPr/>
          <p:nvPr/>
        </p:nvSpPr>
        <p:spPr>
          <a:xfrm>
            <a:off x="841248" y="2130552"/>
            <a:ext cx="6492240" cy="640080"/>
          </a:xfrm>
          <a:prstGeom prst="rect">
            <a:avLst/>
          </a:prstGeom>
          <a:noFill/>
          <a:ln/>
        </p:spPr>
        <p:txBody>
          <a:bodyPr wrap="square" lIns="0" tIns="0" rIns="0" bIns="0" rtlCol="0" anchor="ctr"/>
          <a:lstStyle/>
          <a:p>
            <a:pPr marL="0" indent="0">
              <a:lnSpc>
                <a:spcPts val="1800"/>
              </a:lnSpc>
              <a:buNone/>
            </a:pPr>
            <a:r>
              <a:rPr lang="en-US" sz="1300" dirty="0">
                <a:solidFill>
                  <a:srgbClr val="10162F"/>
                </a:solidFill>
                <a:latin typeface="Calibri" pitchFamily="34" charset="0"/>
                <a:ea typeface="Calibri" pitchFamily="34" charset="-122"/>
                <a:cs typeface="Calibri" pitchFamily="34" charset="-120"/>
              </a:rPr>
              <a:t>894 rows post in a different month than they accrue; 114 cross the fiscal year.</a:t>
            </a:r>
            <a:endParaRPr lang="en-US" sz="1300" dirty="0"/>
          </a:p>
        </p:txBody>
      </p:sp>
      <p:sp>
        <p:nvSpPr>
          <p:cNvPr id="9" name="Shape 7"/>
          <p:cNvSpPr/>
          <p:nvPr/>
        </p:nvSpPr>
        <p:spPr>
          <a:xfrm>
            <a:off x="7635240" y="1892808"/>
            <a:ext cx="32004" cy="822960"/>
          </a:xfrm>
          <a:prstGeom prst="rect">
            <a:avLst/>
          </a:prstGeom>
          <a:solidFill>
            <a:srgbClr val="9A6410"/>
          </a:solidFill>
          <a:ln/>
        </p:spPr>
        <p:txBody>
          <a:bodyPr/>
          <a:p/>
        </p:txBody>
      </p:sp>
      <p:sp>
        <p:nvSpPr>
          <p:cNvPr id="10" name="Text 8"/>
          <p:cNvSpPr/>
          <p:nvPr/>
        </p:nvSpPr>
        <p:spPr>
          <a:xfrm>
            <a:off x="7863840" y="1892808"/>
            <a:ext cx="3474720" cy="201168"/>
          </a:xfrm>
          <a:prstGeom prst="rect">
            <a:avLst/>
          </a:prstGeom>
          <a:noFill/>
          <a:ln/>
        </p:spPr>
        <p:txBody>
          <a:bodyPr wrap="square" lIns="0" tIns="0" rIns="0" bIns="0" rtlCol="0" anchor="ctr"/>
          <a:lstStyle/>
          <a:p>
            <a:pPr marL="0" indent="0">
              <a:buNone/>
            </a:pPr>
            <a:r>
              <a:rPr lang="en-US" sz="900" b="1" kern="0" spc="100" dirty="0">
                <a:solidFill>
                  <a:srgbClr val="9A6410"/>
                </a:solidFill>
                <a:latin typeface="Calibri" pitchFamily="34" charset="0"/>
                <a:ea typeface="Calibri" pitchFamily="34" charset="-122"/>
                <a:cs typeface="Calibri" pitchFamily="34" charset="-120"/>
              </a:rPr>
              <a:t>FAILURE MODE</a:t>
            </a:r>
            <a:endParaRPr lang="en-US" sz="900" dirty="0"/>
          </a:p>
        </p:txBody>
      </p:sp>
      <p:sp>
        <p:nvSpPr>
          <p:cNvPr id="11" name="Text 9"/>
          <p:cNvSpPr/>
          <p:nvPr/>
        </p:nvSpPr>
        <p:spPr>
          <a:xfrm>
            <a:off x="7863840" y="2148840"/>
            <a:ext cx="3520440" cy="603504"/>
          </a:xfrm>
          <a:prstGeom prst="rect">
            <a:avLst/>
          </a:prstGeom>
          <a:noFill/>
          <a:ln/>
        </p:spPr>
        <p:txBody>
          <a:bodyPr wrap="square" lIns="0" tIns="0" rIns="0" bIns="0" rtlCol="0" anchor="ctr"/>
          <a:lstStyle/>
          <a:p>
            <a:pPr marL="0" indent="0">
              <a:lnSpc>
                <a:spcPts val="1600"/>
              </a:lnSpc>
              <a:buNone/>
            </a:pPr>
            <a:r>
              <a:rPr lang="en-US" sz="1200" dirty="0">
                <a:solidFill>
                  <a:srgbClr val="10162F"/>
                </a:solidFill>
                <a:latin typeface="Calibri" pitchFamily="34" charset="0"/>
                <a:ea typeface="Calibri" pitchFamily="34" charset="-122"/>
                <a:cs typeface="Calibri" pitchFamily="34" charset="-120"/>
              </a:rPr>
              <a:t>Filtering on posting date shifts the fiscal year.</a:t>
            </a:r>
            <a:endParaRPr lang="en-US" sz="1200" dirty="0"/>
          </a:p>
        </p:txBody>
      </p:sp>
      <p:sp>
        <p:nvSpPr>
          <p:cNvPr id="12" name="Shape 10"/>
          <p:cNvSpPr/>
          <p:nvPr/>
        </p:nvSpPr>
        <p:spPr>
          <a:xfrm>
            <a:off x="566928" y="3108960"/>
            <a:ext cx="11018520" cy="1225296"/>
          </a:xfrm>
          <a:prstGeom prst="roundRect">
            <a:avLst>
              <a:gd name="adj" fmla="val 3731"/>
            </a:avLst>
          </a:prstGeom>
          <a:solidFill>
            <a:srgbClr val="F3F5FA"/>
          </a:solidFill>
          <a:ln w="12700">
            <a:solidFill>
              <a:srgbClr val="DCE2F0"/>
            </a:solidFill>
            <a:prstDash val="solid"/>
          </a:ln>
        </p:spPr>
        <p:txBody>
          <a:bodyPr/>
          <a:p/>
        </p:txBody>
      </p:sp>
      <p:sp>
        <p:nvSpPr>
          <p:cNvPr id="13" name="Text 11"/>
          <p:cNvSpPr/>
          <p:nvPr/>
        </p:nvSpPr>
        <p:spPr>
          <a:xfrm>
            <a:off x="841248" y="3273552"/>
            <a:ext cx="2286000" cy="237744"/>
          </a:xfrm>
          <a:prstGeom prst="rect">
            <a:avLst/>
          </a:prstGeom>
          <a:noFill/>
          <a:ln/>
        </p:spPr>
        <p:txBody>
          <a:bodyPr wrap="square" lIns="0" tIns="0" rIns="0" bIns="0" rtlCol="0" anchor="ctr"/>
          <a:lstStyle/>
          <a:p>
            <a:pPr marL="0" indent="0">
              <a:buNone/>
            </a:pPr>
            <a:r>
              <a:rPr lang="en-US" sz="1000" b="1" kern="0" spc="120" dirty="0">
                <a:solidFill>
                  <a:srgbClr val="1B2A5E"/>
                </a:solidFill>
                <a:latin typeface="Calibri" pitchFamily="34" charset="0"/>
                <a:ea typeface="Calibri" pitchFamily="34" charset="-122"/>
                <a:cs typeface="Calibri" pitchFamily="34" charset="-120"/>
              </a:rPr>
              <a:t>FX RATES</a:t>
            </a:r>
            <a:endParaRPr lang="en-US" sz="1000" dirty="0"/>
          </a:p>
        </p:txBody>
      </p:sp>
      <p:sp>
        <p:nvSpPr>
          <p:cNvPr id="14" name="Text 12"/>
          <p:cNvSpPr/>
          <p:nvPr/>
        </p:nvSpPr>
        <p:spPr>
          <a:xfrm>
            <a:off x="841248" y="3547872"/>
            <a:ext cx="6492240" cy="640080"/>
          </a:xfrm>
          <a:prstGeom prst="rect">
            <a:avLst/>
          </a:prstGeom>
          <a:noFill/>
          <a:ln/>
        </p:spPr>
        <p:txBody>
          <a:bodyPr wrap="square" lIns="0" tIns="0" rIns="0" bIns="0" rtlCol="0" anchor="ctr"/>
          <a:lstStyle/>
          <a:p>
            <a:pPr marL="0" indent="0">
              <a:lnSpc>
                <a:spcPts val="1800"/>
              </a:lnSpc>
              <a:buNone/>
            </a:pPr>
            <a:r>
              <a:rPr lang="en-US" sz="1300" dirty="0">
                <a:solidFill>
                  <a:srgbClr val="10162F"/>
                </a:solidFill>
                <a:latin typeface="Calibri" pitchFamily="34" charset="0"/>
                <a:ea typeface="Calibri" pitchFamily="34" charset="-122"/>
                <a:cs typeface="Calibri" pitchFamily="34" charset="-120"/>
              </a:rPr>
              <a:t>Exactly one rate is missing: EUR for 2024-09. It affects 147 rows worth EUR 1,231,309.</a:t>
            </a:r>
            <a:endParaRPr lang="en-US" sz="1300" dirty="0"/>
          </a:p>
        </p:txBody>
      </p:sp>
      <p:sp>
        <p:nvSpPr>
          <p:cNvPr id="15" name="Shape 13"/>
          <p:cNvSpPr/>
          <p:nvPr/>
        </p:nvSpPr>
        <p:spPr>
          <a:xfrm>
            <a:off x="7635240" y="3310128"/>
            <a:ext cx="32004" cy="822960"/>
          </a:xfrm>
          <a:prstGeom prst="rect">
            <a:avLst/>
          </a:prstGeom>
          <a:solidFill>
            <a:srgbClr val="9A6410"/>
          </a:solidFill>
          <a:ln/>
        </p:spPr>
        <p:txBody>
          <a:bodyPr/>
          <a:p/>
        </p:txBody>
      </p:sp>
      <p:sp>
        <p:nvSpPr>
          <p:cNvPr id="16" name="Text 14"/>
          <p:cNvSpPr/>
          <p:nvPr/>
        </p:nvSpPr>
        <p:spPr>
          <a:xfrm>
            <a:off x="7863840" y="3310128"/>
            <a:ext cx="3474720" cy="201168"/>
          </a:xfrm>
          <a:prstGeom prst="rect">
            <a:avLst/>
          </a:prstGeom>
          <a:noFill/>
          <a:ln/>
        </p:spPr>
        <p:txBody>
          <a:bodyPr wrap="square" lIns="0" tIns="0" rIns="0" bIns="0" rtlCol="0" anchor="ctr"/>
          <a:lstStyle/>
          <a:p>
            <a:pPr marL="0" indent="0">
              <a:buNone/>
            </a:pPr>
            <a:r>
              <a:rPr lang="en-US" sz="900" b="1" kern="0" spc="100" dirty="0">
                <a:solidFill>
                  <a:srgbClr val="9A6410"/>
                </a:solidFill>
                <a:latin typeface="Calibri" pitchFamily="34" charset="0"/>
                <a:ea typeface="Calibri" pitchFamily="34" charset="-122"/>
                <a:cs typeface="Calibri" pitchFamily="34" charset="-120"/>
              </a:rPr>
              <a:t>FAILURE MODE</a:t>
            </a:r>
            <a:endParaRPr lang="en-US" sz="900" dirty="0"/>
          </a:p>
        </p:txBody>
      </p:sp>
      <p:sp>
        <p:nvSpPr>
          <p:cNvPr id="17" name="Text 15"/>
          <p:cNvSpPr/>
          <p:nvPr/>
        </p:nvSpPr>
        <p:spPr>
          <a:xfrm>
            <a:off x="7863840" y="3566160"/>
            <a:ext cx="3520440" cy="603504"/>
          </a:xfrm>
          <a:prstGeom prst="rect">
            <a:avLst/>
          </a:prstGeom>
          <a:noFill/>
          <a:ln/>
        </p:spPr>
        <p:txBody>
          <a:bodyPr wrap="square" lIns="0" tIns="0" rIns="0" bIns="0" rtlCol="0" anchor="ctr"/>
          <a:lstStyle/>
          <a:p>
            <a:pPr marL="0" indent="0">
              <a:lnSpc>
                <a:spcPts val="1600"/>
              </a:lnSpc>
              <a:buNone/>
            </a:pPr>
            <a:r>
              <a:rPr lang="en-US" sz="1200" dirty="0">
                <a:solidFill>
                  <a:srgbClr val="10162F"/>
                </a:solidFill>
                <a:latin typeface="Calibri" pitchFamily="34" charset="0"/>
                <a:ea typeface="Calibri" pitchFamily="34" charset="-122"/>
                <a:cs typeface="Calibri" pitchFamily="34" charset="-120"/>
              </a:rPr>
              <a:t>An aggregation that drops nulls invents a saving.</a:t>
            </a:r>
            <a:endParaRPr lang="en-US" sz="1200" dirty="0"/>
          </a:p>
        </p:txBody>
      </p:sp>
      <p:sp>
        <p:nvSpPr>
          <p:cNvPr id="18" name="Shape 16"/>
          <p:cNvSpPr/>
          <p:nvPr/>
        </p:nvSpPr>
        <p:spPr>
          <a:xfrm>
            <a:off x="566928" y="4526280"/>
            <a:ext cx="11018520" cy="1225296"/>
          </a:xfrm>
          <a:prstGeom prst="roundRect">
            <a:avLst>
              <a:gd name="adj" fmla="val 3731"/>
            </a:avLst>
          </a:prstGeom>
          <a:solidFill>
            <a:srgbClr val="F3F5FA"/>
          </a:solidFill>
          <a:ln w="12700">
            <a:solidFill>
              <a:srgbClr val="DCE2F0"/>
            </a:solidFill>
            <a:prstDash val="solid"/>
          </a:ln>
        </p:spPr>
        <p:txBody>
          <a:bodyPr/>
          <a:p/>
        </p:txBody>
      </p:sp>
      <p:sp>
        <p:nvSpPr>
          <p:cNvPr id="19" name="Text 17"/>
          <p:cNvSpPr/>
          <p:nvPr/>
        </p:nvSpPr>
        <p:spPr>
          <a:xfrm>
            <a:off x="841248" y="4690872"/>
            <a:ext cx="2286000" cy="237744"/>
          </a:xfrm>
          <a:prstGeom prst="rect">
            <a:avLst/>
          </a:prstGeom>
          <a:noFill/>
          <a:ln/>
        </p:spPr>
        <p:txBody>
          <a:bodyPr wrap="square" lIns="0" tIns="0" rIns="0" bIns="0" rtlCol="0" anchor="ctr"/>
          <a:lstStyle/>
          <a:p>
            <a:pPr marL="0" indent="0">
              <a:buNone/>
            </a:pPr>
            <a:r>
              <a:rPr lang="en-US" sz="1000" b="1" kern="0" spc="120" dirty="0">
                <a:solidFill>
                  <a:srgbClr val="1B2A5E"/>
                </a:solidFill>
                <a:latin typeface="Calibri" pitchFamily="34" charset="0"/>
                <a:ea typeface="Calibri" pitchFamily="34" charset="-122"/>
                <a:cs typeface="Calibri" pitchFamily="34" charset="-120"/>
              </a:rPr>
              <a:t>CHART OF ACCOUNTS</a:t>
            </a:r>
            <a:endParaRPr lang="en-US" sz="1000" dirty="0"/>
          </a:p>
        </p:txBody>
      </p:sp>
      <p:sp>
        <p:nvSpPr>
          <p:cNvPr id="20" name="Text 18"/>
          <p:cNvSpPr/>
          <p:nvPr/>
        </p:nvSpPr>
        <p:spPr>
          <a:xfrm>
            <a:off x="841248" y="4965192"/>
            <a:ext cx="6492240" cy="640080"/>
          </a:xfrm>
          <a:prstGeom prst="rect">
            <a:avLst/>
          </a:prstGeom>
          <a:noFill/>
          <a:ln/>
        </p:spPr>
        <p:txBody>
          <a:bodyPr wrap="square" lIns="0" tIns="0" rIns="0" bIns="0" rtlCol="0" anchor="ctr"/>
          <a:lstStyle/>
          <a:p>
            <a:pPr marL="0" indent="0">
              <a:lnSpc>
                <a:spcPts val="1800"/>
              </a:lnSpc>
              <a:buNone/>
            </a:pPr>
            <a:r>
              <a:rPr lang="en-US" sz="1300" dirty="0">
                <a:solidFill>
                  <a:srgbClr val="10162F"/>
                </a:solidFill>
                <a:latin typeface="Calibri" pitchFamily="34" charset="0"/>
                <a:ea typeface="Calibri" pitchFamily="34" charset="-122"/>
                <a:cs typeface="Calibri" pitchFamily="34" charset="-120"/>
              </a:rPr>
              <a:t>Account 6230 changes parent on 1 July 2024. Same code, different hierarchy.</a:t>
            </a:r>
            <a:endParaRPr lang="en-US" sz="1300" dirty="0"/>
          </a:p>
        </p:txBody>
      </p:sp>
      <p:sp>
        <p:nvSpPr>
          <p:cNvPr id="21" name="Shape 19"/>
          <p:cNvSpPr/>
          <p:nvPr/>
        </p:nvSpPr>
        <p:spPr>
          <a:xfrm>
            <a:off x="7635240" y="4727448"/>
            <a:ext cx="32004" cy="822960"/>
          </a:xfrm>
          <a:prstGeom prst="rect">
            <a:avLst/>
          </a:prstGeom>
          <a:solidFill>
            <a:srgbClr val="9A6410"/>
          </a:solidFill>
          <a:ln/>
        </p:spPr>
        <p:txBody>
          <a:bodyPr/>
          <a:p/>
        </p:txBody>
      </p:sp>
      <p:sp>
        <p:nvSpPr>
          <p:cNvPr id="22" name="Text 20"/>
          <p:cNvSpPr/>
          <p:nvPr/>
        </p:nvSpPr>
        <p:spPr>
          <a:xfrm>
            <a:off x="7863840" y="4727448"/>
            <a:ext cx="3474720" cy="201168"/>
          </a:xfrm>
          <a:prstGeom prst="rect">
            <a:avLst/>
          </a:prstGeom>
          <a:noFill/>
          <a:ln/>
        </p:spPr>
        <p:txBody>
          <a:bodyPr wrap="square" lIns="0" tIns="0" rIns="0" bIns="0" rtlCol="0" anchor="ctr"/>
          <a:lstStyle/>
          <a:p>
            <a:pPr marL="0" indent="0">
              <a:buNone/>
            </a:pPr>
            <a:r>
              <a:rPr lang="en-US" sz="900" b="1" kern="0" spc="100" dirty="0">
                <a:solidFill>
                  <a:srgbClr val="9A6410"/>
                </a:solidFill>
                <a:latin typeface="Calibri" pitchFamily="34" charset="0"/>
                <a:ea typeface="Calibri" pitchFamily="34" charset="-122"/>
                <a:cs typeface="Calibri" pitchFamily="34" charset="-120"/>
              </a:rPr>
              <a:t>FAILURE MODE</a:t>
            </a:r>
            <a:endParaRPr lang="en-US" sz="900" dirty="0"/>
          </a:p>
        </p:txBody>
      </p:sp>
      <p:sp>
        <p:nvSpPr>
          <p:cNvPr id="23" name="Text 21"/>
          <p:cNvSpPr/>
          <p:nvPr/>
        </p:nvSpPr>
        <p:spPr>
          <a:xfrm>
            <a:off x="7863840" y="4983480"/>
            <a:ext cx="3520440" cy="603504"/>
          </a:xfrm>
          <a:prstGeom prst="rect">
            <a:avLst/>
          </a:prstGeom>
          <a:noFill/>
          <a:ln/>
        </p:spPr>
        <p:txBody>
          <a:bodyPr wrap="square" lIns="0" tIns="0" rIns="0" bIns="0" rtlCol="0" anchor="ctr"/>
          <a:lstStyle/>
          <a:p>
            <a:pPr marL="0" indent="0">
              <a:lnSpc>
                <a:spcPts val="1600"/>
              </a:lnSpc>
              <a:buNone/>
            </a:pPr>
            <a:r>
              <a:rPr lang="en-US" sz="1200" dirty="0">
                <a:solidFill>
                  <a:srgbClr val="10162F"/>
                </a:solidFill>
                <a:latin typeface="Calibri" pitchFamily="34" charset="0"/>
                <a:ea typeface="Calibri" pitchFamily="34" charset="-122"/>
                <a:cs typeface="Calibri" pitchFamily="34" charset="-120"/>
              </a:rPr>
              <a:t>Dropping duplicates by account code is a silent catastrophe.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06</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02 · THE DATASET</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The dataset is mined on purpose (2 of 2)</a:t>
            </a:r>
            <a:endParaRPr lang="en-US" sz="2800" dirty="0"/>
          </a:p>
        </p:txBody>
      </p:sp>
      <p:sp>
        <p:nvSpPr>
          <p:cNvPr id="6" name="Shape 4"/>
          <p:cNvSpPr/>
          <p:nvPr/>
        </p:nvSpPr>
        <p:spPr>
          <a:xfrm>
            <a:off x="566928" y="1691640"/>
            <a:ext cx="11018520" cy="1225296"/>
          </a:xfrm>
          <a:prstGeom prst="roundRect">
            <a:avLst>
              <a:gd name="adj" fmla="val 3731"/>
            </a:avLst>
          </a:prstGeom>
          <a:solidFill>
            <a:srgbClr val="F3F5FA"/>
          </a:solidFill>
          <a:ln w="12700">
            <a:solidFill>
              <a:srgbClr val="DCE2F0"/>
            </a:solidFill>
            <a:prstDash val="solid"/>
          </a:ln>
        </p:spPr>
        <p:txBody>
          <a:bodyPr/>
          <a:p/>
        </p:txBody>
      </p:sp>
      <p:sp>
        <p:nvSpPr>
          <p:cNvPr id="7" name="Text 5"/>
          <p:cNvSpPr/>
          <p:nvPr/>
        </p:nvSpPr>
        <p:spPr>
          <a:xfrm>
            <a:off x="841248" y="1856232"/>
            <a:ext cx="2286000" cy="237744"/>
          </a:xfrm>
          <a:prstGeom prst="rect">
            <a:avLst/>
          </a:prstGeom>
          <a:noFill/>
          <a:ln/>
        </p:spPr>
        <p:txBody>
          <a:bodyPr wrap="square" lIns="0" tIns="0" rIns="0" bIns="0" rtlCol="0" anchor="ctr"/>
          <a:lstStyle/>
          <a:p>
            <a:pPr marL="0" indent="0">
              <a:buNone/>
            </a:pPr>
            <a:r>
              <a:rPr lang="en-US" sz="1000" b="1" kern="0" spc="120" dirty="0">
                <a:solidFill>
                  <a:srgbClr val="1B2A5E"/>
                </a:solidFill>
                <a:latin typeface="Calibri" pitchFamily="34" charset="0"/>
                <a:ea typeface="Calibri" pitchFamily="34" charset="-122"/>
                <a:cs typeface="Calibri" pitchFamily="34" charset="-120"/>
              </a:rPr>
              <a:t>COST CENTRES</a:t>
            </a:r>
            <a:endParaRPr lang="en-US" sz="1000" dirty="0"/>
          </a:p>
        </p:txBody>
      </p:sp>
      <p:sp>
        <p:nvSpPr>
          <p:cNvPr id="8" name="Text 6"/>
          <p:cNvSpPr/>
          <p:nvPr/>
        </p:nvSpPr>
        <p:spPr>
          <a:xfrm>
            <a:off x="841248" y="2130552"/>
            <a:ext cx="6492240" cy="640080"/>
          </a:xfrm>
          <a:prstGeom prst="rect">
            <a:avLst/>
          </a:prstGeom>
          <a:noFill/>
          <a:ln/>
        </p:spPr>
        <p:txBody>
          <a:bodyPr wrap="square" lIns="0" tIns="0" rIns="0" bIns="0" rtlCol="0" anchor="ctr"/>
          <a:lstStyle/>
          <a:p>
            <a:pPr marL="0" indent="0">
              <a:lnSpc>
                <a:spcPts val="1800"/>
              </a:lnSpc>
              <a:buNone/>
            </a:pPr>
            <a:r>
              <a:rPr lang="en-US" sz="1300" dirty="0">
                <a:solidFill>
                  <a:srgbClr val="10162F"/>
                </a:solidFill>
                <a:latin typeface="Calibri" pitchFamily="34" charset="0"/>
                <a:ea typeface="Calibri" pitchFamily="34" charset="-122"/>
                <a:cs typeface="Calibri" pitchFamily="34" charset="-120"/>
              </a:rPr>
              <a:t>OPS-NA becomes OPS-AMER on 1 July 2024. The plan was restated; prior-year comparatives were not.</a:t>
            </a:r>
            <a:endParaRPr lang="en-US" sz="1300" dirty="0"/>
          </a:p>
        </p:txBody>
      </p:sp>
      <p:sp>
        <p:nvSpPr>
          <p:cNvPr id="9" name="Shape 7"/>
          <p:cNvSpPr/>
          <p:nvPr/>
        </p:nvSpPr>
        <p:spPr>
          <a:xfrm>
            <a:off x="7635240" y="1892808"/>
            <a:ext cx="32004" cy="822960"/>
          </a:xfrm>
          <a:prstGeom prst="rect">
            <a:avLst/>
          </a:prstGeom>
          <a:solidFill>
            <a:srgbClr val="9A6410"/>
          </a:solidFill>
          <a:ln/>
        </p:spPr>
        <p:txBody>
          <a:bodyPr/>
          <a:p/>
        </p:txBody>
      </p:sp>
      <p:sp>
        <p:nvSpPr>
          <p:cNvPr id="10" name="Text 8"/>
          <p:cNvSpPr/>
          <p:nvPr/>
        </p:nvSpPr>
        <p:spPr>
          <a:xfrm>
            <a:off x="7863840" y="1892808"/>
            <a:ext cx="3474720" cy="201168"/>
          </a:xfrm>
          <a:prstGeom prst="rect">
            <a:avLst/>
          </a:prstGeom>
          <a:noFill/>
          <a:ln/>
        </p:spPr>
        <p:txBody>
          <a:bodyPr wrap="square" lIns="0" tIns="0" rIns="0" bIns="0" rtlCol="0" anchor="ctr"/>
          <a:lstStyle/>
          <a:p>
            <a:pPr marL="0" indent="0">
              <a:buNone/>
            </a:pPr>
            <a:r>
              <a:rPr lang="en-US" sz="900" b="1" kern="0" spc="100" dirty="0">
                <a:solidFill>
                  <a:srgbClr val="9A6410"/>
                </a:solidFill>
                <a:latin typeface="Calibri" pitchFamily="34" charset="0"/>
                <a:ea typeface="Calibri" pitchFamily="34" charset="-122"/>
                <a:cs typeface="Calibri" pitchFamily="34" charset="-120"/>
              </a:rPr>
              <a:t>FAILURE MODE</a:t>
            </a:r>
            <a:endParaRPr lang="en-US" sz="900" dirty="0"/>
          </a:p>
        </p:txBody>
      </p:sp>
      <p:sp>
        <p:nvSpPr>
          <p:cNvPr id="11" name="Text 9"/>
          <p:cNvSpPr/>
          <p:nvPr/>
        </p:nvSpPr>
        <p:spPr>
          <a:xfrm>
            <a:off x="7863840" y="2148840"/>
            <a:ext cx="3520440" cy="603504"/>
          </a:xfrm>
          <a:prstGeom prst="rect">
            <a:avLst/>
          </a:prstGeom>
          <a:noFill/>
          <a:ln/>
        </p:spPr>
        <p:txBody>
          <a:bodyPr wrap="square" lIns="0" tIns="0" rIns="0" bIns="0" rtlCol="0" anchor="ctr"/>
          <a:lstStyle/>
          <a:p>
            <a:pPr marL="0" indent="0">
              <a:lnSpc>
                <a:spcPts val="1600"/>
              </a:lnSpc>
              <a:buNone/>
            </a:pPr>
            <a:r>
              <a:rPr lang="en-US" sz="1200" dirty="0">
                <a:solidFill>
                  <a:srgbClr val="10162F"/>
                </a:solidFill>
                <a:latin typeface="Calibri" pitchFamily="34" charset="0"/>
                <a:ea typeface="Calibri" pitchFamily="34" charset="-122"/>
                <a:cs typeface="Calibri" pitchFamily="34" charset="-120"/>
              </a:rPr>
              <a:t>Comparing without mapping gives a clean, false result.</a:t>
            </a:r>
            <a:endParaRPr lang="en-US" sz="1200" dirty="0"/>
          </a:p>
        </p:txBody>
      </p:sp>
      <p:sp>
        <p:nvSpPr>
          <p:cNvPr id="12" name="Shape 10"/>
          <p:cNvSpPr/>
          <p:nvPr/>
        </p:nvSpPr>
        <p:spPr>
          <a:xfrm>
            <a:off x="566928" y="3108960"/>
            <a:ext cx="11018520" cy="1225296"/>
          </a:xfrm>
          <a:prstGeom prst="roundRect">
            <a:avLst>
              <a:gd name="adj" fmla="val 3731"/>
            </a:avLst>
          </a:prstGeom>
          <a:solidFill>
            <a:srgbClr val="F3F5FA"/>
          </a:solidFill>
          <a:ln w="12700">
            <a:solidFill>
              <a:srgbClr val="DCE2F0"/>
            </a:solidFill>
            <a:prstDash val="solid"/>
          </a:ln>
        </p:spPr>
        <p:txBody>
          <a:bodyPr/>
          <a:p/>
        </p:txBody>
      </p:sp>
      <p:sp>
        <p:nvSpPr>
          <p:cNvPr id="13" name="Text 11"/>
          <p:cNvSpPr/>
          <p:nvPr/>
        </p:nvSpPr>
        <p:spPr>
          <a:xfrm>
            <a:off x="841248" y="3273552"/>
            <a:ext cx="2286000" cy="237744"/>
          </a:xfrm>
          <a:prstGeom prst="rect">
            <a:avLst/>
          </a:prstGeom>
          <a:noFill/>
          <a:ln/>
        </p:spPr>
        <p:txBody>
          <a:bodyPr wrap="square" lIns="0" tIns="0" rIns="0" bIns="0" rtlCol="0" anchor="ctr"/>
          <a:lstStyle/>
          <a:p>
            <a:pPr marL="0" indent="0">
              <a:buNone/>
            </a:pPr>
            <a:r>
              <a:rPr lang="en-US" sz="1000" b="1" kern="0" spc="120" dirty="0">
                <a:solidFill>
                  <a:srgbClr val="1B2A5E"/>
                </a:solidFill>
                <a:latin typeface="Calibri" pitchFamily="34" charset="0"/>
                <a:ea typeface="Calibri" pitchFamily="34" charset="-122"/>
                <a:cs typeface="Calibri" pitchFamily="34" charset="-120"/>
              </a:rPr>
              <a:t>BUDGET</a:t>
            </a:r>
            <a:endParaRPr lang="en-US" sz="1000" dirty="0"/>
          </a:p>
        </p:txBody>
      </p:sp>
      <p:sp>
        <p:nvSpPr>
          <p:cNvPr id="14" name="Text 12"/>
          <p:cNvSpPr/>
          <p:nvPr/>
        </p:nvSpPr>
        <p:spPr>
          <a:xfrm>
            <a:off x="841248" y="3547872"/>
            <a:ext cx="6492240" cy="640080"/>
          </a:xfrm>
          <a:prstGeom prst="rect">
            <a:avLst/>
          </a:prstGeom>
          <a:noFill/>
          <a:ln/>
        </p:spPr>
        <p:txBody>
          <a:bodyPr wrap="square" lIns="0" tIns="0" rIns="0" bIns="0" rtlCol="0" anchor="ctr"/>
          <a:lstStyle/>
          <a:p>
            <a:pPr marL="0" indent="0">
              <a:lnSpc>
                <a:spcPts val="1800"/>
              </a:lnSpc>
              <a:buNone/>
            </a:pPr>
            <a:r>
              <a:rPr lang="en-US" sz="1300" dirty="0">
                <a:solidFill>
                  <a:srgbClr val="10162F"/>
                </a:solidFill>
                <a:latin typeface="Calibri" pitchFamily="34" charset="0"/>
                <a:ea typeface="Calibri" pitchFamily="34" charset="-122"/>
                <a:cs typeface="Calibri" pitchFamily="34" charset="-120"/>
              </a:rPr>
              <a:t>228 repeated dimensional keys, all in the cost centre hit by the reorganisation.</a:t>
            </a:r>
            <a:endParaRPr lang="en-US" sz="1300" dirty="0"/>
          </a:p>
        </p:txBody>
      </p:sp>
      <p:sp>
        <p:nvSpPr>
          <p:cNvPr id="15" name="Shape 13"/>
          <p:cNvSpPr/>
          <p:nvPr/>
        </p:nvSpPr>
        <p:spPr>
          <a:xfrm>
            <a:off x="7635240" y="3310128"/>
            <a:ext cx="32004" cy="822960"/>
          </a:xfrm>
          <a:prstGeom prst="rect">
            <a:avLst/>
          </a:prstGeom>
          <a:solidFill>
            <a:srgbClr val="9A6410"/>
          </a:solidFill>
          <a:ln/>
        </p:spPr>
        <p:txBody>
          <a:bodyPr/>
          <a:p/>
        </p:txBody>
      </p:sp>
      <p:sp>
        <p:nvSpPr>
          <p:cNvPr id="16" name="Text 14"/>
          <p:cNvSpPr/>
          <p:nvPr/>
        </p:nvSpPr>
        <p:spPr>
          <a:xfrm>
            <a:off x="7863840" y="3310128"/>
            <a:ext cx="3474720" cy="201168"/>
          </a:xfrm>
          <a:prstGeom prst="rect">
            <a:avLst/>
          </a:prstGeom>
          <a:noFill/>
          <a:ln/>
        </p:spPr>
        <p:txBody>
          <a:bodyPr wrap="square" lIns="0" tIns="0" rIns="0" bIns="0" rtlCol="0" anchor="ctr"/>
          <a:lstStyle/>
          <a:p>
            <a:pPr marL="0" indent="0">
              <a:buNone/>
            </a:pPr>
            <a:r>
              <a:rPr lang="en-US" sz="900" b="1" kern="0" spc="100" dirty="0">
                <a:solidFill>
                  <a:srgbClr val="9A6410"/>
                </a:solidFill>
                <a:latin typeface="Calibri" pitchFamily="34" charset="0"/>
                <a:ea typeface="Calibri" pitchFamily="34" charset="-122"/>
                <a:cs typeface="Calibri" pitchFamily="34" charset="-120"/>
              </a:rPr>
              <a:t>FAILURE MODE</a:t>
            </a:r>
            <a:endParaRPr lang="en-US" sz="900" dirty="0"/>
          </a:p>
        </p:txBody>
      </p:sp>
      <p:sp>
        <p:nvSpPr>
          <p:cNvPr id="17" name="Text 15"/>
          <p:cNvSpPr/>
          <p:nvPr/>
        </p:nvSpPr>
        <p:spPr>
          <a:xfrm>
            <a:off x="7863840" y="3566160"/>
            <a:ext cx="3520440" cy="603504"/>
          </a:xfrm>
          <a:prstGeom prst="rect">
            <a:avLst/>
          </a:prstGeom>
          <a:noFill/>
          <a:ln/>
        </p:spPr>
        <p:txBody>
          <a:bodyPr wrap="square" lIns="0" tIns="0" rIns="0" bIns="0" rtlCol="0" anchor="ctr"/>
          <a:lstStyle/>
          <a:p>
            <a:pPr marL="0" indent="0">
              <a:lnSpc>
                <a:spcPts val="1600"/>
              </a:lnSpc>
              <a:buNone/>
            </a:pPr>
            <a:r>
              <a:rPr lang="en-US" sz="1200" dirty="0">
                <a:solidFill>
                  <a:srgbClr val="10162F"/>
                </a:solidFill>
                <a:latin typeface="Calibri" pitchFamily="34" charset="0"/>
                <a:ea typeface="Calibri" pitchFamily="34" charset="-122"/>
                <a:cs typeface="Calibri" pitchFamily="34" charset="-120"/>
              </a:rPr>
              <a:t>Summing or discarding changes the variance twofold.</a:t>
            </a:r>
            <a:endParaRPr lang="en-US" sz="1200" dirty="0"/>
          </a:p>
        </p:txBody>
      </p:sp>
      <p:sp>
        <p:nvSpPr>
          <p:cNvPr id="18" name="Shape 16"/>
          <p:cNvSpPr/>
          <p:nvPr/>
        </p:nvSpPr>
        <p:spPr>
          <a:xfrm>
            <a:off x="566928" y="4526280"/>
            <a:ext cx="11018520" cy="1225296"/>
          </a:xfrm>
          <a:prstGeom prst="roundRect">
            <a:avLst>
              <a:gd name="adj" fmla="val 3731"/>
            </a:avLst>
          </a:prstGeom>
          <a:solidFill>
            <a:srgbClr val="F3F5FA"/>
          </a:solidFill>
          <a:ln w="12700">
            <a:solidFill>
              <a:srgbClr val="DCE2F0"/>
            </a:solidFill>
            <a:prstDash val="solid"/>
          </a:ln>
        </p:spPr>
        <p:txBody>
          <a:bodyPr/>
          <a:p/>
        </p:txBody>
      </p:sp>
      <p:sp>
        <p:nvSpPr>
          <p:cNvPr id="19" name="Text 17"/>
          <p:cNvSpPr/>
          <p:nvPr/>
        </p:nvSpPr>
        <p:spPr>
          <a:xfrm>
            <a:off x="841248" y="4690872"/>
            <a:ext cx="2286000" cy="237744"/>
          </a:xfrm>
          <a:prstGeom prst="rect">
            <a:avLst/>
          </a:prstGeom>
          <a:noFill/>
          <a:ln/>
        </p:spPr>
        <p:txBody>
          <a:bodyPr wrap="square" lIns="0" tIns="0" rIns="0" bIns="0" rtlCol="0" anchor="ctr"/>
          <a:lstStyle/>
          <a:p>
            <a:pPr marL="0" indent="0">
              <a:buNone/>
            </a:pPr>
            <a:r>
              <a:rPr lang="en-US" sz="1000" b="1" kern="0" spc="120" dirty="0">
                <a:solidFill>
                  <a:srgbClr val="1B2A5E"/>
                </a:solidFill>
                <a:latin typeface="Calibri" pitchFamily="34" charset="0"/>
                <a:ea typeface="Calibri" pitchFamily="34" charset="-122"/>
                <a:cs typeface="Calibri" pitchFamily="34" charset="-120"/>
              </a:rPr>
              <a:t>VENDORS</a:t>
            </a:r>
            <a:endParaRPr lang="en-US" sz="1000" dirty="0"/>
          </a:p>
        </p:txBody>
      </p:sp>
      <p:sp>
        <p:nvSpPr>
          <p:cNvPr id="20" name="Text 18"/>
          <p:cNvSpPr/>
          <p:nvPr/>
        </p:nvSpPr>
        <p:spPr>
          <a:xfrm>
            <a:off x="841248" y="4965192"/>
            <a:ext cx="6492240" cy="640080"/>
          </a:xfrm>
          <a:prstGeom prst="rect">
            <a:avLst/>
          </a:prstGeom>
          <a:noFill/>
          <a:ln/>
        </p:spPr>
        <p:txBody>
          <a:bodyPr wrap="square" lIns="0" tIns="0" rIns="0" bIns="0" rtlCol="0" anchor="ctr"/>
          <a:lstStyle/>
          <a:p>
            <a:pPr marL="0" indent="0">
              <a:lnSpc>
                <a:spcPts val="1800"/>
              </a:lnSpc>
              <a:buNone/>
            </a:pPr>
            <a:r>
              <a:rPr lang="en-US" sz="1300" dirty="0">
                <a:solidFill>
                  <a:srgbClr val="10162F"/>
                </a:solidFill>
                <a:latin typeface="Calibri" pitchFamily="34" charset="0"/>
                <a:ea typeface="Calibri" pitchFamily="34" charset="-122"/>
                <a:cs typeface="Calibri" pitchFamily="34" charset="-120"/>
              </a:rPr>
              <a:t>Four IDs a human would group together. No canonical identifier exists.</a:t>
            </a:r>
            <a:endParaRPr lang="en-US" sz="1300" dirty="0"/>
          </a:p>
        </p:txBody>
      </p:sp>
      <p:sp>
        <p:nvSpPr>
          <p:cNvPr id="21" name="Shape 19"/>
          <p:cNvSpPr/>
          <p:nvPr/>
        </p:nvSpPr>
        <p:spPr>
          <a:xfrm>
            <a:off x="7635240" y="4727448"/>
            <a:ext cx="32004" cy="822960"/>
          </a:xfrm>
          <a:prstGeom prst="rect">
            <a:avLst/>
          </a:prstGeom>
          <a:solidFill>
            <a:srgbClr val="9A6410"/>
          </a:solidFill>
          <a:ln/>
        </p:spPr>
        <p:txBody>
          <a:bodyPr/>
          <a:p/>
        </p:txBody>
      </p:sp>
      <p:sp>
        <p:nvSpPr>
          <p:cNvPr id="22" name="Text 20"/>
          <p:cNvSpPr/>
          <p:nvPr/>
        </p:nvSpPr>
        <p:spPr>
          <a:xfrm>
            <a:off x="7863840" y="4727448"/>
            <a:ext cx="3474720" cy="201168"/>
          </a:xfrm>
          <a:prstGeom prst="rect">
            <a:avLst/>
          </a:prstGeom>
          <a:noFill/>
          <a:ln/>
        </p:spPr>
        <p:txBody>
          <a:bodyPr wrap="square" lIns="0" tIns="0" rIns="0" bIns="0" rtlCol="0" anchor="ctr"/>
          <a:lstStyle/>
          <a:p>
            <a:pPr marL="0" indent="0">
              <a:buNone/>
            </a:pPr>
            <a:r>
              <a:rPr lang="en-US" sz="900" b="1" kern="0" spc="100" dirty="0">
                <a:solidFill>
                  <a:srgbClr val="9A6410"/>
                </a:solidFill>
                <a:latin typeface="Calibri" pitchFamily="34" charset="0"/>
                <a:ea typeface="Calibri" pitchFamily="34" charset="-122"/>
                <a:cs typeface="Calibri" pitchFamily="34" charset="-120"/>
              </a:rPr>
              <a:t>FAILURE MODE</a:t>
            </a:r>
            <a:endParaRPr lang="en-US" sz="900" dirty="0"/>
          </a:p>
        </p:txBody>
      </p:sp>
      <p:sp>
        <p:nvSpPr>
          <p:cNvPr id="23" name="Text 21"/>
          <p:cNvSpPr/>
          <p:nvPr/>
        </p:nvSpPr>
        <p:spPr>
          <a:xfrm>
            <a:off x="7863840" y="4983480"/>
            <a:ext cx="3520440" cy="603504"/>
          </a:xfrm>
          <a:prstGeom prst="rect">
            <a:avLst/>
          </a:prstGeom>
          <a:noFill/>
          <a:ln/>
        </p:spPr>
        <p:txBody>
          <a:bodyPr wrap="square" lIns="0" tIns="0" rIns="0" bIns="0" rtlCol="0" anchor="ctr"/>
          <a:lstStyle/>
          <a:p>
            <a:pPr marL="0" indent="0">
              <a:lnSpc>
                <a:spcPts val="1600"/>
              </a:lnSpc>
              <a:buNone/>
            </a:pPr>
            <a:r>
              <a:rPr lang="en-US" sz="1200" dirty="0">
                <a:solidFill>
                  <a:srgbClr val="10162F"/>
                </a:solidFill>
                <a:latin typeface="Calibri" pitchFamily="34" charset="0"/>
                <a:ea typeface="Calibri" pitchFamily="34" charset="-122"/>
                <a:cs typeface="Calibri" pitchFamily="34" charset="-120"/>
              </a:rPr>
              <a:t>Without an authoritative mapping, merging is inference.</a:t>
            </a:r>
            <a:endParaRPr lang="en-US" sz="1200" dirty="0"/>
          </a:p>
        </p:txBody>
      </p:sp>
      <p:sp>
        <p:nvSpPr>
          <p:cNvPr id="24" name="Text 22"/>
          <p:cNvSpPr/>
          <p:nvPr/>
        </p:nvSpPr>
        <p:spPr>
          <a:xfrm>
            <a:off x="566928" y="5989320"/>
            <a:ext cx="11018520" cy="457200"/>
          </a:xfrm>
          <a:prstGeom prst="rect">
            <a:avLst/>
          </a:prstGeom>
          <a:noFill/>
          <a:ln/>
        </p:spPr>
        <p:txBody>
          <a:bodyPr wrap="square" lIns="0" tIns="0" rIns="0" bIns="0" rtlCol="0" anchor="ctr"/>
          <a:lstStyle/>
          <a:p>
            <a:pPr marL="0" indent="0">
              <a:buNone/>
            </a:pPr>
            <a:r>
              <a:rPr lang="en-US" sz="1250" i="1" dirty="0">
                <a:solidFill>
                  <a:srgbClr val="5C6784"/>
                </a:solidFill>
                <a:latin typeface="Calibri" pitchFamily="34" charset="0"/>
                <a:ea typeface="Calibri" pitchFamily="34" charset="-122"/>
                <a:cs typeface="Calibri" pitchFamily="34" charset="-120"/>
              </a:rPr>
              <a:t>And a seventh finding: 864 rows with no vendor ID, all payroll. An inner join would have erased them from total spend without raising any error.</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024"/>
        </a:solidFill>
        <a:effectLst/>
      </p:bgPr>
    </p:bg>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5A6899"/>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5A6899"/>
                </a:solidFill>
                <a:latin typeface="Calibri" pitchFamily="34" charset="0"/>
                <a:ea typeface="Calibri" pitchFamily="34" charset="-122"/>
                <a:cs typeface="Calibri" pitchFamily="34" charset="-120"/>
              </a:rPr>
              <a:t>07</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9FB0DC"/>
                </a:solidFill>
                <a:latin typeface="Calibri" pitchFamily="34" charset="0"/>
                <a:ea typeface="Calibri" pitchFamily="34" charset="-122"/>
                <a:cs typeface="Calibri" pitchFamily="34" charset="-120"/>
              </a:rPr>
              <a:t>02 · THE DATASET · QUESTION 2</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“How did travel spend in 2024 compare to 2023?”</a:t>
            </a:r>
            <a:endParaRPr lang="en-US" sz="2800" dirty="0"/>
          </a:p>
        </p:txBody>
      </p:sp>
      <p:sp>
        <p:nvSpPr>
          <p:cNvPr id="6" name="Shape 4"/>
          <p:cNvSpPr/>
          <p:nvPr/>
        </p:nvSpPr>
        <p:spPr>
          <a:xfrm>
            <a:off x="566928" y="1691640"/>
            <a:ext cx="3547872" cy="2514600"/>
          </a:xfrm>
          <a:prstGeom prst="roundRect">
            <a:avLst>
              <a:gd name="adj" fmla="val 1818"/>
            </a:avLst>
          </a:prstGeom>
          <a:solidFill>
            <a:srgbClr val="1A2450"/>
          </a:solidFill>
          <a:ln w="12700">
            <a:solidFill>
              <a:srgbClr val="2C3A70"/>
            </a:solidFill>
            <a:prstDash val="solid"/>
          </a:ln>
        </p:spPr>
        <p:txBody>
          <a:bodyPr/>
          <a:p/>
        </p:txBody>
      </p:sp>
      <p:sp>
        <p:nvSpPr>
          <p:cNvPr id="7" name="Text 5"/>
          <p:cNvSpPr/>
          <p:nvPr/>
        </p:nvSpPr>
        <p:spPr>
          <a:xfrm>
            <a:off x="841248" y="1874520"/>
            <a:ext cx="3017520" cy="274320"/>
          </a:xfrm>
          <a:prstGeom prst="rect">
            <a:avLst/>
          </a:prstGeom>
          <a:noFill/>
          <a:ln/>
        </p:spPr>
        <p:txBody>
          <a:bodyPr wrap="square" lIns="0" tIns="0" rIns="0" bIns="0" rtlCol="0" anchor="ctr"/>
          <a:lstStyle/>
          <a:p>
            <a:pPr marL="0" indent="0">
              <a:buNone/>
            </a:pPr>
            <a:r>
              <a:rPr lang="en-US" sz="1150" b="1" dirty="0">
                <a:solidFill>
                  <a:srgbClr val="CADCFC"/>
                </a:solidFill>
                <a:latin typeface="Calibri" pitchFamily="34" charset="0"/>
                <a:ea typeface="Calibri" pitchFamily="34" charset="-122"/>
                <a:cs typeface="Calibri" pitchFamily="34" charset="-120"/>
              </a:rPr>
              <a:t>Reported basis</a:t>
            </a:r>
            <a:endParaRPr lang="en-US" sz="1150" dirty="0"/>
          </a:p>
        </p:txBody>
      </p:sp>
      <p:sp>
        <p:nvSpPr>
          <p:cNvPr id="8" name="Text 6"/>
          <p:cNvSpPr/>
          <p:nvPr/>
        </p:nvSpPr>
        <p:spPr>
          <a:xfrm>
            <a:off x="841248" y="2212848"/>
            <a:ext cx="3017520" cy="685800"/>
          </a:xfrm>
          <a:prstGeom prst="rect">
            <a:avLst/>
          </a:prstGeom>
          <a:noFill/>
          <a:ln/>
        </p:spPr>
        <p:txBody>
          <a:bodyPr wrap="square" lIns="0" tIns="0" rIns="0" bIns="0" rtlCol="0" anchor="ctr"/>
          <a:lstStyle/>
          <a:p>
            <a:pPr marL="0" indent="0">
              <a:buNone/>
            </a:pPr>
            <a:r>
              <a:rPr lang="en-US" sz="3400" b="1" dirty="0">
                <a:solidFill>
                  <a:srgbClr val="F09393"/>
                </a:solidFill>
                <a:latin typeface="Cambria" pitchFamily="34" charset="0"/>
                <a:ea typeface="Cambria" pitchFamily="34" charset="-122"/>
                <a:cs typeface="Cambria" pitchFamily="34" charset="-120"/>
              </a:rPr>
              <a:t>−204,258</a:t>
            </a:r>
            <a:endParaRPr lang="en-US" sz="3400" dirty="0"/>
          </a:p>
        </p:txBody>
      </p:sp>
      <p:sp>
        <p:nvSpPr>
          <p:cNvPr id="9" name="Text 7"/>
          <p:cNvSpPr/>
          <p:nvPr/>
        </p:nvSpPr>
        <p:spPr>
          <a:xfrm>
            <a:off x="841248" y="2907792"/>
            <a:ext cx="3017520" cy="201168"/>
          </a:xfrm>
          <a:prstGeom prst="rect">
            <a:avLst/>
          </a:prstGeom>
          <a:noFill/>
          <a:ln/>
        </p:spPr>
        <p:txBody>
          <a:bodyPr wrap="square" lIns="0" tIns="0" rIns="0" bIns="0" rtlCol="0" anchor="ctr"/>
          <a:lstStyle/>
          <a:p>
            <a:pPr marL="0" indent="0">
              <a:buNone/>
            </a:pPr>
            <a:r>
              <a:rPr lang="en-US" sz="1000" dirty="0">
                <a:solidFill>
                  <a:srgbClr val="5A6899"/>
                </a:solidFill>
                <a:latin typeface="Calibri" pitchFamily="34" charset="0"/>
                <a:ea typeface="Calibri" pitchFamily="34" charset="-122"/>
                <a:cs typeface="Calibri" pitchFamily="34" charset="-120"/>
              </a:rPr>
              <a:t>USD</a:t>
            </a:r>
            <a:endParaRPr lang="en-US" sz="1000" dirty="0"/>
          </a:p>
        </p:txBody>
      </p:sp>
      <p:sp>
        <p:nvSpPr>
          <p:cNvPr id="10" name="Text 8"/>
          <p:cNvSpPr/>
          <p:nvPr/>
        </p:nvSpPr>
        <p:spPr>
          <a:xfrm>
            <a:off x="841248" y="3200400"/>
            <a:ext cx="3017520" cy="868680"/>
          </a:xfrm>
          <a:prstGeom prst="rect">
            <a:avLst/>
          </a:prstGeom>
          <a:noFill/>
          <a:ln/>
        </p:spPr>
        <p:txBody>
          <a:bodyPr wrap="square" lIns="0" tIns="0" rIns="0" bIns="0" rtlCol="0" anchor="ctr"/>
          <a:lstStyle/>
          <a:p>
            <a:pPr marL="0" indent="0">
              <a:lnSpc>
                <a:spcPts val="1600"/>
              </a:lnSpc>
              <a:buNone/>
            </a:pPr>
            <a:r>
              <a:rPr lang="en-US" sz="1150" dirty="0">
                <a:solidFill>
                  <a:srgbClr val="CADCFC"/>
                </a:solidFill>
                <a:latin typeface="Calibri" pitchFamily="34" charset="0"/>
                <a:ea typeface="Calibri" pitchFamily="34" charset="-122"/>
                <a:cs typeface="Calibri" pitchFamily="34" charset="-120"/>
              </a:rPr>
              <a:t>Respects the account hierarchy in force in each period. This is what a plain groupby returns.</a:t>
            </a:r>
            <a:endParaRPr lang="en-US" sz="1150" dirty="0"/>
          </a:p>
        </p:txBody>
      </p:sp>
      <p:sp>
        <p:nvSpPr>
          <p:cNvPr id="11" name="Shape 9"/>
          <p:cNvSpPr/>
          <p:nvPr/>
        </p:nvSpPr>
        <p:spPr>
          <a:xfrm>
            <a:off x="4389120" y="1691640"/>
            <a:ext cx="3547872" cy="2514600"/>
          </a:xfrm>
          <a:prstGeom prst="roundRect">
            <a:avLst>
              <a:gd name="adj" fmla="val 1818"/>
            </a:avLst>
          </a:prstGeom>
          <a:solidFill>
            <a:srgbClr val="1A2450"/>
          </a:solidFill>
          <a:ln w="12700">
            <a:solidFill>
              <a:srgbClr val="2C3A70"/>
            </a:solidFill>
            <a:prstDash val="solid"/>
          </a:ln>
        </p:spPr>
        <p:txBody>
          <a:bodyPr/>
          <a:p/>
        </p:txBody>
      </p:sp>
      <p:sp>
        <p:nvSpPr>
          <p:cNvPr id="12" name="Text 10"/>
          <p:cNvSpPr/>
          <p:nvPr/>
        </p:nvSpPr>
        <p:spPr>
          <a:xfrm>
            <a:off x="4663440" y="1874520"/>
            <a:ext cx="3017520" cy="274320"/>
          </a:xfrm>
          <a:prstGeom prst="rect">
            <a:avLst/>
          </a:prstGeom>
          <a:noFill/>
          <a:ln/>
        </p:spPr>
        <p:txBody>
          <a:bodyPr wrap="square" lIns="0" tIns="0" rIns="0" bIns="0" rtlCol="0" anchor="ctr"/>
          <a:lstStyle/>
          <a:p>
            <a:pPr marL="0" indent="0">
              <a:buNone/>
            </a:pPr>
            <a:r>
              <a:rPr lang="en-US" sz="1150" b="1" dirty="0">
                <a:solidFill>
                  <a:srgbClr val="CADCFC"/>
                </a:solidFill>
                <a:latin typeface="Calibri" pitchFamily="34" charset="0"/>
                <a:ea typeface="Calibri" pitchFamily="34" charset="-122"/>
                <a:cs typeface="Calibri" pitchFamily="34" charset="-120"/>
              </a:rPr>
              <a:t>Comparable · current ref.</a:t>
            </a:r>
            <a:endParaRPr lang="en-US" sz="1150" dirty="0"/>
          </a:p>
        </p:txBody>
      </p:sp>
      <p:sp>
        <p:nvSpPr>
          <p:cNvPr id="13" name="Text 11"/>
          <p:cNvSpPr/>
          <p:nvPr/>
        </p:nvSpPr>
        <p:spPr>
          <a:xfrm>
            <a:off x="4663440" y="2212848"/>
            <a:ext cx="3017520" cy="685800"/>
          </a:xfrm>
          <a:prstGeom prst="rect">
            <a:avLst/>
          </a:prstGeom>
          <a:noFill/>
          <a:ln/>
        </p:spPr>
        <p:txBody>
          <a:bodyPr wrap="square" lIns="0" tIns="0" rIns="0" bIns="0" rtlCol="0" anchor="ctr"/>
          <a:lstStyle/>
          <a:p>
            <a:pPr marL="0" indent="0">
              <a:buNone/>
            </a:pPr>
            <a:r>
              <a:rPr lang="en-US" sz="3400" b="1" dirty="0">
                <a:solidFill>
                  <a:srgbClr val="84D6AC"/>
                </a:solidFill>
                <a:latin typeface="Cambria" pitchFamily="34" charset="0"/>
                <a:ea typeface="Cambria" pitchFamily="34" charset="-122"/>
                <a:cs typeface="Cambria" pitchFamily="34" charset="-120"/>
              </a:rPr>
              <a:t>+42,212</a:t>
            </a:r>
            <a:endParaRPr lang="en-US" sz="3400" dirty="0"/>
          </a:p>
        </p:txBody>
      </p:sp>
      <p:sp>
        <p:nvSpPr>
          <p:cNvPr id="14" name="Text 12"/>
          <p:cNvSpPr/>
          <p:nvPr/>
        </p:nvSpPr>
        <p:spPr>
          <a:xfrm>
            <a:off x="4663440" y="2907792"/>
            <a:ext cx="3017520" cy="201168"/>
          </a:xfrm>
          <a:prstGeom prst="rect">
            <a:avLst/>
          </a:prstGeom>
          <a:noFill/>
          <a:ln/>
        </p:spPr>
        <p:txBody>
          <a:bodyPr wrap="square" lIns="0" tIns="0" rIns="0" bIns="0" rtlCol="0" anchor="ctr"/>
          <a:lstStyle/>
          <a:p>
            <a:pPr marL="0" indent="0">
              <a:buNone/>
            </a:pPr>
            <a:r>
              <a:rPr lang="en-US" sz="1000" dirty="0">
                <a:solidFill>
                  <a:srgbClr val="5A6899"/>
                </a:solidFill>
                <a:latin typeface="Calibri" pitchFamily="34" charset="0"/>
                <a:ea typeface="Calibri" pitchFamily="34" charset="-122"/>
                <a:cs typeface="Calibri" pitchFamily="34" charset="-120"/>
              </a:rPr>
              <a:t>USD</a:t>
            </a:r>
            <a:endParaRPr lang="en-US" sz="1000" dirty="0"/>
          </a:p>
        </p:txBody>
      </p:sp>
      <p:sp>
        <p:nvSpPr>
          <p:cNvPr id="15" name="Text 13"/>
          <p:cNvSpPr/>
          <p:nvPr/>
        </p:nvSpPr>
        <p:spPr>
          <a:xfrm>
            <a:off x="4663440" y="3200400"/>
            <a:ext cx="3017520" cy="868680"/>
          </a:xfrm>
          <a:prstGeom prst="rect">
            <a:avLst/>
          </a:prstGeom>
          <a:noFill/>
          <a:ln/>
        </p:spPr>
        <p:txBody>
          <a:bodyPr wrap="square" lIns="0" tIns="0" rIns="0" bIns="0" rtlCol="0" anchor="ctr"/>
          <a:lstStyle/>
          <a:p>
            <a:pPr marL="0" indent="0">
              <a:lnSpc>
                <a:spcPts val="1600"/>
              </a:lnSpc>
              <a:buNone/>
            </a:pPr>
            <a:r>
              <a:rPr lang="en-US" sz="1150" dirty="0">
                <a:solidFill>
                  <a:srgbClr val="CADCFC"/>
                </a:solidFill>
                <a:latin typeface="Calibri" pitchFamily="34" charset="0"/>
                <a:ea typeface="Calibri" pitchFamily="34" charset="-122"/>
                <a:cs typeface="Calibri" pitchFamily="34" charset="-120"/>
              </a:rPr>
              <a:t>Same account definition across both years, using today's classification.</a:t>
            </a:r>
            <a:endParaRPr lang="en-US" sz="1150" dirty="0"/>
          </a:p>
        </p:txBody>
      </p:sp>
      <p:sp>
        <p:nvSpPr>
          <p:cNvPr id="16" name="Shape 14"/>
          <p:cNvSpPr/>
          <p:nvPr/>
        </p:nvSpPr>
        <p:spPr>
          <a:xfrm>
            <a:off x="8211312" y="1691640"/>
            <a:ext cx="3547872" cy="2514600"/>
          </a:xfrm>
          <a:prstGeom prst="roundRect">
            <a:avLst>
              <a:gd name="adj" fmla="val 1818"/>
            </a:avLst>
          </a:prstGeom>
          <a:solidFill>
            <a:srgbClr val="1A2450"/>
          </a:solidFill>
          <a:ln w="12700">
            <a:solidFill>
              <a:srgbClr val="2C3A70"/>
            </a:solidFill>
            <a:prstDash val="solid"/>
          </a:ln>
        </p:spPr>
        <p:txBody>
          <a:bodyPr/>
          <a:p/>
        </p:txBody>
      </p:sp>
      <p:sp>
        <p:nvSpPr>
          <p:cNvPr id="17" name="Text 15"/>
          <p:cNvSpPr/>
          <p:nvPr/>
        </p:nvSpPr>
        <p:spPr>
          <a:xfrm>
            <a:off x="8485632" y="1874520"/>
            <a:ext cx="3017520" cy="274320"/>
          </a:xfrm>
          <a:prstGeom prst="rect">
            <a:avLst/>
          </a:prstGeom>
          <a:noFill/>
          <a:ln/>
        </p:spPr>
        <p:txBody>
          <a:bodyPr wrap="square" lIns="0" tIns="0" rIns="0" bIns="0" rtlCol="0" anchor="ctr"/>
          <a:lstStyle/>
          <a:p>
            <a:pPr marL="0" indent="0">
              <a:buNone/>
            </a:pPr>
            <a:r>
              <a:rPr lang="en-US" sz="1150" b="1" dirty="0">
                <a:solidFill>
                  <a:srgbClr val="CADCFC"/>
                </a:solidFill>
                <a:latin typeface="Calibri" pitchFamily="34" charset="0"/>
                <a:ea typeface="Calibri" pitchFamily="34" charset="-122"/>
                <a:cs typeface="Calibri" pitchFamily="34" charset="-120"/>
              </a:rPr>
              <a:t>Comparable · earliest ref.</a:t>
            </a:r>
            <a:endParaRPr lang="en-US" sz="1150" dirty="0"/>
          </a:p>
        </p:txBody>
      </p:sp>
      <p:sp>
        <p:nvSpPr>
          <p:cNvPr id="18" name="Text 16"/>
          <p:cNvSpPr/>
          <p:nvPr/>
        </p:nvSpPr>
        <p:spPr>
          <a:xfrm>
            <a:off x="8485632" y="2212848"/>
            <a:ext cx="3017520" cy="685800"/>
          </a:xfrm>
          <a:prstGeom prst="rect">
            <a:avLst/>
          </a:prstGeom>
          <a:noFill/>
          <a:ln/>
        </p:spPr>
        <p:txBody>
          <a:bodyPr wrap="square" lIns="0" tIns="0" rIns="0" bIns="0" rtlCol="0" anchor="ctr"/>
          <a:lstStyle/>
          <a:p>
            <a:pPr marL="0" indent="0">
              <a:buNone/>
            </a:pPr>
            <a:r>
              <a:rPr lang="en-US" sz="3400" b="1" dirty="0">
                <a:solidFill>
                  <a:srgbClr val="84D6AC"/>
                </a:solidFill>
                <a:latin typeface="Cambria" pitchFamily="34" charset="0"/>
                <a:ea typeface="Cambria" pitchFamily="34" charset="-122"/>
                <a:cs typeface="Cambria" pitchFamily="34" charset="-120"/>
              </a:rPr>
              <a:t>+86,289</a:t>
            </a:r>
            <a:endParaRPr lang="en-US" sz="3400" dirty="0"/>
          </a:p>
        </p:txBody>
      </p:sp>
      <p:sp>
        <p:nvSpPr>
          <p:cNvPr id="19" name="Text 17"/>
          <p:cNvSpPr/>
          <p:nvPr/>
        </p:nvSpPr>
        <p:spPr>
          <a:xfrm>
            <a:off x="8485632" y="2907792"/>
            <a:ext cx="3017520" cy="201168"/>
          </a:xfrm>
          <a:prstGeom prst="rect">
            <a:avLst/>
          </a:prstGeom>
          <a:noFill/>
          <a:ln/>
        </p:spPr>
        <p:txBody>
          <a:bodyPr wrap="square" lIns="0" tIns="0" rIns="0" bIns="0" rtlCol="0" anchor="ctr"/>
          <a:lstStyle/>
          <a:p>
            <a:pPr marL="0" indent="0">
              <a:buNone/>
            </a:pPr>
            <a:r>
              <a:rPr lang="en-US" sz="1000" dirty="0">
                <a:solidFill>
                  <a:srgbClr val="5A6899"/>
                </a:solidFill>
                <a:latin typeface="Calibri" pitchFamily="34" charset="0"/>
                <a:ea typeface="Calibri" pitchFamily="34" charset="-122"/>
                <a:cs typeface="Calibri" pitchFamily="34" charset="-120"/>
              </a:rPr>
              <a:t>USD</a:t>
            </a:r>
            <a:endParaRPr lang="en-US" sz="1000" dirty="0"/>
          </a:p>
        </p:txBody>
      </p:sp>
      <p:sp>
        <p:nvSpPr>
          <p:cNvPr id="20" name="Text 18"/>
          <p:cNvSpPr/>
          <p:nvPr/>
        </p:nvSpPr>
        <p:spPr>
          <a:xfrm>
            <a:off x="8485632" y="3200400"/>
            <a:ext cx="3017520" cy="868680"/>
          </a:xfrm>
          <a:prstGeom prst="rect">
            <a:avLst/>
          </a:prstGeom>
          <a:noFill/>
          <a:ln/>
        </p:spPr>
        <p:txBody>
          <a:bodyPr wrap="square" lIns="0" tIns="0" rIns="0" bIns="0" rtlCol="0" anchor="ctr"/>
          <a:lstStyle/>
          <a:p>
            <a:pPr marL="0" indent="0">
              <a:lnSpc>
                <a:spcPts val="1600"/>
              </a:lnSpc>
              <a:buNone/>
            </a:pPr>
            <a:r>
              <a:rPr lang="en-US" sz="1150" dirty="0">
                <a:solidFill>
                  <a:srgbClr val="CADCFC"/>
                </a:solidFill>
                <a:latin typeface="Calibri" pitchFamily="34" charset="0"/>
                <a:ea typeface="Calibri" pitchFamily="34" charset="-122"/>
                <a:cs typeface="Calibri" pitchFamily="34" charset="-120"/>
              </a:rPr>
              <a:t>Same definition, using the classification in force at the start of the period.</a:t>
            </a:r>
            <a:endParaRPr lang="en-US" sz="1150" dirty="0"/>
          </a:p>
        </p:txBody>
      </p:sp>
      <p:sp>
        <p:nvSpPr>
          <p:cNvPr id="21" name="Text 19"/>
          <p:cNvSpPr/>
          <p:nvPr/>
        </p:nvSpPr>
        <p:spPr>
          <a:xfrm>
            <a:off x="566928" y="4434840"/>
            <a:ext cx="11018520" cy="411480"/>
          </a:xfrm>
          <a:prstGeom prst="rect">
            <a:avLst/>
          </a:prstGeom>
          <a:noFill/>
          <a:ln/>
        </p:spPr>
        <p:txBody>
          <a:bodyPr wrap="square" lIns="0" tIns="0" rIns="0" bIns="0" rtlCol="0" anchor="ctr"/>
          <a:lstStyle/>
          <a:p>
            <a:pPr marL="0" indent="0">
              <a:buNone/>
            </a:pPr>
            <a:r>
              <a:rPr lang="en-US" sz="2100" b="1" i="1" dirty="0">
                <a:solidFill>
                  <a:srgbClr val="FFFFFF"/>
                </a:solidFill>
                <a:latin typeface="Cambria" pitchFamily="34" charset="0"/>
                <a:ea typeface="Cambria" pitchFamily="34" charset="-122"/>
                <a:cs typeface="Cambria" pitchFamily="34" charset="-120"/>
              </a:rPr>
              <a:t>Same question, same data, and the sign flips.</a:t>
            </a:r>
            <a:endParaRPr lang="en-US" sz="2100" dirty="0"/>
          </a:p>
        </p:txBody>
      </p:sp>
      <p:sp>
        <p:nvSpPr>
          <p:cNvPr id="22" name="Text 20"/>
          <p:cNvSpPr/>
          <p:nvPr/>
        </p:nvSpPr>
        <p:spPr>
          <a:xfrm>
            <a:off x="566928" y="4937760"/>
            <a:ext cx="11018520" cy="822960"/>
          </a:xfrm>
          <a:prstGeom prst="rect">
            <a:avLst/>
          </a:prstGeom>
          <a:noFill/>
          <a:ln/>
        </p:spPr>
        <p:txBody>
          <a:bodyPr wrap="square" lIns="0" tIns="0" rIns="0" bIns="0" rtlCol="0" anchor="ctr"/>
          <a:lstStyle/>
          <a:p>
            <a:pPr marL="0" indent="0">
              <a:lnSpc>
                <a:spcPts val="2000"/>
              </a:lnSpc>
              <a:buNone/>
            </a:pPr>
            <a:r>
              <a:rPr lang="en-US" sz="1350" dirty="0">
                <a:solidFill>
                  <a:srgbClr val="CADCFC"/>
                </a:solidFill>
                <a:latin typeface="Calibri" pitchFamily="34" charset="0"/>
                <a:ea typeface="Calibri" pitchFamily="34" charset="-122"/>
                <a:cs typeface="Calibri" pitchFamily="34" charset="-120"/>
              </a:rPr>
              <a:t>The board memo sets a target to cut travel by four per cent. An executive reading “−14.4%” concludes the target is comfortably met. Real spend went up: the USD 263,165 that appeared to vanish were reclassified to Marketing on 1 July.</a:t>
            </a:r>
            <a:endParaRPr lang="en-US" sz="1350" dirty="0"/>
          </a:p>
        </p:txBody>
      </p:sp>
      <p:sp>
        <p:nvSpPr>
          <p:cNvPr id="23" name="Text 21"/>
          <p:cNvSpPr/>
          <p:nvPr/>
        </p:nvSpPr>
        <p:spPr>
          <a:xfrm>
            <a:off x="566928" y="5852160"/>
            <a:ext cx="11018520" cy="365760"/>
          </a:xfrm>
          <a:prstGeom prst="rect">
            <a:avLst/>
          </a:prstGeom>
          <a:noFill/>
          <a:ln/>
        </p:spPr>
        <p:txBody>
          <a:bodyPr wrap="square" lIns="0" tIns="0" rIns="0" bIns="0" rtlCol="0" anchor="ctr"/>
          <a:lstStyle/>
          <a:p>
            <a:pPr marL="0" indent="0">
              <a:buNone/>
            </a:pPr>
            <a:r>
              <a:rPr lang="en-US" sz="1250" i="1" dirty="0">
                <a:solidFill>
                  <a:srgbClr val="9FB0DC"/>
                </a:solidFill>
                <a:latin typeface="Calibri" pitchFamily="34" charset="0"/>
                <a:ea typeface="Calibri" pitchFamily="34" charset="-122"/>
                <a:cs typeface="Calibri" pitchFamily="34" charset="-120"/>
              </a:rPr>
              <a:t>The system returns all three bases and quantifies the reclassification bridge. Delivering only one is a misleading answer built on correct data.</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08</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03 · THE ARCHITECTURE</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Where I drew the boundary</a:t>
            </a:r>
            <a:endParaRPr lang="en-US" sz="2800" dirty="0"/>
          </a:p>
        </p:txBody>
      </p:sp>
      <p:sp>
        <p:nvSpPr>
          <p:cNvPr id="6" name="Shape 4"/>
          <p:cNvSpPr/>
          <p:nvPr/>
        </p:nvSpPr>
        <p:spPr>
          <a:xfrm>
            <a:off x="566928" y="1645920"/>
            <a:ext cx="11018520" cy="868680"/>
          </a:xfrm>
          <a:prstGeom prst="roundRect">
            <a:avLst>
              <a:gd name="adj" fmla="val 5263"/>
            </a:avLst>
          </a:prstGeom>
          <a:solidFill>
            <a:srgbClr val="1B2A5E"/>
          </a:solidFill>
          <a:ln w="12700">
            <a:solidFill>
              <a:srgbClr val="1B2A5E"/>
            </a:solidFill>
            <a:prstDash val="solid"/>
          </a:ln>
        </p:spPr>
        <p:txBody>
          <a:bodyPr/>
          <a:p/>
        </p:txBody>
      </p:sp>
      <p:sp>
        <p:nvSpPr>
          <p:cNvPr id="7" name="Text 5"/>
          <p:cNvSpPr/>
          <p:nvPr/>
        </p:nvSpPr>
        <p:spPr>
          <a:xfrm>
            <a:off x="914400" y="1645920"/>
            <a:ext cx="10332720" cy="868680"/>
          </a:xfrm>
          <a:prstGeom prst="rect">
            <a:avLst/>
          </a:prstGeom>
          <a:noFill/>
          <a:ln/>
        </p:spPr>
        <p:txBody>
          <a:bodyPr wrap="square" lIns="0" tIns="0" rIns="0" bIns="0" rtlCol="0" anchor="ctr"/>
          <a:lstStyle/>
          <a:p>
            <a:pPr marL="0" indent="0">
              <a:lnSpc>
                <a:spcPts val="2400"/>
              </a:lnSpc>
              <a:buNone/>
            </a:pPr>
            <a:r>
              <a:rPr lang="en-US" sz="1700" i="1" dirty="0">
                <a:solidFill>
                  <a:srgbClr val="FFFFFF"/>
                </a:solidFill>
                <a:latin typeface="Cambria" pitchFamily="34" charset="0"/>
                <a:ea typeface="Cambria" pitchFamily="34" charset="-122"/>
                <a:cs typeface="Cambria" pitchFamily="34" charset="-120"/>
              </a:rPr>
              <a:t>The system is agentic at the interpretation boundary and deterministic at the financial-computation boundary.</a:t>
            </a:r>
            <a:endParaRPr lang="en-US" sz="1700" dirty="0"/>
          </a:p>
        </p:txBody>
      </p:sp>
      <p:sp>
        <p:nvSpPr>
          <p:cNvPr id="8" name="Shape 6"/>
          <p:cNvSpPr/>
          <p:nvPr/>
        </p:nvSpPr>
        <p:spPr>
          <a:xfrm>
            <a:off x="566928" y="2788920"/>
            <a:ext cx="5349240" cy="2286000"/>
          </a:xfrm>
          <a:prstGeom prst="roundRect">
            <a:avLst>
              <a:gd name="adj" fmla="val 2000"/>
            </a:avLst>
          </a:prstGeom>
          <a:solidFill>
            <a:srgbClr val="F3F5FA"/>
          </a:solidFill>
          <a:ln w="12700">
            <a:solidFill>
              <a:srgbClr val="DCE2F0"/>
            </a:solidFill>
            <a:prstDash val="solid"/>
          </a:ln>
        </p:spPr>
        <p:txBody>
          <a:bodyPr/>
          <a:p/>
        </p:txBody>
      </p:sp>
      <p:sp>
        <p:nvSpPr>
          <p:cNvPr id="9" name="Text 7"/>
          <p:cNvSpPr/>
          <p:nvPr/>
        </p:nvSpPr>
        <p:spPr>
          <a:xfrm>
            <a:off x="841248" y="2999232"/>
            <a:ext cx="4754880" cy="256032"/>
          </a:xfrm>
          <a:prstGeom prst="rect">
            <a:avLst/>
          </a:prstGeom>
          <a:noFill/>
          <a:ln/>
        </p:spPr>
        <p:txBody>
          <a:bodyPr wrap="square" lIns="0" tIns="0" rIns="0" bIns="0" rtlCol="0" anchor="ctr"/>
          <a:lstStyle/>
          <a:p>
            <a:pPr marL="0" indent="0">
              <a:buNone/>
            </a:pPr>
            <a:r>
              <a:rPr lang="en-US" sz="1000" b="1" kern="0" spc="120" dirty="0">
                <a:solidFill>
                  <a:srgbClr val="3E5288"/>
                </a:solidFill>
                <a:latin typeface="Calibri" pitchFamily="34" charset="0"/>
                <a:ea typeface="Calibri" pitchFamily="34" charset="-122"/>
                <a:cs typeface="Calibri" pitchFamily="34" charset="-120"/>
              </a:rPr>
              <a:t>WHAT THE MODEL DOES</a:t>
            </a:r>
            <a:endParaRPr lang="en-US" sz="1000" dirty="0"/>
          </a:p>
        </p:txBody>
      </p:sp>
      <p:sp>
        <p:nvSpPr>
          <p:cNvPr id="10" name="Text 8"/>
          <p:cNvSpPr/>
          <p:nvPr/>
        </p:nvSpPr>
        <p:spPr>
          <a:xfrm>
            <a:off x="841248" y="3310128"/>
            <a:ext cx="4800600" cy="164592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50" dirty="0">
                <a:solidFill>
                  <a:srgbClr val="10162F"/>
                </a:solidFill>
                <a:latin typeface="Calibri" pitchFamily="34" charset="0"/>
                <a:ea typeface="Calibri" pitchFamily="34" charset="-122"/>
                <a:cs typeface="Calibri" pitchFamily="34" charset="-120"/>
              </a:rPr>
              <a:t>Classify the question into one of eight intents</a:t>
            </a:r>
            <a:endParaRPr lang="en-US" sz="1250" dirty="0"/>
          </a:p>
          <a:p>
            <a:pPr marL="342900" indent="-342900">
              <a:lnSpc>
                <a:spcPts val="1700"/>
              </a:lnSpc>
              <a:spcAft>
                <a:spcPts val="700"/>
              </a:spcAft>
              <a:buSzPct val="100000"/>
              <a:buChar char="•"/>
            </a:pPr>
            <a:r>
              <a:rPr lang="en-US" sz="1250" dirty="0">
                <a:solidFill>
                  <a:srgbClr val="10162F"/>
                </a:solidFill>
                <a:latin typeface="Calibri" pitchFamily="34" charset="0"/>
                <a:ea typeface="Calibri" pitchFamily="34" charset="-122"/>
                <a:cs typeface="Calibri" pitchFamily="34" charset="-120"/>
              </a:rPr>
              <a:t>Extract the parameters the text states</a:t>
            </a:r>
            <a:endParaRPr lang="en-US" sz="1250" dirty="0"/>
          </a:p>
          <a:p>
            <a:pPr marL="342900" indent="-342900">
              <a:lnSpc>
                <a:spcPts val="1700"/>
              </a:lnSpc>
              <a:spcAft>
                <a:spcPts val="700"/>
              </a:spcAft>
              <a:buSzPct val="100000"/>
              <a:buChar char="•"/>
            </a:pPr>
            <a:r>
              <a:rPr lang="en-US" sz="1250" dirty="0">
                <a:solidFill>
                  <a:srgbClr val="10162F"/>
                </a:solidFill>
                <a:latin typeface="Calibri" pitchFamily="34" charset="0"/>
                <a:ea typeface="Calibri" pitchFamily="34" charset="-122"/>
                <a:cs typeface="Calibri" pitchFamily="34" charset="-120"/>
              </a:rPr>
              <a:t>Report its confidence in the classification</a:t>
            </a:r>
            <a:endParaRPr lang="en-US" sz="1250" dirty="0"/>
          </a:p>
          <a:p>
            <a:pPr marL="342900" indent="-342900">
              <a:lnSpc>
                <a:spcPts val="1700"/>
              </a:lnSpc>
              <a:spcAft>
                <a:spcPts val="700"/>
              </a:spcAft>
              <a:buSzPct val="100000"/>
              <a:buChar char="•"/>
            </a:pPr>
            <a:r>
              <a:rPr lang="en-US" sz="1250" dirty="0">
                <a:solidFill>
                  <a:srgbClr val="10162F"/>
                </a:solidFill>
                <a:latin typeface="Calibri" pitchFamily="34" charset="0"/>
                <a:ea typeface="Calibri" pitchFamily="34" charset="-122"/>
                <a:cs typeface="Calibri" pitchFamily="34" charset="-120"/>
              </a:rPr>
              <a:t>One call, typed and validated output</a:t>
            </a:r>
            <a:endParaRPr lang="en-US" sz="1250" dirty="0"/>
          </a:p>
        </p:txBody>
      </p:sp>
      <p:sp>
        <p:nvSpPr>
          <p:cNvPr id="11" name="Shape 9"/>
          <p:cNvSpPr/>
          <p:nvPr/>
        </p:nvSpPr>
        <p:spPr>
          <a:xfrm>
            <a:off x="6236208" y="2788920"/>
            <a:ext cx="5349240" cy="2286000"/>
          </a:xfrm>
          <a:prstGeom prst="roundRect">
            <a:avLst>
              <a:gd name="adj" fmla="val 2000"/>
            </a:avLst>
          </a:prstGeom>
          <a:solidFill>
            <a:srgbClr val="FBEEEE"/>
          </a:solidFill>
          <a:ln w="12700">
            <a:solidFill>
              <a:srgbClr val="EFD3D3"/>
            </a:solidFill>
            <a:prstDash val="solid"/>
          </a:ln>
        </p:spPr>
        <p:txBody>
          <a:bodyPr/>
          <a:p/>
        </p:txBody>
      </p:sp>
      <p:sp>
        <p:nvSpPr>
          <p:cNvPr id="12" name="Text 10"/>
          <p:cNvSpPr/>
          <p:nvPr/>
        </p:nvSpPr>
        <p:spPr>
          <a:xfrm>
            <a:off x="6510528" y="2999232"/>
            <a:ext cx="4754880" cy="256032"/>
          </a:xfrm>
          <a:prstGeom prst="rect">
            <a:avLst/>
          </a:prstGeom>
          <a:noFill/>
          <a:ln/>
        </p:spPr>
        <p:txBody>
          <a:bodyPr wrap="square" lIns="0" tIns="0" rIns="0" bIns="0" rtlCol="0" anchor="ctr"/>
          <a:lstStyle/>
          <a:p>
            <a:pPr marL="0" indent="0">
              <a:buNone/>
            </a:pPr>
            <a:r>
              <a:rPr lang="en-US" sz="1000" b="1" kern="0" spc="120" dirty="0">
                <a:solidFill>
                  <a:srgbClr val="9E2B2B"/>
                </a:solidFill>
                <a:latin typeface="Calibri" pitchFamily="34" charset="0"/>
                <a:ea typeface="Calibri" pitchFamily="34" charset="-122"/>
                <a:cs typeface="Calibri" pitchFamily="34" charset="-120"/>
              </a:rPr>
              <a:t>WHAT THE MODEL NEVER DOES</a:t>
            </a:r>
            <a:endParaRPr lang="en-US" sz="1000" dirty="0"/>
          </a:p>
        </p:txBody>
      </p:sp>
      <p:sp>
        <p:nvSpPr>
          <p:cNvPr id="13" name="Text 11"/>
          <p:cNvSpPr/>
          <p:nvPr/>
        </p:nvSpPr>
        <p:spPr>
          <a:xfrm>
            <a:off x="6510528" y="3310128"/>
            <a:ext cx="4800600" cy="164592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50" dirty="0">
                <a:solidFill>
                  <a:srgbClr val="10162F"/>
                </a:solidFill>
                <a:latin typeface="Calibri" pitchFamily="34" charset="0"/>
                <a:ea typeface="Calibri" pitchFamily="34" charset="-122"/>
                <a:cs typeface="Calibri" pitchFamily="34" charset="-120"/>
              </a:rPr>
              <a:t>Add, convert currency, rank, or compare thresholds</a:t>
            </a:r>
            <a:endParaRPr lang="en-US" sz="1250" dirty="0"/>
          </a:p>
          <a:p>
            <a:pPr marL="342900" indent="-342900">
              <a:lnSpc>
                <a:spcPts val="1700"/>
              </a:lnSpc>
              <a:spcAft>
                <a:spcPts val="700"/>
              </a:spcAft>
              <a:buSzPct val="100000"/>
              <a:buChar char="•"/>
            </a:pPr>
            <a:r>
              <a:rPr lang="en-US" sz="1250" dirty="0">
                <a:solidFill>
                  <a:srgbClr val="10162F"/>
                </a:solidFill>
                <a:latin typeface="Calibri" pitchFamily="34" charset="0"/>
                <a:ea typeface="Calibri" pitchFamily="34" charset="-122"/>
                <a:cs typeface="Calibri" pitchFamily="34" charset="-120"/>
              </a:rPr>
              <a:t>Decide whether the evidence is sufficient</a:t>
            </a:r>
            <a:endParaRPr lang="en-US" sz="1250" dirty="0"/>
          </a:p>
          <a:p>
            <a:pPr marL="342900" indent="-342900">
              <a:lnSpc>
                <a:spcPts val="1700"/>
              </a:lnSpc>
              <a:spcAft>
                <a:spcPts val="700"/>
              </a:spcAft>
              <a:buSzPct val="100000"/>
              <a:buChar char="•"/>
            </a:pPr>
            <a:r>
              <a:rPr lang="en-US" sz="1250" dirty="0">
                <a:solidFill>
                  <a:srgbClr val="10162F"/>
                </a:solidFill>
                <a:latin typeface="Calibri" pitchFamily="34" charset="0"/>
                <a:ea typeface="Calibri" pitchFamily="34" charset="-122"/>
                <a:cs typeface="Calibri" pitchFamily="34" charset="-120"/>
              </a:rPr>
              <a:t>See a dataframe or a row of data</a:t>
            </a:r>
            <a:endParaRPr lang="en-US" sz="1250" dirty="0"/>
          </a:p>
          <a:p>
            <a:pPr marL="342900" indent="-342900">
              <a:lnSpc>
                <a:spcPts val="1700"/>
              </a:lnSpc>
              <a:spcAft>
                <a:spcPts val="700"/>
              </a:spcAft>
              <a:buSzPct val="100000"/>
              <a:buChar char="•"/>
            </a:pPr>
            <a:r>
              <a:rPr lang="en-US" sz="1250" dirty="0">
                <a:solidFill>
                  <a:srgbClr val="10162F"/>
                </a:solidFill>
                <a:latin typeface="Calibri" pitchFamily="34" charset="0"/>
                <a:ea typeface="Calibri" pitchFamily="34" charset="-122"/>
                <a:cs typeface="Calibri" pitchFamily="34" charset="-120"/>
              </a:rPr>
              <a:t>Add a fact absent from the evidence bundle</a:t>
            </a:r>
            <a:endParaRPr lang="en-US" sz="1250" dirty="0"/>
          </a:p>
        </p:txBody>
      </p:sp>
      <p:sp>
        <p:nvSpPr>
          <p:cNvPr id="14" name="Text 12"/>
          <p:cNvSpPr/>
          <p:nvPr/>
        </p:nvSpPr>
        <p:spPr>
          <a:xfrm>
            <a:off x="566928" y="5303520"/>
            <a:ext cx="11018520" cy="777240"/>
          </a:xfrm>
          <a:prstGeom prst="rect">
            <a:avLst/>
          </a:prstGeom>
          <a:noFill/>
          <a:ln/>
        </p:spPr>
        <p:txBody>
          <a:bodyPr wrap="square" lIns="0" tIns="0" rIns="0" bIns="0" rtlCol="0" anchor="ctr"/>
          <a:lstStyle/>
          <a:p>
            <a:pPr marL="0" indent="0">
              <a:lnSpc>
                <a:spcPts val="1900"/>
              </a:lnSpc>
              <a:buNone/>
            </a:pPr>
            <a:r>
              <a:rPr lang="en-US" sz="1250" dirty="0">
                <a:solidFill>
                  <a:srgbClr val="5C6784"/>
                </a:solidFill>
                <a:latin typeface="Calibri" pitchFamily="34" charset="0"/>
                <a:ea typeface="Calibri" pitchFamily="34" charset="-122"/>
                <a:cs typeface="Calibri" pitchFamily="34" charset="-120"/>
              </a:rPr>
              <a:t>I rejected an open ReAct loop: all eight paths are known in advance. A fixed plan per intent gives the same coverage without tool sequences chosen at runtime, without self-correction logic, and with deterministic cost and latency. Each plan is a unit test, not a learned policy.</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09</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03 · THE ARCHITECTURE</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How a question travels</a:t>
            </a:r>
            <a:endParaRPr lang="en-US" sz="2800" dirty="0"/>
          </a:p>
        </p:txBody>
      </p:sp>
      <p:sp>
        <p:nvSpPr>
          <p:cNvPr id="6" name="Text 4"/>
          <p:cNvSpPr/>
          <p:nvPr/>
        </p:nvSpPr>
        <p:spPr>
          <a:xfrm>
            <a:off x="2194560" y="1572768"/>
            <a:ext cx="7772400" cy="292608"/>
          </a:xfrm>
          <a:prstGeom prst="rect">
            <a:avLst/>
          </a:prstGeom>
          <a:noFill/>
          <a:ln/>
        </p:spPr>
        <p:txBody>
          <a:bodyPr wrap="square" lIns="0" tIns="0" rIns="0" bIns="0" rtlCol="0" anchor="ctr"/>
          <a:lstStyle/>
          <a:p>
            <a:pPr marL="0" indent="0" algn="ctr">
              <a:buNone/>
            </a:pPr>
            <a:r>
              <a:rPr lang="en-US" sz="1250" i="1" dirty="0">
                <a:solidFill>
                  <a:srgbClr val="5C6784"/>
                </a:solidFill>
                <a:latin typeface="Calibri" pitchFamily="34" charset="0"/>
                <a:ea typeface="Calibri" pitchFamily="34" charset="-122"/>
                <a:cs typeface="Calibri" pitchFamily="34" charset="-120"/>
              </a:rPr>
              <a:t>Question in natural language</a:t>
            </a:r>
            <a:endParaRPr lang="en-US" sz="1250" dirty="0"/>
          </a:p>
        </p:txBody>
      </p:sp>
      <p:sp>
        <p:nvSpPr>
          <p:cNvPr id="7" name="Shape 5"/>
          <p:cNvSpPr/>
          <p:nvPr/>
        </p:nvSpPr>
        <p:spPr>
          <a:xfrm>
            <a:off x="2194560" y="1956816"/>
            <a:ext cx="7772400" cy="566928"/>
          </a:xfrm>
          <a:prstGeom prst="roundRect">
            <a:avLst>
              <a:gd name="adj" fmla="val 8065"/>
            </a:avLst>
          </a:prstGeom>
          <a:solidFill>
            <a:srgbClr val="F3F5FA"/>
          </a:solidFill>
          <a:ln w="12700">
            <a:solidFill>
              <a:srgbClr val="DCE2F0"/>
            </a:solidFill>
            <a:prstDash val="solid"/>
          </a:ln>
        </p:spPr>
        <p:txBody>
          <a:bodyPr/>
          <a:p/>
        </p:txBody>
      </p:sp>
      <p:sp>
        <p:nvSpPr>
          <p:cNvPr id="8" name="Shape 6"/>
          <p:cNvSpPr/>
          <p:nvPr/>
        </p:nvSpPr>
        <p:spPr>
          <a:xfrm>
            <a:off x="2194560" y="1956816"/>
            <a:ext cx="36576" cy="566928"/>
          </a:xfrm>
          <a:prstGeom prst="rect">
            <a:avLst/>
          </a:prstGeom>
          <a:solidFill>
            <a:srgbClr val="3E5288"/>
          </a:solidFill>
          <a:ln/>
        </p:spPr>
        <p:txBody>
          <a:bodyPr/>
          <a:p/>
        </p:txBody>
      </p:sp>
      <p:sp>
        <p:nvSpPr>
          <p:cNvPr id="9" name="Text 7"/>
          <p:cNvSpPr/>
          <p:nvPr/>
        </p:nvSpPr>
        <p:spPr>
          <a:xfrm>
            <a:off x="2487168" y="2029968"/>
            <a:ext cx="2926080" cy="219456"/>
          </a:xfrm>
          <a:prstGeom prst="rect">
            <a:avLst/>
          </a:prstGeom>
          <a:noFill/>
          <a:ln/>
        </p:spPr>
        <p:txBody>
          <a:bodyPr wrap="square" lIns="0" tIns="0" rIns="0" bIns="0" rtlCol="0" anchor="ctr"/>
          <a:lstStyle/>
          <a:p>
            <a:pPr marL="0" indent="0">
              <a:buNone/>
            </a:pPr>
            <a:r>
              <a:rPr lang="en-US" sz="1250" b="1" dirty="0">
                <a:solidFill>
                  <a:srgbClr val="10162F"/>
                </a:solidFill>
                <a:latin typeface="Calibri" pitchFamily="34" charset="0"/>
                <a:ea typeface="Calibri" pitchFamily="34" charset="-122"/>
                <a:cs typeface="Calibri" pitchFamily="34" charset="-120"/>
              </a:rPr>
              <a:t>Interpreter</a:t>
            </a:r>
            <a:endParaRPr lang="en-US" sz="1250" dirty="0"/>
          </a:p>
        </p:txBody>
      </p:sp>
      <p:sp>
        <p:nvSpPr>
          <p:cNvPr id="10" name="Text 8"/>
          <p:cNvSpPr/>
          <p:nvPr/>
        </p:nvSpPr>
        <p:spPr>
          <a:xfrm>
            <a:off x="2487168" y="2249424"/>
            <a:ext cx="7223760" cy="228600"/>
          </a:xfrm>
          <a:prstGeom prst="rect">
            <a:avLst/>
          </a:prstGeom>
          <a:noFill/>
          <a:ln/>
        </p:spPr>
        <p:txBody>
          <a:bodyPr wrap="square" lIns="0" tIns="0" rIns="0" bIns="0" rtlCol="0" anchor="ctr"/>
          <a:lstStyle/>
          <a:p>
            <a:pPr marL="0" indent="0">
              <a:buNone/>
            </a:pPr>
            <a:r>
              <a:rPr lang="en-US" sz="1050" dirty="0">
                <a:solidFill>
                  <a:srgbClr val="5C6784"/>
                </a:solidFill>
                <a:latin typeface="Calibri" pitchFamily="34" charset="0"/>
                <a:ea typeface="Calibri" pitchFamily="34" charset="-122"/>
                <a:cs typeface="Calibri" pitchFamily="34" charset="-120"/>
              </a:rPr>
              <a:t>One model call · structured typed output · sees no data</a:t>
            </a:r>
            <a:endParaRPr lang="en-US" sz="1050" dirty="0"/>
          </a:p>
        </p:txBody>
      </p:sp>
      <p:sp>
        <p:nvSpPr>
          <p:cNvPr id="11" name="Text 9"/>
          <p:cNvSpPr/>
          <p:nvPr/>
        </p:nvSpPr>
        <p:spPr>
          <a:xfrm>
            <a:off x="2194560" y="2615184"/>
            <a:ext cx="7772400" cy="292608"/>
          </a:xfrm>
          <a:prstGeom prst="rect">
            <a:avLst/>
          </a:prstGeom>
          <a:noFill/>
          <a:ln/>
        </p:spPr>
        <p:txBody>
          <a:bodyPr wrap="square" lIns="0" tIns="0" rIns="0" bIns="0" rtlCol="0" anchor="ctr"/>
          <a:lstStyle/>
          <a:p>
            <a:pPr marL="0" indent="0" algn="ctr">
              <a:buNone/>
            </a:pPr>
            <a:r>
              <a:rPr lang="en-US" sz="1250" i="1" dirty="0">
                <a:solidFill>
                  <a:srgbClr val="5C6784"/>
                </a:solidFill>
                <a:latin typeface="Calibri" pitchFamily="34" charset="0"/>
                <a:ea typeface="Calibri" pitchFamily="34" charset="-122"/>
                <a:cs typeface="Calibri" pitchFamily="34" charset="-120"/>
              </a:rPr>
              <a:t>Intent + parameters + confidence</a:t>
            </a:r>
            <a:endParaRPr lang="en-US" sz="1250" dirty="0"/>
          </a:p>
        </p:txBody>
      </p:sp>
      <p:sp>
        <p:nvSpPr>
          <p:cNvPr id="12" name="Shape 10"/>
          <p:cNvSpPr/>
          <p:nvPr/>
        </p:nvSpPr>
        <p:spPr>
          <a:xfrm>
            <a:off x="2194560" y="2999232"/>
            <a:ext cx="7772400" cy="566928"/>
          </a:xfrm>
          <a:prstGeom prst="roundRect">
            <a:avLst>
              <a:gd name="adj" fmla="val 8065"/>
            </a:avLst>
          </a:prstGeom>
          <a:solidFill>
            <a:srgbClr val="F3F5FA"/>
          </a:solidFill>
          <a:ln w="12700">
            <a:solidFill>
              <a:srgbClr val="DCE2F0"/>
            </a:solidFill>
            <a:prstDash val="solid"/>
          </a:ln>
        </p:spPr>
        <p:txBody>
          <a:bodyPr/>
          <a:p/>
        </p:txBody>
      </p:sp>
      <p:sp>
        <p:nvSpPr>
          <p:cNvPr id="13" name="Shape 11"/>
          <p:cNvSpPr/>
          <p:nvPr/>
        </p:nvSpPr>
        <p:spPr>
          <a:xfrm>
            <a:off x="2194560" y="2999232"/>
            <a:ext cx="36576" cy="566928"/>
          </a:xfrm>
          <a:prstGeom prst="rect">
            <a:avLst/>
          </a:prstGeom>
          <a:solidFill>
            <a:srgbClr val="3E5288"/>
          </a:solidFill>
          <a:ln/>
        </p:spPr>
        <p:txBody>
          <a:bodyPr/>
          <a:p/>
        </p:txBody>
      </p:sp>
      <p:sp>
        <p:nvSpPr>
          <p:cNvPr id="14" name="Text 12"/>
          <p:cNvSpPr/>
          <p:nvPr/>
        </p:nvSpPr>
        <p:spPr>
          <a:xfrm>
            <a:off x="2487168" y="3072384"/>
            <a:ext cx="2926080" cy="219456"/>
          </a:xfrm>
          <a:prstGeom prst="rect">
            <a:avLst/>
          </a:prstGeom>
          <a:noFill/>
          <a:ln/>
        </p:spPr>
        <p:txBody>
          <a:bodyPr wrap="square" lIns="0" tIns="0" rIns="0" bIns="0" rtlCol="0" anchor="ctr"/>
          <a:lstStyle/>
          <a:p>
            <a:pPr marL="0" indent="0">
              <a:buNone/>
            </a:pPr>
            <a:r>
              <a:rPr lang="en-US" sz="1250" b="1" dirty="0">
                <a:solidFill>
                  <a:srgbClr val="10162F"/>
                </a:solidFill>
                <a:latin typeface="Calibri" pitchFamily="34" charset="0"/>
                <a:ea typeface="Calibri" pitchFamily="34" charset="-122"/>
                <a:cs typeface="Calibri" pitchFamily="34" charset="-120"/>
              </a:rPr>
              <a:t>Plan registry</a:t>
            </a:r>
            <a:endParaRPr lang="en-US" sz="1250" dirty="0"/>
          </a:p>
        </p:txBody>
      </p:sp>
      <p:sp>
        <p:nvSpPr>
          <p:cNvPr id="15" name="Text 13"/>
          <p:cNvSpPr/>
          <p:nvPr/>
        </p:nvSpPr>
        <p:spPr>
          <a:xfrm>
            <a:off x="2487168" y="3291840"/>
            <a:ext cx="7223760" cy="228600"/>
          </a:xfrm>
          <a:prstGeom prst="rect">
            <a:avLst/>
          </a:prstGeom>
          <a:noFill/>
          <a:ln/>
        </p:spPr>
        <p:txBody>
          <a:bodyPr wrap="square" lIns="0" tIns="0" rIns="0" bIns="0" rtlCol="0" anchor="ctr"/>
          <a:lstStyle/>
          <a:p>
            <a:pPr marL="0" indent="0">
              <a:buNone/>
            </a:pPr>
            <a:r>
              <a:rPr lang="en-US" sz="1050" dirty="0">
                <a:solidFill>
                  <a:srgbClr val="5C6784"/>
                </a:solidFill>
                <a:latin typeface="Calibri" pitchFamily="34" charset="0"/>
                <a:ea typeface="Calibri" pitchFamily="34" charset="-122"/>
                <a:cs typeface="Calibri" pitchFamily="34" charset="-120"/>
              </a:rPr>
              <a:t>Deterministic: intent → workflow</a:t>
            </a:r>
            <a:endParaRPr lang="en-US" sz="1050" dirty="0"/>
          </a:p>
        </p:txBody>
      </p:sp>
      <p:sp>
        <p:nvSpPr>
          <p:cNvPr id="16" name="Shape 14"/>
          <p:cNvSpPr/>
          <p:nvPr/>
        </p:nvSpPr>
        <p:spPr>
          <a:xfrm>
            <a:off x="2194560" y="3657600"/>
            <a:ext cx="7772400" cy="566928"/>
          </a:xfrm>
          <a:prstGeom prst="roundRect">
            <a:avLst>
              <a:gd name="adj" fmla="val 8065"/>
            </a:avLst>
          </a:prstGeom>
          <a:solidFill>
            <a:srgbClr val="F3F5FA"/>
          </a:solidFill>
          <a:ln w="12700">
            <a:solidFill>
              <a:srgbClr val="DCE2F0"/>
            </a:solidFill>
            <a:prstDash val="solid"/>
          </a:ln>
        </p:spPr>
        <p:txBody>
          <a:bodyPr/>
          <a:p/>
        </p:txBody>
      </p:sp>
      <p:sp>
        <p:nvSpPr>
          <p:cNvPr id="17" name="Shape 15"/>
          <p:cNvSpPr/>
          <p:nvPr/>
        </p:nvSpPr>
        <p:spPr>
          <a:xfrm>
            <a:off x="2194560" y="3657600"/>
            <a:ext cx="36576" cy="566928"/>
          </a:xfrm>
          <a:prstGeom prst="rect">
            <a:avLst/>
          </a:prstGeom>
          <a:solidFill>
            <a:srgbClr val="3E5288"/>
          </a:solidFill>
          <a:ln/>
        </p:spPr>
        <p:txBody>
          <a:bodyPr/>
          <a:p/>
        </p:txBody>
      </p:sp>
      <p:sp>
        <p:nvSpPr>
          <p:cNvPr id="18" name="Text 16"/>
          <p:cNvSpPr/>
          <p:nvPr/>
        </p:nvSpPr>
        <p:spPr>
          <a:xfrm>
            <a:off x="2487168" y="3730752"/>
            <a:ext cx="2926080" cy="219456"/>
          </a:xfrm>
          <a:prstGeom prst="rect">
            <a:avLst/>
          </a:prstGeom>
          <a:noFill/>
          <a:ln/>
        </p:spPr>
        <p:txBody>
          <a:bodyPr wrap="square" lIns="0" tIns="0" rIns="0" bIns="0" rtlCol="0" anchor="ctr"/>
          <a:lstStyle/>
          <a:p>
            <a:pPr marL="0" indent="0">
              <a:buNone/>
            </a:pPr>
            <a:r>
              <a:rPr lang="en-US" sz="1250" b="1" dirty="0">
                <a:solidFill>
                  <a:srgbClr val="10162F"/>
                </a:solidFill>
                <a:latin typeface="Calibri" pitchFamily="34" charset="0"/>
                <a:ea typeface="Calibri" pitchFamily="34" charset="-122"/>
                <a:cs typeface="Calibri" pitchFamily="34" charset="-120"/>
              </a:rPr>
              <a:t>Deterministic tools</a:t>
            </a:r>
            <a:endParaRPr lang="en-US" sz="1250" dirty="0"/>
          </a:p>
        </p:txBody>
      </p:sp>
      <p:sp>
        <p:nvSpPr>
          <p:cNvPr id="19" name="Text 17"/>
          <p:cNvSpPr/>
          <p:nvPr/>
        </p:nvSpPr>
        <p:spPr>
          <a:xfrm>
            <a:off x="2487168" y="3950208"/>
            <a:ext cx="7223760" cy="228600"/>
          </a:xfrm>
          <a:prstGeom prst="rect">
            <a:avLst/>
          </a:prstGeom>
          <a:noFill/>
          <a:ln/>
        </p:spPr>
        <p:txBody>
          <a:bodyPr wrap="square" lIns="0" tIns="0" rIns="0" bIns="0" rtlCol="0" anchor="ctr"/>
          <a:lstStyle/>
          <a:p>
            <a:pPr marL="0" indent="0">
              <a:buNone/>
            </a:pPr>
            <a:r>
              <a:rPr lang="en-US" sz="1050" dirty="0">
                <a:solidFill>
                  <a:srgbClr val="5C6784"/>
                </a:solidFill>
                <a:latin typeface="Calibri" pitchFamily="34" charset="0"/>
                <a:ea typeface="Calibri" pitchFamily="34" charset="-122"/>
                <a:cs typeface="Calibri" pitchFamily="34" charset="-120"/>
              </a:rPr>
              <a:t>Ledger · accounts · FX · budget · documents · vendors · duplicates · policy</a:t>
            </a:r>
            <a:endParaRPr lang="en-US" sz="1050" dirty="0"/>
          </a:p>
        </p:txBody>
      </p:sp>
      <p:sp>
        <p:nvSpPr>
          <p:cNvPr id="20" name="Shape 18"/>
          <p:cNvSpPr/>
          <p:nvPr/>
        </p:nvSpPr>
        <p:spPr>
          <a:xfrm>
            <a:off x="2194560" y="4315968"/>
            <a:ext cx="7772400" cy="566928"/>
          </a:xfrm>
          <a:prstGeom prst="roundRect">
            <a:avLst>
              <a:gd name="adj" fmla="val 8065"/>
            </a:avLst>
          </a:prstGeom>
          <a:solidFill>
            <a:srgbClr val="F3F5FA"/>
          </a:solidFill>
          <a:ln w="12700">
            <a:solidFill>
              <a:srgbClr val="DCE2F0"/>
            </a:solidFill>
            <a:prstDash val="solid"/>
          </a:ln>
        </p:spPr>
        <p:txBody>
          <a:bodyPr/>
          <a:p/>
        </p:txBody>
      </p:sp>
      <p:sp>
        <p:nvSpPr>
          <p:cNvPr id="21" name="Shape 19"/>
          <p:cNvSpPr/>
          <p:nvPr/>
        </p:nvSpPr>
        <p:spPr>
          <a:xfrm>
            <a:off x="2194560" y="4315968"/>
            <a:ext cx="36576" cy="566928"/>
          </a:xfrm>
          <a:prstGeom prst="rect">
            <a:avLst/>
          </a:prstGeom>
          <a:solidFill>
            <a:srgbClr val="1B2A5E"/>
          </a:solidFill>
          <a:ln/>
        </p:spPr>
        <p:txBody>
          <a:bodyPr/>
          <a:p/>
        </p:txBody>
      </p:sp>
      <p:sp>
        <p:nvSpPr>
          <p:cNvPr id="22" name="Text 20"/>
          <p:cNvSpPr/>
          <p:nvPr/>
        </p:nvSpPr>
        <p:spPr>
          <a:xfrm>
            <a:off x="2487168" y="4389120"/>
            <a:ext cx="2926080" cy="219456"/>
          </a:xfrm>
          <a:prstGeom prst="rect">
            <a:avLst/>
          </a:prstGeom>
          <a:noFill/>
          <a:ln/>
        </p:spPr>
        <p:txBody>
          <a:bodyPr wrap="square" lIns="0" tIns="0" rIns="0" bIns="0" rtlCol="0" anchor="ctr"/>
          <a:lstStyle/>
          <a:p>
            <a:pPr marL="0" indent="0">
              <a:buNone/>
            </a:pPr>
            <a:r>
              <a:rPr lang="en-US" sz="1250" b="1" dirty="0">
                <a:solidFill>
                  <a:srgbClr val="10162F"/>
                </a:solidFill>
                <a:latin typeface="Calibri" pitchFamily="34" charset="0"/>
                <a:ea typeface="Calibri" pitchFamily="34" charset="-122"/>
                <a:cs typeface="Calibri" pitchFamily="34" charset="-120"/>
              </a:rPr>
              <a:t>Evidence gate</a:t>
            </a:r>
            <a:endParaRPr lang="en-US" sz="1250" dirty="0"/>
          </a:p>
        </p:txBody>
      </p:sp>
      <p:sp>
        <p:nvSpPr>
          <p:cNvPr id="23" name="Text 21"/>
          <p:cNvSpPr/>
          <p:nvPr/>
        </p:nvSpPr>
        <p:spPr>
          <a:xfrm>
            <a:off x="2487168" y="4608576"/>
            <a:ext cx="7223760" cy="228600"/>
          </a:xfrm>
          <a:prstGeom prst="rect">
            <a:avLst/>
          </a:prstGeom>
          <a:noFill/>
          <a:ln/>
        </p:spPr>
        <p:txBody>
          <a:bodyPr wrap="square" lIns="0" tIns="0" rIns="0" bIns="0" rtlCol="0" anchor="ctr"/>
          <a:lstStyle/>
          <a:p>
            <a:pPr marL="0" indent="0">
              <a:buNone/>
            </a:pPr>
            <a:r>
              <a:rPr lang="en-US" sz="1050" dirty="0">
                <a:solidFill>
                  <a:srgbClr val="5C6784"/>
                </a:solidFill>
                <a:latin typeface="Calibri" pitchFamily="34" charset="0"/>
                <a:ea typeface="Calibri" pitchFamily="34" charset="-122"/>
                <a:cs typeface="Calibri" pitchFamily="34" charset="-120"/>
              </a:rPr>
              <a:t>Rule table · the model does not participate</a:t>
            </a:r>
            <a:endParaRPr lang="en-US" sz="1050" dirty="0"/>
          </a:p>
        </p:txBody>
      </p:sp>
      <p:sp>
        <p:nvSpPr>
          <p:cNvPr id="24" name="Text 22"/>
          <p:cNvSpPr/>
          <p:nvPr/>
        </p:nvSpPr>
        <p:spPr>
          <a:xfrm>
            <a:off x="2194560" y="4974336"/>
            <a:ext cx="7772400" cy="292608"/>
          </a:xfrm>
          <a:prstGeom prst="rect">
            <a:avLst/>
          </a:prstGeom>
          <a:noFill/>
          <a:ln/>
        </p:spPr>
        <p:txBody>
          <a:bodyPr wrap="square" lIns="0" tIns="0" rIns="0" bIns="0" rtlCol="0" anchor="ctr"/>
          <a:lstStyle/>
          <a:p>
            <a:pPr marL="0" indent="0" algn="ctr">
              <a:buNone/>
            </a:pPr>
            <a:r>
              <a:rPr lang="en-US" sz="1250" i="1" dirty="0">
                <a:solidFill>
                  <a:srgbClr val="5C6784"/>
                </a:solidFill>
                <a:latin typeface="Calibri" pitchFamily="34" charset="0"/>
                <a:ea typeface="Calibri" pitchFamily="34" charset="-122"/>
                <a:cs typeface="Calibri" pitchFamily="34" charset="-120"/>
              </a:rPr>
              <a:t>ANSWER · PARTIAL · REFUSED · NEEDS_CLARIFICATION · ERROR</a:t>
            </a:r>
            <a:endParaRPr lang="en-US" sz="1250" dirty="0"/>
          </a:p>
        </p:txBody>
      </p:sp>
      <p:sp>
        <p:nvSpPr>
          <p:cNvPr id="25" name="Text 23"/>
          <p:cNvSpPr/>
          <p:nvPr/>
        </p:nvSpPr>
        <p:spPr>
          <a:xfrm>
            <a:off x="2194560" y="5358384"/>
            <a:ext cx="7772400" cy="292608"/>
          </a:xfrm>
          <a:prstGeom prst="rect">
            <a:avLst/>
          </a:prstGeom>
          <a:noFill/>
          <a:ln/>
        </p:spPr>
        <p:txBody>
          <a:bodyPr wrap="square" lIns="0" tIns="0" rIns="0" bIns="0" rtlCol="0" anchor="ctr"/>
          <a:lstStyle/>
          <a:p>
            <a:pPr marL="0" indent="0" algn="ctr">
              <a:buNone/>
            </a:pPr>
            <a:r>
              <a:rPr lang="en-US" sz="1250" i="1" dirty="0">
                <a:solidFill>
                  <a:srgbClr val="5C6784"/>
                </a:solidFill>
                <a:latin typeface="Calibri" pitchFamily="34" charset="0"/>
                <a:ea typeface="Calibri" pitchFamily="34" charset="-122"/>
                <a:cs typeface="Calibri" pitchFamily="34" charset="-120"/>
              </a:rPr>
              <a:t>Rendered answer + execution trace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10</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03 · THE ARCHITECTURE</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Nine tools, each preventing a specific failure</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18520" cy="3108960"/>
        </p:xfrm>
        <a:graphic>
          <a:graphicData uri="http://schemas.openxmlformats.org/drawingml/2006/table">
            <a:tbl>
              <a:tblPr/>
              <a:tblGrid>
                <a:gridCol w="32461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310896">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Tool</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Responsibility</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Failure mode it prevents</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extLst>
                  <a:ext uri="{0D108BD9-81ED-4DB2-BD59-A6C34878D82A}">
                    <a16:rowId xmlns:a16="http://schemas.microsoft.com/office/drawing/2014/main" val="10000"/>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query_ledger</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Filters on a configurable date field</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Shifting the fiscal year with the wrong date</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1"/>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resolve_account_hierarchy</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Temporal join against the chart of accounts</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Wrong hierarchy after a reclassification</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convert_to_usd</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Conversion by month and currency, with coverage</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Rows without a rate vanishing from a sum</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3"/>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aggregate_usd_by</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Aggregation with per-group coverage</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A group looking under plan because rows dropped</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query_budget</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Query with repeated-key diagnostics</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Doubling or halving a cost centre's budget</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5"/>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normalize_reporting_cost_centre</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Documented transition, source preserved</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Comparing codes the memo declares equivalent</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search_documents</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Deterministic retrieval by section</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Loading all four documents just in case</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7"/>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detect_alias_clusters</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Detection without application</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Merging vendors on name similarity</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evaluate_te_policy</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Rules engine driven from configuration</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Turning a nuanced policy into a boolean</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9"/>
                  </a:ext>
                </a:extLst>
              </a:tr>
            </a:tbl>
          </a:graphicData>
        </a:graphic>
      </p:graphicFrame>
      <p:sp>
        <p:nvSpPr>
          <p:cNvPr id="7" name="Text 4"/>
          <p:cNvSpPr/>
          <p:nvPr/>
        </p:nvSpPr>
        <p:spPr>
          <a:xfrm>
            <a:off x="566928" y="5166360"/>
            <a:ext cx="11018520" cy="457200"/>
          </a:xfrm>
          <a:prstGeom prst="rect">
            <a:avLst/>
          </a:prstGeom>
          <a:noFill/>
          <a:ln/>
        </p:spPr>
        <p:txBody>
          <a:bodyPr wrap="square" lIns="0" tIns="0" rIns="0" bIns="0" rtlCol="0" anchor="ctr"/>
          <a:lstStyle/>
          <a:p>
            <a:pPr marL="0" indent="0">
              <a:buNone/>
            </a:pPr>
            <a:r>
              <a:rPr lang="en-US" sz="1250" i="1" dirty="0">
                <a:solidFill>
                  <a:srgbClr val="5C6784"/>
                </a:solidFill>
                <a:latin typeface="Calibri" pitchFamily="34" charset="0"/>
                <a:ea typeface="Calibri" pitchFamily="34" charset="-122"/>
                <a:cs typeface="Calibri" pitchFamily="34" charset="-120"/>
              </a:rPr>
              <a:t>Pure functions, testable without a model. They are not exposed to the model: a deterministic plan invokes them in a fixed order.</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11</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03 · THE ARCHITECTURE</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The coverage contract</a:t>
            </a:r>
            <a:endParaRPr lang="en-US" sz="2800" dirty="0"/>
          </a:p>
        </p:txBody>
      </p:sp>
      <p:sp>
        <p:nvSpPr>
          <p:cNvPr id="6" name="Text 4"/>
          <p:cNvSpPr/>
          <p:nvPr/>
        </p:nvSpPr>
        <p:spPr>
          <a:xfrm>
            <a:off x="566928" y="1627632"/>
            <a:ext cx="5669280" cy="1005840"/>
          </a:xfrm>
          <a:prstGeom prst="rect">
            <a:avLst/>
          </a:prstGeom>
          <a:noFill/>
          <a:ln/>
        </p:spPr>
        <p:txBody>
          <a:bodyPr wrap="square" lIns="0" tIns="0" rIns="0" bIns="0" rtlCol="0" anchor="ctr"/>
          <a:lstStyle/>
          <a:p>
            <a:pPr marL="0" indent="0">
              <a:lnSpc>
                <a:spcPts val="2000"/>
              </a:lnSpc>
              <a:buNone/>
            </a:pPr>
            <a:r>
              <a:rPr lang="en-US" sz="1350" dirty="0">
                <a:solidFill>
                  <a:srgbClr val="10162F"/>
                </a:solidFill>
                <a:latin typeface="Calibri" pitchFamily="34" charset="0"/>
                <a:ea typeface="Calibri" pitchFamily="34" charset="-122"/>
                <a:cs typeface="Calibri" pitchFamily="34" charset="-120"/>
              </a:rPr>
              <a:t>USD conversion does not return a number. It returns a value paired with its coverage, with no implicit-conversion methods: summing, casting to float or interpolating into a string raises an explicit error instead of silently producing a figure that lost its context.</a:t>
            </a:r>
            <a:endParaRPr lang="en-US" sz="1350" dirty="0"/>
          </a:p>
        </p:txBody>
      </p:sp>
      <p:sp>
        <p:nvSpPr>
          <p:cNvPr id="7" name="Shape 5"/>
          <p:cNvSpPr/>
          <p:nvPr/>
        </p:nvSpPr>
        <p:spPr>
          <a:xfrm>
            <a:off x="566928" y="2788920"/>
            <a:ext cx="5669280" cy="2286000"/>
          </a:xfrm>
          <a:prstGeom prst="roundRect">
            <a:avLst>
              <a:gd name="adj" fmla="val 2000"/>
            </a:avLst>
          </a:prstGeom>
          <a:solidFill>
            <a:srgbClr val="F3F5FA"/>
          </a:solidFill>
          <a:ln w="12700">
            <a:solidFill>
              <a:srgbClr val="DCE2F0"/>
            </a:solidFill>
            <a:prstDash val="solid"/>
          </a:ln>
        </p:spPr>
        <p:txBody>
          <a:bodyPr/>
          <a:p/>
        </p:txBody>
      </p:sp>
      <p:sp>
        <p:nvSpPr>
          <p:cNvPr id="8" name="Text 6"/>
          <p:cNvSpPr/>
          <p:nvPr/>
        </p:nvSpPr>
        <p:spPr>
          <a:xfrm>
            <a:off x="841248" y="2999232"/>
            <a:ext cx="5120640" cy="1920240"/>
          </a:xfrm>
          <a:prstGeom prst="rect">
            <a:avLst/>
          </a:prstGeom>
          <a:noFill/>
          <a:ln/>
        </p:spPr>
        <p:txBody>
          <a:bodyPr wrap="square" lIns="0" tIns="0" rIns="0" bIns="0" rtlCol="0" anchor="ctr"/>
          <a:lstStyle/>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class UsdAmount:</a:t>
            </a:r>
            <a:endParaRPr lang="en-US" sz="1100" dirty="0"/>
          </a:p>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    converted_amount_usd: float</a:t>
            </a:r>
            <a:endParaRPr lang="en-US" sz="1100" dirty="0"/>
          </a:p>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    coverage: FxCoverage</a:t>
            </a:r>
            <a:endParaRPr lang="en-US" sz="1100" dirty="0"/>
          </a:p>
          <a:p>
            <a:pPr marL="0" indent="0">
              <a:lnSpc>
                <a:spcPts val="1500"/>
              </a:lnSpc>
              <a:buNone/>
            </a:pPr>
            <a:endParaRPr lang="en-US" sz="1100" dirty="0"/>
          </a:p>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    # sin __float__, __add__, __format__</a:t>
            </a:r>
            <a:endParaRPr lang="en-US" sz="1100" dirty="0"/>
          </a:p>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    # float(x), sum([x, y]), f"{x}"</a:t>
            </a:r>
            <a:endParaRPr lang="en-US" sz="1100" dirty="0"/>
          </a:p>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    # todos fallan con TypeError</a:t>
            </a:r>
            <a:endParaRPr lang="en-US" sz="1100" dirty="0"/>
          </a:p>
          <a:p>
            <a:pPr marL="0" indent="0">
              <a:lnSpc>
                <a:spcPts val="1500"/>
              </a:lnSpc>
              <a:buNone/>
            </a:pPr>
            <a:endParaRPr lang="en-US" sz="1100" dirty="0"/>
          </a:p>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    def require_full_coverage(self):</a:t>
            </a:r>
            <a:endParaRPr lang="en-US" sz="1100" dirty="0"/>
          </a:p>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        if not coverage.is_complete:</a:t>
            </a:r>
            <a:endParaRPr lang="en-US" sz="1100" dirty="0"/>
          </a:p>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            raise IncompleteFxCoverageError</a:t>
            </a:r>
            <a:endParaRPr lang="en-US" sz="1100" dirty="0"/>
          </a:p>
        </p:txBody>
      </p:sp>
      <p:sp>
        <p:nvSpPr>
          <p:cNvPr id="9" name="Shape 7"/>
          <p:cNvSpPr/>
          <p:nvPr/>
        </p:nvSpPr>
        <p:spPr>
          <a:xfrm>
            <a:off x="6629400" y="1627632"/>
            <a:ext cx="41148" cy="1920240"/>
          </a:xfrm>
          <a:prstGeom prst="rect">
            <a:avLst/>
          </a:prstGeom>
          <a:solidFill>
            <a:srgbClr val="1B2A5E"/>
          </a:solidFill>
          <a:ln/>
        </p:spPr>
        <p:txBody>
          <a:bodyPr/>
          <a:p/>
        </p:txBody>
      </p:sp>
      <p:sp>
        <p:nvSpPr>
          <p:cNvPr id="10" name="Shape 8"/>
          <p:cNvSpPr/>
          <p:nvPr/>
        </p:nvSpPr>
        <p:spPr>
          <a:xfrm>
            <a:off x="6670548" y="1627632"/>
            <a:ext cx="4896612" cy="1920240"/>
          </a:xfrm>
          <a:prstGeom prst="rect">
            <a:avLst/>
          </a:prstGeom>
          <a:solidFill>
            <a:srgbClr val="F3F5FA"/>
          </a:solidFill>
          <a:ln w="12700">
            <a:solidFill>
              <a:srgbClr val="F3F5FA"/>
            </a:solidFill>
            <a:prstDash val="solid"/>
          </a:ln>
        </p:spPr>
        <p:txBody>
          <a:bodyPr/>
          <a:p/>
        </p:txBody>
      </p:sp>
      <p:sp>
        <p:nvSpPr>
          <p:cNvPr id="11" name="Text 9"/>
          <p:cNvSpPr/>
          <p:nvPr/>
        </p:nvSpPr>
        <p:spPr>
          <a:xfrm>
            <a:off x="6903720" y="1755648"/>
            <a:ext cx="4389120" cy="237744"/>
          </a:xfrm>
          <a:prstGeom prst="rect">
            <a:avLst/>
          </a:prstGeom>
          <a:noFill/>
          <a:ln/>
        </p:spPr>
        <p:txBody>
          <a:bodyPr wrap="square" lIns="0" tIns="0" rIns="0" bIns="0" rtlCol="0" anchor="ctr"/>
          <a:lstStyle/>
          <a:p>
            <a:pPr marL="0" indent="0">
              <a:buNone/>
            </a:pPr>
            <a:r>
              <a:rPr lang="en-US" sz="1050" b="1" dirty="0">
                <a:solidFill>
                  <a:srgbClr val="1B2A5E"/>
                </a:solidFill>
                <a:latin typeface="Calibri" pitchFamily="34" charset="0"/>
                <a:ea typeface="Calibri" pitchFamily="34" charset="-122"/>
                <a:cs typeface="Calibri" pitchFamily="34" charset="-120"/>
              </a:rPr>
              <a:t>Why per-group coverage matters</a:t>
            </a:r>
            <a:endParaRPr lang="en-US" sz="1050" dirty="0"/>
          </a:p>
        </p:txBody>
      </p:sp>
      <p:sp>
        <p:nvSpPr>
          <p:cNvPr id="12" name="Text 10"/>
          <p:cNvSpPr/>
          <p:nvPr/>
        </p:nvSpPr>
        <p:spPr>
          <a:xfrm>
            <a:off x="6903720" y="2011680"/>
            <a:ext cx="4389120" cy="1408176"/>
          </a:xfrm>
          <a:prstGeom prst="rect">
            <a:avLst/>
          </a:prstGeom>
          <a:noFill/>
          <a:ln/>
        </p:spPr>
        <p:txBody>
          <a:bodyPr wrap="square" lIns="0" tIns="0" rIns="0" bIns="0" rtlCol="0" anchor="t"/>
          <a:lstStyle/>
          <a:p>
            <a:pPr marL="0" indent="0">
              <a:lnSpc>
                <a:spcPts val="1650"/>
              </a:lnSpc>
              <a:buNone/>
            </a:pPr>
            <a:r>
              <a:rPr lang="en-US" sz="1200" dirty="0">
                <a:solidFill>
                  <a:srgbClr val="10162F"/>
                </a:solidFill>
                <a:latin typeface="Calibri" pitchFamily="34" charset="0"/>
                <a:ea typeface="Calibri" pitchFamily="34" charset="-122"/>
                <a:cs typeface="Calibri" pitchFamily="34" charset="-120"/>
              </a:rPr>
              <a:t>Without it, a workflow would get the per-cost-centre total with a plain groupby and the contract would evaporate exactly where it hurts most.</a:t>
            </a:r>
            <a:endParaRPr lang="en-US" sz="1200" dirty="0"/>
          </a:p>
        </p:txBody>
      </p:sp>
      <p:sp>
        <p:nvSpPr>
          <p:cNvPr id="13" name="Text 11"/>
          <p:cNvSpPr/>
          <p:nvPr/>
        </p:nvSpPr>
        <p:spPr>
          <a:xfrm>
            <a:off x="6629400" y="3794760"/>
            <a:ext cx="4937760" cy="256032"/>
          </a:xfrm>
          <a:prstGeom prst="rect">
            <a:avLst/>
          </a:prstGeom>
          <a:noFill/>
          <a:ln/>
        </p:spPr>
        <p:txBody>
          <a:bodyPr wrap="square" lIns="0" tIns="0" rIns="0" bIns="0" rtlCol="0" anchor="ctr"/>
          <a:lstStyle/>
          <a:p>
            <a:pPr marL="0" indent="0">
              <a:buNone/>
            </a:pPr>
            <a:r>
              <a:rPr lang="en-US" sz="1050" b="1" kern="0" spc="100" dirty="0">
                <a:solidFill>
                  <a:srgbClr val="3E5288"/>
                </a:solidFill>
                <a:latin typeface="Calibri" pitchFamily="34" charset="0"/>
                <a:ea typeface="Calibri" pitchFamily="34" charset="-122"/>
                <a:cs typeface="Calibri" pitchFamily="34" charset="-120"/>
              </a:rPr>
              <a:t>The real case</a:t>
            </a:r>
            <a:endParaRPr lang="en-US" sz="1050" dirty="0"/>
          </a:p>
        </p:txBody>
      </p:sp>
      <p:sp>
        <p:nvSpPr>
          <p:cNvPr id="14" name="Text 12"/>
          <p:cNvSpPr/>
          <p:nvPr/>
        </p:nvSpPr>
        <p:spPr>
          <a:xfrm>
            <a:off x="6629400" y="4114800"/>
            <a:ext cx="4937760" cy="1371600"/>
          </a:xfrm>
          <a:prstGeom prst="rect">
            <a:avLst/>
          </a:prstGeom>
          <a:noFill/>
          <a:ln/>
        </p:spPr>
        <p:txBody>
          <a:bodyPr wrap="square" lIns="0" tIns="0" rIns="0" bIns="0" rtlCol="0" anchor="ctr"/>
          <a:lstStyle/>
          <a:p>
            <a:pPr marL="0" indent="0">
              <a:lnSpc>
                <a:spcPts val="1900"/>
              </a:lnSpc>
              <a:buNone/>
            </a:pPr>
            <a:r>
              <a:rPr lang="en-US" sz="1300" dirty="0">
                <a:solidFill>
                  <a:srgbClr val="10162F"/>
                </a:solidFill>
                <a:latin typeface="Calibri" pitchFamily="34" charset="0"/>
                <a:ea typeface="Calibri" pitchFamily="34" charset="-122"/>
                <a:cs typeface="Calibri" pitchFamily="34" charset="-120"/>
              </a:rPr>
              <a:t>In Q3, three European cost centres are flagged as incomplete coverage. Without this contract they would have appeared far under budget: a saving that does not exist, produced by 147 rows evaporating from a sum without raising an error.</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12</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03 · THE ARCHITECTURE</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Status is set by a table, not a model</a:t>
            </a:r>
            <a:endParaRPr lang="en-US" sz="2800" dirty="0"/>
          </a:p>
        </p:txBody>
      </p:sp>
      <p:sp>
        <p:nvSpPr>
          <p:cNvPr id="6" name="Shape 4"/>
          <p:cNvSpPr/>
          <p:nvPr/>
        </p:nvSpPr>
        <p:spPr>
          <a:xfrm>
            <a:off x="566928" y="1627632"/>
            <a:ext cx="1417320" cy="365760"/>
          </a:xfrm>
          <a:prstGeom prst="roundRect">
            <a:avLst>
              <a:gd name="adj" fmla="val 15000"/>
            </a:avLst>
          </a:prstGeom>
          <a:solidFill>
            <a:srgbClr val="EAF4EF"/>
          </a:solidFill>
          <a:ln w="12700">
            <a:solidFill>
              <a:srgbClr val="1C6046"/>
            </a:solidFill>
            <a:prstDash val="solid"/>
          </a:ln>
        </p:spPr>
        <p:txBody>
          <a:bodyPr/>
          <a:p/>
        </p:txBody>
      </p:sp>
      <p:sp>
        <p:nvSpPr>
          <p:cNvPr id="7" name="Text 5"/>
          <p:cNvSpPr/>
          <p:nvPr/>
        </p:nvSpPr>
        <p:spPr>
          <a:xfrm>
            <a:off x="566928" y="1627632"/>
            <a:ext cx="1417320" cy="365760"/>
          </a:xfrm>
          <a:prstGeom prst="rect">
            <a:avLst/>
          </a:prstGeom>
          <a:noFill/>
          <a:ln/>
        </p:spPr>
        <p:txBody>
          <a:bodyPr wrap="square" lIns="0" tIns="0" rIns="0" bIns="0" rtlCol="0" anchor="ctr"/>
          <a:lstStyle/>
          <a:p>
            <a:pPr marL="0" indent="0" algn="ctr">
              <a:buNone/>
            </a:pPr>
            <a:r>
              <a:rPr lang="en-US" sz="1050" b="1" kern="0" spc="80" dirty="0">
                <a:solidFill>
                  <a:srgbClr val="1C6046"/>
                </a:solidFill>
                <a:latin typeface="Calibri" pitchFamily="34" charset="0"/>
                <a:ea typeface="Calibri" pitchFamily="34" charset="-122"/>
                <a:cs typeface="Calibri" pitchFamily="34" charset="-120"/>
              </a:rPr>
              <a:t>ANSWER</a:t>
            </a:r>
            <a:endParaRPr lang="en-US" sz="1050" dirty="0"/>
          </a:p>
        </p:txBody>
      </p:sp>
      <p:sp>
        <p:nvSpPr>
          <p:cNvPr id="8" name="Shape 6"/>
          <p:cNvSpPr/>
          <p:nvPr/>
        </p:nvSpPr>
        <p:spPr>
          <a:xfrm>
            <a:off x="2148840" y="1627632"/>
            <a:ext cx="1417320" cy="365760"/>
          </a:xfrm>
          <a:prstGeom prst="roundRect">
            <a:avLst>
              <a:gd name="adj" fmla="val 15000"/>
            </a:avLst>
          </a:prstGeom>
          <a:solidFill>
            <a:srgbClr val="FDF4E4"/>
          </a:solidFill>
          <a:ln w="12700">
            <a:solidFill>
              <a:srgbClr val="9A6410"/>
            </a:solidFill>
            <a:prstDash val="solid"/>
          </a:ln>
        </p:spPr>
        <p:txBody>
          <a:bodyPr/>
          <a:p/>
        </p:txBody>
      </p:sp>
      <p:sp>
        <p:nvSpPr>
          <p:cNvPr id="9" name="Text 7"/>
          <p:cNvSpPr/>
          <p:nvPr/>
        </p:nvSpPr>
        <p:spPr>
          <a:xfrm>
            <a:off x="2148840" y="1627632"/>
            <a:ext cx="1417320" cy="365760"/>
          </a:xfrm>
          <a:prstGeom prst="rect">
            <a:avLst/>
          </a:prstGeom>
          <a:noFill/>
          <a:ln/>
        </p:spPr>
        <p:txBody>
          <a:bodyPr wrap="square" lIns="0" tIns="0" rIns="0" bIns="0" rtlCol="0" anchor="ctr"/>
          <a:lstStyle/>
          <a:p>
            <a:pPr marL="0" indent="0" algn="ctr">
              <a:buNone/>
            </a:pPr>
            <a:r>
              <a:rPr lang="en-US" sz="1050" b="1" kern="0" spc="80" dirty="0">
                <a:solidFill>
                  <a:srgbClr val="9A6410"/>
                </a:solidFill>
                <a:latin typeface="Calibri" pitchFamily="34" charset="0"/>
                <a:ea typeface="Calibri" pitchFamily="34" charset="-122"/>
                <a:cs typeface="Calibri" pitchFamily="34" charset="-120"/>
              </a:rPr>
              <a:t>PARTIAL</a:t>
            </a:r>
            <a:endParaRPr lang="en-US" sz="1050" dirty="0"/>
          </a:p>
        </p:txBody>
      </p:sp>
      <p:sp>
        <p:nvSpPr>
          <p:cNvPr id="10" name="Shape 8"/>
          <p:cNvSpPr/>
          <p:nvPr/>
        </p:nvSpPr>
        <p:spPr>
          <a:xfrm>
            <a:off x="3730752" y="1627632"/>
            <a:ext cx="1417320" cy="365760"/>
          </a:xfrm>
          <a:prstGeom prst="roundRect">
            <a:avLst>
              <a:gd name="adj" fmla="val 15000"/>
            </a:avLst>
          </a:prstGeom>
          <a:solidFill>
            <a:srgbClr val="FBEEEE"/>
          </a:solidFill>
          <a:ln w="12700">
            <a:solidFill>
              <a:srgbClr val="9E2B2B"/>
            </a:solidFill>
            <a:prstDash val="solid"/>
          </a:ln>
        </p:spPr>
        <p:txBody>
          <a:bodyPr/>
          <a:p/>
        </p:txBody>
      </p:sp>
      <p:sp>
        <p:nvSpPr>
          <p:cNvPr id="11" name="Text 9"/>
          <p:cNvSpPr/>
          <p:nvPr/>
        </p:nvSpPr>
        <p:spPr>
          <a:xfrm>
            <a:off x="3730752" y="1627632"/>
            <a:ext cx="1417320" cy="365760"/>
          </a:xfrm>
          <a:prstGeom prst="rect">
            <a:avLst/>
          </a:prstGeom>
          <a:noFill/>
          <a:ln/>
        </p:spPr>
        <p:txBody>
          <a:bodyPr wrap="square" lIns="0" tIns="0" rIns="0" bIns="0" rtlCol="0" anchor="ctr"/>
          <a:lstStyle/>
          <a:p>
            <a:pPr marL="0" indent="0" algn="ctr">
              <a:buNone/>
            </a:pPr>
            <a:r>
              <a:rPr lang="en-US" sz="1050" b="1" kern="0" spc="80" dirty="0">
                <a:solidFill>
                  <a:srgbClr val="9E2B2B"/>
                </a:solidFill>
                <a:latin typeface="Calibri" pitchFamily="34" charset="0"/>
                <a:ea typeface="Calibri" pitchFamily="34" charset="-122"/>
                <a:cs typeface="Calibri" pitchFamily="34" charset="-120"/>
              </a:rPr>
              <a:t>REFUSED</a:t>
            </a:r>
            <a:endParaRPr lang="en-US" sz="1050" dirty="0"/>
          </a:p>
        </p:txBody>
      </p:sp>
      <p:sp>
        <p:nvSpPr>
          <p:cNvPr id="12" name="Shape 10"/>
          <p:cNvSpPr/>
          <p:nvPr/>
        </p:nvSpPr>
        <p:spPr>
          <a:xfrm>
            <a:off x="5312664" y="1627632"/>
            <a:ext cx="2468880" cy="365760"/>
          </a:xfrm>
          <a:prstGeom prst="roundRect">
            <a:avLst>
              <a:gd name="adj" fmla="val 15000"/>
            </a:avLst>
          </a:prstGeom>
          <a:solidFill>
            <a:srgbClr val="F3F5FA"/>
          </a:solidFill>
          <a:ln w="12700">
            <a:solidFill>
              <a:srgbClr val="1B2A5E"/>
            </a:solidFill>
            <a:prstDash val="solid"/>
          </a:ln>
        </p:spPr>
        <p:txBody>
          <a:bodyPr/>
          <a:p/>
        </p:txBody>
      </p:sp>
      <p:sp>
        <p:nvSpPr>
          <p:cNvPr id="13" name="Text 11"/>
          <p:cNvSpPr/>
          <p:nvPr/>
        </p:nvSpPr>
        <p:spPr>
          <a:xfrm>
            <a:off x="5312664" y="1627632"/>
            <a:ext cx="2468880" cy="365760"/>
          </a:xfrm>
          <a:prstGeom prst="rect">
            <a:avLst/>
          </a:prstGeom>
          <a:noFill/>
          <a:ln/>
        </p:spPr>
        <p:txBody>
          <a:bodyPr wrap="square" lIns="0" tIns="0" rIns="0" bIns="0" rtlCol="0" anchor="ctr"/>
          <a:lstStyle/>
          <a:p>
            <a:pPr marL="0" indent="0" algn="ctr">
              <a:buNone/>
            </a:pPr>
            <a:r>
              <a:rPr lang="en-US" sz="1050" b="1" kern="0" spc="80" dirty="0">
                <a:solidFill>
                  <a:srgbClr val="1B2A5E"/>
                </a:solidFill>
                <a:latin typeface="Calibri" pitchFamily="34" charset="0"/>
                <a:ea typeface="Calibri" pitchFamily="34" charset="-122"/>
                <a:cs typeface="Calibri" pitchFamily="34" charset="-120"/>
              </a:rPr>
              <a:t>NEEDS CLARIFICATION</a:t>
            </a:r>
            <a:endParaRPr lang="en-US" sz="1050" dirty="0"/>
          </a:p>
        </p:txBody>
      </p:sp>
      <p:sp>
        <p:nvSpPr>
          <p:cNvPr id="14" name="Shape 12"/>
          <p:cNvSpPr/>
          <p:nvPr/>
        </p:nvSpPr>
        <p:spPr>
          <a:xfrm>
            <a:off x="7946136" y="1627632"/>
            <a:ext cx="1188720" cy="365760"/>
          </a:xfrm>
          <a:prstGeom prst="roundRect">
            <a:avLst>
              <a:gd name="adj" fmla="val 15000"/>
            </a:avLst>
          </a:prstGeom>
          <a:solidFill>
            <a:srgbClr val="F3F5FA"/>
          </a:solidFill>
          <a:ln w="12700">
            <a:solidFill>
              <a:srgbClr val="5C6784"/>
            </a:solidFill>
            <a:prstDash val="solid"/>
          </a:ln>
        </p:spPr>
        <p:txBody>
          <a:bodyPr/>
          <a:p/>
        </p:txBody>
      </p:sp>
      <p:sp>
        <p:nvSpPr>
          <p:cNvPr id="15" name="Text 13"/>
          <p:cNvSpPr/>
          <p:nvPr/>
        </p:nvSpPr>
        <p:spPr>
          <a:xfrm>
            <a:off x="7946136" y="1627632"/>
            <a:ext cx="1188720" cy="365760"/>
          </a:xfrm>
          <a:prstGeom prst="rect">
            <a:avLst/>
          </a:prstGeom>
          <a:noFill/>
          <a:ln/>
        </p:spPr>
        <p:txBody>
          <a:bodyPr wrap="square" lIns="0" tIns="0" rIns="0" bIns="0" rtlCol="0" anchor="ctr"/>
          <a:lstStyle/>
          <a:p>
            <a:pPr marL="0" indent="0" algn="ctr">
              <a:buNone/>
            </a:pPr>
            <a:r>
              <a:rPr lang="en-US" sz="1050" b="1" kern="0" spc="80" dirty="0">
                <a:solidFill>
                  <a:srgbClr val="5C6784"/>
                </a:solidFill>
                <a:latin typeface="Calibri" pitchFamily="34" charset="0"/>
                <a:ea typeface="Calibri" pitchFamily="34" charset="-122"/>
                <a:cs typeface="Calibri" pitchFamily="34" charset="-120"/>
              </a:rPr>
              <a:t>ERROR</a:t>
            </a:r>
            <a:endParaRPr lang="en-US" sz="10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2286000"/>
          <a:ext cx="11018520" cy="2176272"/>
        </p:xfrm>
        <a:graphic>
          <a:graphicData uri="http://schemas.openxmlformats.org/drawingml/2006/table">
            <a:tbl>
              <a:tblPr/>
              <a:tblGrid>
                <a:gridCol w="786384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Condition detected</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Status forced</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extLst>
                  <a:ext uri="{0D108BD9-81ED-4DB2-BD59-A6C34878D82A}">
                    <a16:rowId xmlns:a16="http://schemas.microsoft.com/office/drawing/2014/main" val="10000"/>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A required FX rate is missing and affects the requested total</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PARTIAL o REFUSED</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1"/>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The denominator of a ratio is missing</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REFUSED</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Row coverage below 100% in a consolidated total</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PARTIAL at most</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3"/>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Ambiguous period with materially different readings</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NEEDS_CLARIFICATION</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A non-authoritative grouping decision would change the result</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PARTIAL at most</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5"/>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No data for the requested period</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REFUSED</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7" name="Text 14"/>
          <p:cNvSpPr/>
          <p:nvPr/>
        </p:nvSpPr>
        <p:spPr>
          <a:xfrm>
            <a:off x="566928" y="4892040"/>
            <a:ext cx="11018520" cy="640080"/>
          </a:xfrm>
          <a:prstGeom prst="rect">
            <a:avLst/>
          </a:prstGeom>
          <a:noFill/>
          <a:ln/>
        </p:spPr>
        <p:txBody>
          <a:bodyPr wrap="square" lIns="0" tIns="0" rIns="0" bIns="0" rtlCol="0" anchor="ctr"/>
          <a:lstStyle/>
          <a:p>
            <a:pPr marL="0" indent="0">
              <a:lnSpc>
                <a:spcPts val="1900"/>
              </a:lnSpc>
              <a:buNone/>
            </a:pPr>
            <a:r>
              <a:rPr lang="en-US" sz="1250" dirty="0">
                <a:solidFill>
                  <a:srgbClr val="5C6784"/>
                </a:solidFill>
                <a:latin typeface="Calibri" pitchFamily="34" charset="0"/>
                <a:ea typeface="Calibri" pitchFamily="34" charset="-122"/>
                <a:cs typeface="Calibri" pitchFamily="34" charset="-120"/>
              </a:rPr>
              <a:t>It is a Python function with explicit rules. Every firing condition is recorded in the trace even when a more severe one dominates: the consumer needs to see all reasons for degradation, not just the winner.</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13</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04 · RESULTS · QUESTION 3</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“What was total consolidated spend in Q3, in USD?”</a:t>
            </a:r>
            <a:endParaRPr lang="en-US" sz="2800" dirty="0"/>
          </a:p>
        </p:txBody>
      </p:sp>
      <p:sp>
        <p:nvSpPr>
          <p:cNvPr id="6" name="Shape 4"/>
          <p:cNvSpPr/>
          <p:nvPr/>
        </p:nvSpPr>
        <p:spPr>
          <a:xfrm>
            <a:off x="566928" y="1627632"/>
            <a:ext cx="1463040" cy="384048"/>
          </a:xfrm>
          <a:prstGeom prst="roundRect">
            <a:avLst>
              <a:gd name="adj" fmla="val 14286"/>
            </a:avLst>
          </a:prstGeom>
          <a:solidFill>
            <a:srgbClr val="FBEEEE"/>
          </a:solidFill>
          <a:ln w="12700">
            <a:solidFill>
              <a:srgbClr val="9E2B2B"/>
            </a:solidFill>
            <a:prstDash val="solid"/>
          </a:ln>
        </p:spPr>
        <p:txBody>
          <a:bodyPr/>
          <a:p/>
        </p:txBody>
      </p:sp>
      <p:sp>
        <p:nvSpPr>
          <p:cNvPr id="7" name="Text 5"/>
          <p:cNvSpPr/>
          <p:nvPr/>
        </p:nvSpPr>
        <p:spPr>
          <a:xfrm>
            <a:off x="566928" y="1627632"/>
            <a:ext cx="1463040" cy="384048"/>
          </a:xfrm>
          <a:prstGeom prst="rect">
            <a:avLst/>
          </a:prstGeom>
          <a:noFill/>
          <a:ln/>
        </p:spPr>
        <p:txBody>
          <a:bodyPr wrap="square" lIns="0" tIns="0" rIns="0" bIns="0" rtlCol="0" anchor="ctr"/>
          <a:lstStyle/>
          <a:p>
            <a:pPr marL="0" indent="0" algn="ctr">
              <a:buNone/>
            </a:pPr>
            <a:r>
              <a:rPr lang="en-US" sz="1100" b="1" dirty="0">
                <a:solidFill>
                  <a:srgbClr val="9E2B2B"/>
                </a:solidFill>
                <a:latin typeface="Calibri" pitchFamily="34" charset="0"/>
                <a:ea typeface="Calibri" pitchFamily="34" charset="-122"/>
                <a:cs typeface="Calibri" pitchFamily="34" charset="-120"/>
              </a:rPr>
              <a:t>REFUSED</a:t>
            </a:r>
            <a:endParaRPr lang="en-US" sz="1100" dirty="0"/>
          </a:p>
        </p:txBody>
      </p:sp>
      <p:sp>
        <p:nvSpPr>
          <p:cNvPr id="8" name="Text 6"/>
          <p:cNvSpPr/>
          <p:nvPr/>
        </p:nvSpPr>
        <p:spPr>
          <a:xfrm>
            <a:off x="2212848" y="1645920"/>
            <a:ext cx="9326880" cy="347472"/>
          </a:xfrm>
          <a:prstGeom prst="rect">
            <a:avLst/>
          </a:prstGeom>
          <a:noFill/>
          <a:ln/>
        </p:spPr>
        <p:txBody>
          <a:bodyPr wrap="square" lIns="0" tIns="0" rIns="0" bIns="0" rtlCol="0" anchor="ctr"/>
          <a:lstStyle/>
          <a:p>
            <a:pPr marL="0" indent="0">
              <a:buNone/>
            </a:pPr>
            <a:r>
              <a:rPr lang="en-US" sz="1350" dirty="0">
                <a:solidFill>
                  <a:srgbClr val="10162F"/>
                </a:solidFill>
                <a:latin typeface="Calibri" pitchFamily="34" charset="0"/>
                <a:ea typeface="Calibri" pitchFamily="34" charset="-122"/>
                <a:cs typeface="Calibri" pitchFamily="34" charset="-120"/>
              </a:rPr>
              <a:t>There is no honest answer: the EUR rate for September 2024 is missing.</a:t>
            </a:r>
            <a:endParaRPr lang="en-US" sz="1350" dirty="0"/>
          </a:p>
        </p:txBody>
      </p:sp>
      <p:sp>
        <p:nvSpPr>
          <p:cNvPr id="9" name="Shape 7"/>
          <p:cNvSpPr/>
          <p:nvPr/>
        </p:nvSpPr>
        <p:spPr>
          <a:xfrm>
            <a:off x="566928" y="2212848"/>
            <a:ext cx="3547872" cy="1481328"/>
          </a:xfrm>
          <a:prstGeom prst="roundRect">
            <a:avLst>
              <a:gd name="adj" fmla="val 3086"/>
            </a:avLst>
          </a:prstGeom>
          <a:solidFill>
            <a:srgbClr val="F3F5FA"/>
          </a:solidFill>
          <a:ln w="12700">
            <a:solidFill>
              <a:srgbClr val="DCE2F0"/>
            </a:solidFill>
            <a:prstDash val="solid"/>
          </a:ln>
        </p:spPr>
        <p:txBody>
          <a:bodyPr/>
          <a:p/>
        </p:txBody>
      </p:sp>
      <p:sp>
        <p:nvSpPr>
          <p:cNvPr id="10" name="Text 8"/>
          <p:cNvSpPr/>
          <p:nvPr/>
        </p:nvSpPr>
        <p:spPr>
          <a:xfrm>
            <a:off x="786384" y="2395728"/>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COVERAGE</a:t>
            </a:r>
            <a:endParaRPr lang="en-US" sz="900" dirty="0"/>
          </a:p>
        </p:txBody>
      </p:sp>
      <p:sp>
        <p:nvSpPr>
          <p:cNvPr id="11" name="Text 9"/>
          <p:cNvSpPr/>
          <p:nvPr/>
        </p:nvSpPr>
        <p:spPr>
          <a:xfrm>
            <a:off x="786384" y="2633472"/>
            <a:ext cx="3108960" cy="566928"/>
          </a:xfrm>
          <a:prstGeom prst="rect">
            <a:avLst/>
          </a:prstGeom>
          <a:noFill/>
          <a:ln/>
        </p:spPr>
        <p:txBody>
          <a:bodyPr wrap="square" lIns="0" tIns="0" rIns="0" bIns="0" rtlCol="0" anchor="ctr"/>
          <a:lstStyle/>
          <a:p>
            <a:pPr marL="0" indent="0">
              <a:buNone/>
            </a:pPr>
            <a:r>
              <a:rPr lang="en-US" sz="2600" b="1" dirty="0">
                <a:solidFill>
                  <a:srgbClr val="1B2A5E"/>
                </a:solidFill>
                <a:latin typeface="Cambria" pitchFamily="34" charset="0"/>
                <a:ea typeface="Cambria" pitchFamily="34" charset="-122"/>
                <a:cs typeface="Cambria" pitchFamily="34" charset="-120"/>
              </a:rPr>
              <a:t>89.1%</a:t>
            </a:r>
            <a:endParaRPr lang="en-US" sz="2600" dirty="0"/>
          </a:p>
        </p:txBody>
      </p:sp>
      <p:sp>
        <p:nvSpPr>
          <p:cNvPr id="12" name="Text 10"/>
          <p:cNvSpPr/>
          <p:nvPr/>
        </p:nvSpPr>
        <p:spPr>
          <a:xfrm>
            <a:off x="786384" y="3200400"/>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1,201 of 1,348 rows convertible</a:t>
            </a:r>
            <a:endParaRPr lang="en-US" sz="1000" dirty="0"/>
          </a:p>
        </p:txBody>
      </p:sp>
      <p:sp>
        <p:nvSpPr>
          <p:cNvPr id="13" name="Shape 11"/>
          <p:cNvSpPr/>
          <p:nvPr/>
        </p:nvSpPr>
        <p:spPr>
          <a:xfrm>
            <a:off x="4306824" y="2212848"/>
            <a:ext cx="3547872" cy="1481328"/>
          </a:xfrm>
          <a:prstGeom prst="roundRect">
            <a:avLst>
              <a:gd name="adj" fmla="val 3086"/>
            </a:avLst>
          </a:prstGeom>
          <a:solidFill>
            <a:srgbClr val="F3F5FA"/>
          </a:solidFill>
          <a:ln w="12700">
            <a:solidFill>
              <a:srgbClr val="DCE2F0"/>
            </a:solidFill>
            <a:prstDash val="solid"/>
          </a:ln>
        </p:spPr>
        <p:txBody>
          <a:bodyPr/>
          <a:p/>
        </p:txBody>
      </p:sp>
      <p:sp>
        <p:nvSpPr>
          <p:cNvPr id="14" name="Text 12"/>
          <p:cNvSpPr/>
          <p:nvPr/>
        </p:nvSpPr>
        <p:spPr>
          <a:xfrm>
            <a:off x="4526280" y="2395728"/>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UNCONVERTED</a:t>
            </a:r>
            <a:endParaRPr lang="en-US" sz="900" dirty="0"/>
          </a:p>
        </p:txBody>
      </p:sp>
      <p:sp>
        <p:nvSpPr>
          <p:cNvPr id="15" name="Text 13"/>
          <p:cNvSpPr/>
          <p:nvPr/>
        </p:nvSpPr>
        <p:spPr>
          <a:xfrm>
            <a:off x="4526280" y="2633472"/>
            <a:ext cx="3108960" cy="566928"/>
          </a:xfrm>
          <a:prstGeom prst="rect">
            <a:avLst/>
          </a:prstGeom>
          <a:noFill/>
          <a:ln/>
        </p:spPr>
        <p:txBody>
          <a:bodyPr wrap="square" lIns="0" tIns="0" rIns="0" bIns="0" rtlCol="0" anchor="ctr"/>
          <a:lstStyle/>
          <a:p>
            <a:pPr marL="0" indent="0">
              <a:buNone/>
            </a:pPr>
            <a:r>
              <a:rPr lang="en-US" sz="2600" b="1" dirty="0">
                <a:solidFill>
                  <a:srgbClr val="9A6410"/>
                </a:solidFill>
                <a:latin typeface="Cambria" pitchFamily="34" charset="0"/>
                <a:ea typeface="Cambria" pitchFamily="34" charset="-122"/>
                <a:cs typeface="Cambria" pitchFamily="34" charset="-120"/>
              </a:rPr>
              <a:t>1,231,309</a:t>
            </a:r>
            <a:endParaRPr lang="en-US" sz="2600" dirty="0"/>
          </a:p>
        </p:txBody>
      </p:sp>
      <p:sp>
        <p:nvSpPr>
          <p:cNvPr id="16" name="Text 14"/>
          <p:cNvSpPr/>
          <p:nvPr/>
        </p:nvSpPr>
        <p:spPr>
          <a:xfrm>
            <a:off x="4526280" y="3200400"/>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EUR across 147 rows, quantified</a:t>
            </a:r>
            <a:endParaRPr lang="en-US" sz="1000" dirty="0"/>
          </a:p>
        </p:txBody>
      </p:sp>
      <p:sp>
        <p:nvSpPr>
          <p:cNvPr id="17" name="Shape 15"/>
          <p:cNvSpPr/>
          <p:nvPr/>
        </p:nvSpPr>
        <p:spPr>
          <a:xfrm>
            <a:off x="8037576" y="2212848"/>
            <a:ext cx="3547872" cy="1481328"/>
          </a:xfrm>
          <a:prstGeom prst="roundRect">
            <a:avLst>
              <a:gd name="adj" fmla="val 3086"/>
            </a:avLst>
          </a:prstGeom>
          <a:solidFill>
            <a:srgbClr val="F3F5FA"/>
          </a:solidFill>
          <a:ln w="12700">
            <a:solidFill>
              <a:srgbClr val="DCE2F0"/>
            </a:solidFill>
            <a:prstDash val="solid"/>
          </a:ln>
        </p:spPr>
        <p:txBody>
          <a:bodyPr/>
          <a:p/>
        </p:txBody>
      </p:sp>
      <p:sp>
        <p:nvSpPr>
          <p:cNvPr id="18" name="Text 16"/>
          <p:cNvSpPr/>
          <p:nvPr/>
        </p:nvSpPr>
        <p:spPr>
          <a:xfrm>
            <a:off x="8257032" y="2395728"/>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EXACT TOTAL</a:t>
            </a:r>
            <a:endParaRPr lang="en-US" sz="900" dirty="0"/>
          </a:p>
        </p:txBody>
      </p:sp>
      <p:sp>
        <p:nvSpPr>
          <p:cNvPr id="19" name="Text 17"/>
          <p:cNvSpPr/>
          <p:nvPr/>
        </p:nvSpPr>
        <p:spPr>
          <a:xfrm>
            <a:off x="8257032" y="2633472"/>
            <a:ext cx="3108960" cy="566928"/>
          </a:xfrm>
          <a:prstGeom prst="rect">
            <a:avLst/>
          </a:prstGeom>
          <a:noFill/>
          <a:ln/>
        </p:spPr>
        <p:txBody>
          <a:bodyPr wrap="square" lIns="0" tIns="0" rIns="0" bIns="0" rtlCol="0" anchor="ctr"/>
          <a:lstStyle/>
          <a:p>
            <a:pPr marL="0" indent="0">
              <a:buNone/>
            </a:pPr>
            <a:r>
              <a:rPr lang="en-US" sz="2600" b="1" dirty="0">
                <a:solidFill>
                  <a:srgbClr val="9E2B2B"/>
                </a:solidFill>
                <a:latin typeface="Cambria" pitchFamily="34" charset="0"/>
                <a:ea typeface="Cambria" pitchFamily="34" charset="-122"/>
                <a:cs typeface="Cambria" pitchFamily="34" charset="-120"/>
              </a:rPr>
              <a:t>—</a:t>
            </a:r>
            <a:endParaRPr lang="en-US" sz="2600" dirty="0"/>
          </a:p>
        </p:txBody>
      </p:sp>
      <p:sp>
        <p:nvSpPr>
          <p:cNvPr id="20" name="Text 18"/>
          <p:cNvSpPr/>
          <p:nvPr/>
        </p:nvSpPr>
        <p:spPr>
          <a:xfrm>
            <a:off x="8257032" y="3200400"/>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Not defensible on this evidence</a:t>
            </a:r>
            <a:endParaRPr lang="en-US" sz="1000" dirty="0"/>
          </a:p>
        </p:txBody>
      </p:sp>
      <p:sp>
        <p:nvSpPr>
          <p:cNvPr id="21" name="Shape 19"/>
          <p:cNvSpPr/>
          <p:nvPr/>
        </p:nvSpPr>
        <p:spPr>
          <a:xfrm>
            <a:off x="566928" y="3886200"/>
            <a:ext cx="11018520" cy="1371600"/>
          </a:xfrm>
          <a:prstGeom prst="roundRect">
            <a:avLst>
              <a:gd name="adj" fmla="val 3333"/>
            </a:avLst>
          </a:prstGeom>
          <a:solidFill>
            <a:srgbClr val="F3F5FA"/>
          </a:solidFill>
          <a:ln w="12700">
            <a:solidFill>
              <a:srgbClr val="DCE2F0"/>
            </a:solidFill>
            <a:prstDash val="solid"/>
          </a:ln>
        </p:spPr>
        <p:txBody>
          <a:bodyPr/>
          <a:p/>
        </p:txBody>
      </p:sp>
      <p:sp>
        <p:nvSpPr>
          <p:cNvPr id="22" name="Text 20"/>
          <p:cNvSpPr/>
          <p:nvPr/>
        </p:nvSpPr>
        <p:spPr>
          <a:xfrm>
            <a:off x="868680" y="4069080"/>
            <a:ext cx="10424160" cy="256032"/>
          </a:xfrm>
          <a:prstGeom prst="rect">
            <a:avLst/>
          </a:prstGeom>
          <a:noFill/>
          <a:ln/>
        </p:spPr>
        <p:txBody>
          <a:bodyPr wrap="square" lIns="0" tIns="0" rIns="0" bIns="0" rtlCol="0" anchor="ctr"/>
          <a:lstStyle/>
          <a:p>
            <a:pPr marL="0" indent="0">
              <a:buNone/>
            </a:pPr>
            <a:r>
              <a:rPr lang="en-US" sz="1000" b="1" kern="0" spc="120" dirty="0">
                <a:solidFill>
                  <a:srgbClr val="3E5288"/>
                </a:solidFill>
                <a:latin typeface="Calibri" pitchFamily="34" charset="0"/>
                <a:ea typeface="Calibri" pitchFamily="34" charset="-122"/>
                <a:cs typeface="Calibri" pitchFamily="34" charset="-120"/>
              </a:rPr>
              <a:t>AND YET IT DELIVERS EVERYTHING THAT COULD BE ESTABLISHED</a:t>
            </a:r>
            <a:endParaRPr lang="en-US" sz="1000" dirty="0"/>
          </a:p>
        </p:txBody>
      </p:sp>
      <p:sp>
        <p:nvSpPr>
          <p:cNvPr id="23" name="Text 21"/>
          <p:cNvSpPr/>
          <p:nvPr/>
        </p:nvSpPr>
        <p:spPr>
          <a:xfrm>
            <a:off x="868680" y="4389120"/>
            <a:ext cx="10424160" cy="320040"/>
          </a:xfrm>
          <a:prstGeom prst="rect">
            <a:avLst/>
          </a:prstGeom>
          <a:noFill/>
          <a:ln/>
        </p:spPr>
        <p:txBody>
          <a:bodyPr wrap="square" lIns="0" tIns="0" rIns="0" bIns="0" rtlCol="0" anchor="ctr"/>
          <a:lstStyle/>
          <a:p>
            <a:pPr marL="0" indent="0">
              <a:buNone/>
            </a:pPr>
            <a:r>
              <a:rPr lang="en-US" sz="1550" b="1" dirty="0">
                <a:solidFill>
                  <a:srgbClr val="10162F"/>
                </a:solidFill>
                <a:latin typeface="Cambria" pitchFamily="34" charset="0"/>
                <a:ea typeface="Cambria" pitchFamily="34" charset="-122"/>
                <a:cs typeface="Cambria" pitchFamily="34" charset="-120"/>
              </a:rPr>
              <a:t>Computable total USD 10,003,880  ·  MI-US 4,879,539  ·  MI-NL 3,134,109  ·  MI-CA 1,990,231</a:t>
            </a:r>
            <a:endParaRPr lang="en-US" sz="1550" dirty="0"/>
          </a:p>
        </p:txBody>
      </p:sp>
      <p:sp>
        <p:nvSpPr>
          <p:cNvPr id="24" name="Text 22"/>
          <p:cNvSpPr/>
          <p:nvPr/>
        </p:nvSpPr>
        <p:spPr>
          <a:xfrm>
            <a:off x="868680" y="4754880"/>
            <a:ext cx="10424160" cy="365760"/>
          </a:xfrm>
          <a:prstGeom prst="rect">
            <a:avLst/>
          </a:prstGeom>
          <a:noFill/>
          <a:ln/>
        </p:spPr>
        <p:txBody>
          <a:bodyPr wrap="square" lIns="0" tIns="0" rIns="0" bIns="0" rtlCol="0" anchor="ctr"/>
          <a:lstStyle/>
          <a:p>
            <a:pPr marL="0" indent="0">
              <a:buNone/>
            </a:pPr>
            <a:r>
              <a:rPr lang="en-US" sz="1250" dirty="0">
                <a:solidFill>
                  <a:srgbClr val="5C6784"/>
                </a:solidFill>
                <a:latin typeface="Calibri" pitchFamily="34" charset="0"/>
                <a:ea typeface="Calibri" pitchFamily="34" charset="-122"/>
                <a:cs typeface="Calibri" pitchFamily="34" charset="-120"/>
              </a:rPr>
              <a:t>It never interpolates, never borrows the prior month, never estimates. The analyst gets 89% of the picture and knows precisely what is missing, how much it is worth, and why.</a:t>
            </a:r>
            <a:endParaRPr lang="en-US" sz="1250" dirty="0"/>
          </a:p>
        </p:txBody>
      </p:sp>
      <p:sp>
        <p:nvSpPr>
          <p:cNvPr id="25" name="Text 23"/>
          <p:cNvSpPr/>
          <p:nvPr/>
        </p:nvSpPr>
        <p:spPr>
          <a:xfrm>
            <a:off x="566928" y="5486400"/>
            <a:ext cx="11018520" cy="411480"/>
          </a:xfrm>
          <a:prstGeom prst="rect">
            <a:avLst/>
          </a:prstGeom>
          <a:noFill/>
          <a:ln/>
        </p:spPr>
        <p:txBody>
          <a:bodyPr wrap="square" lIns="0" tIns="0" rIns="0" bIns="0" rtlCol="0" anchor="ctr"/>
          <a:lstStyle/>
          <a:p>
            <a:pPr marL="0" indent="0">
              <a:buNone/>
            </a:pPr>
            <a:r>
              <a:rPr lang="en-US" sz="1700" b="1" i="1" dirty="0">
                <a:solidFill>
                  <a:srgbClr val="10162F"/>
                </a:solidFill>
                <a:latin typeface="Cambria" pitchFamily="34" charset="0"/>
                <a:ea typeface="Cambria" pitchFamily="34" charset="-122"/>
                <a:cs typeface="Cambria" pitchFamily="34" charset="-120"/>
              </a:rPr>
              <a:t>A refusal that discards what could be established costs more than one that reports it.</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14</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04 · RESULTS · QUESTION 6</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192 findings, not 27,900</a:t>
            </a:r>
            <a:endParaRPr lang="en-US" sz="2800" dirty="0"/>
          </a:p>
        </p:txBody>
      </p:sp>
      <p:sp>
        <p:nvSpPr>
          <p:cNvPr id="6" name="Text 4"/>
          <p:cNvSpPr/>
          <p:nvPr/>
        </p:nvSpPr>
        <p:spPr>
          <a:xfrm>
            <a:off x="566928" y="1627632"/>
            <a:ext cx="11018520" cy="685800"/>
          </a:xfrm>
          <a:prstGeom prst="rect">
            <a:avLst/>
          </a:prstGeom>
          <a:noFill/>
          <a:ln/>
        </p:spPr>
        <p:txBody>
          <a:bodyPr wrap="square" lIns="0" tIns="0" rIns="0" bIns="0" rtlCol="0" anchor="ctr"/>
          <a:lstStyle/>
          <a:p>
            <a:pPr marL="0" indent="0">
              <a:lnSpc>
                <a:spcPts val="2000"/>
              </a:lnSpc>
              <a:buNone/>
            </a:pPr>
            <a:r>
              <a:rPr lang="en-US" sz="1350" dirty="0">
                <a:solidFill>
                  <a:srgbClr val="10162F"/>
                </a:solidFill>
                <a:latin typeface="Calibri" pitchFamily="34" charset="0"/>
                <a:ea typeface="Calibri" pitchFamily="34" charset="-122"/>
                <a:cs typeface="Calibri" pitchFamily="34" charset="-120"/>
              </a:rPr>
              <a:t>The policy engine produces around 27,900 evaluations, but that figure is rules times transactions. Presenting it as breaches would be exactly the kind of plausible, wrong number this system exists to prevent.</a:t>
            </a:r>
            <a:endParaRPr lang="en-US" sz="1350" dirty="0"/>
          </a:p>
        </p:txBody>
      </p:sp>
      <p:sp>
        <p:nvSpPr>
          <p:cNvPr id="7" name="Shape 5"/>
          <p:cNvSpPr/>
          <p:nvPr/>
        </p:nvSpPr>
        <p:spPr>
          <a:xfrm>
            <a:off x="566928" y="2450592"/>
            <a:ext cx="3547872" cy="1481328"/>
          </a:xfrm>
          <a:prstGeom prst="roundRect">
            <a:avLst>
              <a:gd name="adj" fmla="val 3086"/>
            </a:avLst>
          </a:prstGeom>
          <a:solidFill>
            <a:srgbClr val="F3F5FA"/>
          </a:solidFill>
          <a:ln w="12700">
            <a:solidFill>
              <a:srgbClr val="DCE2F0"/>
            </a:solidFill>
            <a:prstDash val="solid"/>
          </a:ln>
        </p:spPr>
        <p:txBody>
          <a:bodyPr/>
          <a:p/>
        </p:txBody>
      </p:sp>
      <p:sp>
        <p:nvSpPr>
          <p:cNvPr id="8" name="Text 6"/>
          <p:cNvSpPr/>
          <p:nvPr/>
        </p:nvSpPr>
        <p:spPr>
          <a:xfrm>
            <a:off x="786384" y="2633472"/>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CONFIRMED RULE MATCHES</a:t>
            </a:r>
            <a:endParaRPr lang="en-US" sz="900" dirty="0"/>
          </a:p>
        </p:txBody>
      </p:sp>
      <p:sp>
        <p:nvSpPr>
          <p:cNvPr id="9" name="Text 7"/>
          <p:cNvSpPr/>
          <p:nvPr/>
        </p:nvSpPr>
        <p:spPr>
          <a:xfrm>
            <a:off x="786384" y="2871216"/>
            <a:ext cx="3108960" cy="566928"/>
          </a:xfrm>
          <a:prstGeom prst="rect">
            <a:avLst/>
          </a:prstGeom>
          <a:noFill/>
          <a:ln/>
        </p:spPr>
        <p:txBody>
          <a:bodyPr wrap="square" lIns="0" tIns="0" rIns="0" bIns="0" rtlCol="0" anchor="ctr"/>
          <a:lstStyle/>
          <a:p>
            <a:pPr marL="0" indent="0">
              <a:buNone/>
            </a:pPr>
            <a:r>
              <a:rPr lang="en-US" sz="2600" b="1" dirty="0">
                <a:solidFill>
                  <a:srgbClr val="9E2B2B"/>
                </a:solidFill>
                <a:latin typeface="Cambria" pitchFamily="34" charset="0"/>
                <a:ea typeface="Cambria" pitchFamily="34" charset="-122"/>
                <a:cs typeface="Cambria" pitchFamily="34" charset="-120"/>
              </a:rPr>
              <a:t>192</a:t>
            </a:r>
            <a:endParaRPr lang="en-US" sz="2600" dirty="0"/>
          </a:p>
        </p:txBody>
      </p:sp>
      <p:sp>
        <p:nvSpPr>
          <p:cNvPr id="10" name="Text 8"/>
          <p:cNvSpPr/>
          <p:nvPr/>
        </p:nvSpPr>
        <p:spPr>
          <a:xfrm>
            <a:off x="786384" y="3438144"/>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The rule is breached as written</a:t>
            </a:r>
            <a:endParaRPr lang="en-US" sz="1000" dirty="0"/>
          </a:p>
        </p:txBody>
      </p:sp>
      <p:sp>
        <p:nvSpPr>
          <p:cNvPr id="11" name="Shape 9"/>
          <p:cNvSpPr/>
          <p:nvPr/>
        </p:nvSpPr>
        <p:spPr>
          <a:xfrm>
            <a:off x="4306824" y="2450592"/>
            <a:ext cx="3547872" cy="1481328"/>
          </a:xfrm>
          <a:prstGeom prst="roundRect">
            <a:avLst>
              <a:gd name="adj" fmla="val 3086"/>
            </a:avLst>
          </a:prstGeom>
          <a:solidFill>
            <a:srgbClr val="F3F5FA"/>
          </a:solidFill>
          <a:ln w="12700">
            <a:solidFill>
              <a:srgbClr val="DCE2F0"/>
            </a:solidFill>
            <a:prstDash val="solid"/>
          </a:ln>
        </p:spPr>
        <p:txBody>
          <a:bodyPr/>
          <a:p/>
        </p:txBody>
      </p:sp>
      <p:sp>
        <p:nvSpPr>
          <p:cNvPr id="12" name="Text 10"/>
          <p:cNvSpPr/>
          <p:nvPr/>
        </p:nvSpPr>
        <p:spPr>
          <a:xfrm>
            <a:off x="4526280" y="2633472"/>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POTENTIAL BREACHES</a:t>
            </a:r>
            <a:endParaRPr lang="en-US" sz="900" dirty="0"/>
          </a:p>
        </p:txBody>
      </p:sp>
      <p:sp>
        <p:nvSpPr>
          <p:cNvPr id="13" name="Text 11"/>
          <p:cNvSpPr/>
          <p:nvPr/>
        </p:nvSpPr>
        <p:spPr>
          <a:xfrm>
            <a:off x="4526280" y="2871216"/>
            <a:ext cx="3108960" cy="566928"/>
          </a:xfrm>
          <a:prstGeom prst="rect">
            <a:avLst/>
          </a:prstGeom>
          <a:noFill/>
          <a:ln/>
        </p:spPr>
        <p:txBody>
          <a:bodyPr wrap="square" lIns="0" tIns="0" rIns="0" bIns="0" rtlCol="0" anchor="ctr"/>
          <a:lstStyle/>
          <a:p>
            <a:pPr marL="0" indent="0">
              <a:buNone/>
            </a:pPr>
            <a:r>
              <a:rPr lang="en-US" sz="2600" b="1" dirty="0">
                <a:solidFill>
                  <a:srgbClr val="9A6410"/>
                </a:solidFill>
                <a:latin typeface="Cambria" pitchFamily="34" charset="0"/>
                <a:ea typeface="Cambria" pitchFamily="34" charset="-122"/>
                <a:cs typeface="Cambria" pitchFamily="34" charset="-120"/>
              </a:rPr>
              <a:t>7</a:t>
            </a:r>
            <a:endParaRPr lang="en-US" sz="2600" dirty="0"/>
          </a:p>
        </p:txBody>
      </p:sp>
      <p:sp>
        <p:nvSpPr>
          <p:cNvPr id="14" name="Text 12"/>
          <p:cNvSpPr/>
          <p:nvPr/>
        </p:nvSpPr>
        <p:spPr>
          <a:xfrm>
            <a:off x="4526280" y="3438144"/>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One element is missing to confirm</a:t>
            </a:r>
            <a:endParaRPr lang="en-US" sz="1000" dirty="0"/>
          </a:p>
        </p:txBody>
      </p:sp>
      <p:sp>
        <p:nvSpPr>
          <p:cNvPr id="15" name="Shape 13"/>
          <p:cNvSpPr/>
          <p:nvPr/>
        </p:nvSpPr>
        <p:spPr>
          <a:xfrm>
            <a:off x="8037576" y="2450592"/>
            <a:ext cx="3547872" cy="1481328"/>
          </a:xfrm>
          <a:prstGeom prst="roundRect">
            <a:avLst>
              <a:gd name="adj" fmla="val 3086"/>
            </a:avLst>
          </a:prstGeom>
          <a:solidFill>
            <a:srgbClr val="F3F5FA"/>
          </a:solidFill>
          <a:ln w="12700">
            <a:solidFill>
              <a:srgbClr val="DCE2F0"/>
            </a:solidFill>
            <a:prstDash val="solid"/>
          </a:ln>
        </p:spPr>
        <p:txBody>
          <a:bodyPr/>
          <a:p/>
        </p:txBody>
      </p:sp>
      <p:sp>
        <p:nvSpPr>
          <p:cNvPr id="16" name="Text 14"/>
          <p:cNvSpPr/>
          <p:nvPr/>
        </p:nvSpPr>
        <p:spPr>
          <a:xfrm>
            <a:off x="8257032" y="2633472"/>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NOT EVALUABLE</a:t>
            </a:r>
            <a:endParaRPr lang="en-US" sz="900" dirty="0"/>
          </a:p>
        </p:txBody>
      </p:sp>
      <p:sp>
        <p:nvSpPr>
          <p:cNvPr id="17" name="Text 15"/>
          <p:cNvSpPr/>
          <p:nvPr/>
        </p:nvSpPr>
        <p:spPr>
          <a:xfrm>
            <a:off x="8257032" y="2871216"/>
            <a:ext cx="3108960" cy="566928"/>
          </a:xfrm>
          <a:prstGeom prst="rect">
            <a:avLst/>
          </a:prstGeom>
          <a:noFill/>
          <a:ln/>
        </p:spPr>
        <p:txBody>
          <a:bodyPr wrap="square" lIns="0" tIns="0" rIns="0" bIns="0" rtlCol="0" anchor="ctr"/>
          <a:lstStyle/>
          <a:p>
            <a:pPr marL="0" indent="0">
              <a:buNone/>
            </a:pPr>
            <a:r>
              <a:rPr lang="en-US" sz="2600" b="1" dirty="0">
                <a:solidFill>
                  <a:srgbClr val="5C6784"/>
                </a:solidFill>
                <a:latin typeface="Cambria" pitchFamily="34" charset="0"/>
                <a:ea typeface="Cambria" pitchFamily="34" charset="-122"/>
                <a:cs typeface="Cambria" pitchFamily="34" charset="-120"/>
              </a:rPr>
              <a:t>1,314</a:t>
            </a:r>
            <a:endParaRPr lang="en-US" sz="2600" dirty="0"/>
          </a:p>
        </p:txBody>
      </p:sp>
      <p:sp>
        <p:nvSpPr>
          <p:cNvPr id="18" name="Text 16"/>
          <p:cNvSpPr/>
          <p:nvPr/>
        </p:nvSpPr>
        <p:spPr>
          <a:xfrm>
            <a:off x="8257032" y="3438144"/>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The ledger lacks the required evidence</a:t>
            </a:r>
            <a:endParaRPr lang="en-US" sz="1000" dirty="0"/>
          </a:p>
        </p:txBody>
      </p:sp>
      <p:sp>
        <p:nvSpPr>
          <p:cNvPr id="19" name="Shape 17"/>
          <p:cNvSpPr/>
          <p:nvPr/>
        </p:nvSpPr>
        <p:spPr>
          <a:xfrm>
            <a:off x="566928" y="4160520"/>
            <a:ext cx="41148" cy="1463040"/>
          </a:xfrm>
          <a:prstGeom prst="rect">
            <a:avLst/>
          </a:prstGeom>
          <a:solidFill>
            <a:srgbClr val="1B2A5E"/>
          </a:solidFill>
          <a:ln/>
        </p:spPr>
        <p:txBody>
          <a:bodyPr/>
          <a:p/>
        </p:txBody>
      </p:sp>
      <p:sp>
        <p:nvSpPr>
          <p:cNvPr id="20" name="Shape 18"/>
          <p:cNvSpPr/>
          <p:nvPr/>
        </p:nvSpPr>
        <p:spPr>
          <a:xfrm>
            <a:off x="608076" y="4160520"/>
            <a:ext cx="10977372" cy="1463040"/>
          </a:xfrm>
          <a:prstGeom prst="rect">
            <a:avLst/>
          </a:prstGeom>
          <a:solidFill>
            <a:srgbClr val="F3F5FA"/>
          </a:solidFill>
          <a:ln w="12700">
            <a:solidFill>
              <a:srgbClr val="F3F5FA"/>
            </a:solidFill>
            <a:prstDash val="solid"/>
          </a:ln>
        </p:spPr>
        <p:txBody>
          <a:bodyPr/>
          <a:p/>
        </p:txBody>
      </p:sp>
      <p:sp>
        <p:nvSpPr>
          <p:cNvPr id="21" name="Text 19"/>
          <p:cNvSpPr/>
          <p:nvPr/>
        </p:nvSpPr>
        <p:spPr>
          <a:xfrm>
            <a:off x="841248" y="4288536"/>
            <a:ext cx="10469880" cy="237744"/>
          </a:xfrm>
          <a:prstGeom prst="rect">
            <a:avLst/>
          </a:prstGeom>
          <a:noFill/>
          <a:ln/>
        </p:spPr>
        <p:txBody>
          <a:bodyPr wrap="square" lIns="0" tIns="0" rIns="0" bIns="0" rtlCol="0" anchor="ctr"/>
          <a:lstStyle/>
          <a:p>
            <a:pPr marL="0" indent="0">
              <a:buNone/>
            </a:pPr>
            <a:r>
              <a:rPr lang="en-US" sz="1050" b="1" dirty="0">
                <a:solidFill>
                  <a:srgbClr val="1B2A5E"/>
                </a:solidFill>
                <a:latin typeface="Calibri" pitchFamily="34" charset="0"/>
                <a:ea typeface="Calibri" pitchFamily="34" charset="-122"/>
                <a:cs typeface="Calibri" pitchFamily="34" charset="-120"/>
              </a:rPr>
              <a:t>What is verifiable, and what never will be</a:t>
            </a:r>
            <a:endParaRPr lang="en-US" sz="1050" dirty="0"/>
          </a:p>
        </p:txBody>
      </p:sp>
      <p:sp>
        <p:nvSpPr>
          <p:cNvPr id="22" name="Text 20"/>
          <p:cNvSpPr/>
          <p:nvPr/>
        </p:nvSpPr>
        <p:spPr>
          <a:xfrm>
            <a:off x="841248" y="4544568"/>
            <a:ext cx="10469880" cy="950976"/>
          </a:xfrm>
          <a:prstGeom prst="rect">
            <a:avLst/>
          </a:prstGeom>
          <a:noFill/>
          <a:ln/>
        </p:spPr>
        <p:txBody>
          <a:bodyPr wrap="square" lIns="0" tIns="0" rIns="0" bIns="0" rtlCol="0" anchor="t"/>
          <a:lstStyle/>
          <a:p>
            <a:pPr marL="0" indent="0">
              <a:lnSpc>
                <a:spcPts val="1650"/>
              </a:lnSpc>
              <a:buNone/>
            </a:pPr>
            <a:r>
              <a:rPr lang="en-US" sz="1200" dirty="0">
                <a:solidFill>
                  <a:srgbClr val="10162F"/>
                </a:solidFill>
                <a:latin typeface="Calibri" pitchFamily="34" charset="0"/>
                <a:ea typeface="Calibri" pitchFamily="34" charset="-122"/>
                <a:cs typeface="Calibri" pitchFamily="34" charset="-120"/>
              </a:rPr>
              <a:t>Pre-approval by amount is checkable against the recorded reference. The lodging cap can only ever be a potential breach, because it is tax-exclusive and the ledger does not separate tax. Flight duration and attendee rosters exist in no schema: those rules conclude insufficient evidence and nothing else. The system detects candidates; it does not determine guilt.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15</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04 · RESULTS · QUESTION 5</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When the memo does not match the numbers</a:t>
            </a:r>
            <a:endParaRPr lang="en-US" sz="2800" dirty="0"/>
          </a:p>
        </p:txBody>
      </p:sp>
      <p:sp>
        <p:nvSpPr>
          <p:cNvPr id="6" name="Text 4"/>
          <p:cNvSpPr/>
          <p:nvPr/>
        </p:nvSpPr>
        <p:spPr>
          <a:xfrm>
            <a:off x="566928" y="1627632"/>
            <a:ext cx="11018520" cy="640080"/>
          </a:xfrm>
          <a:prstGeom prst="rect">
            <a:avLst/>
          </a:prstGeom>
          <a:noFill/>
          <a:ln/>
        </p:spPr>
        <p:txBody>
          <a:bodyPr wrap="square" lIns="0" tIns="0" rIns="0" bIns="0" rtlCol="0" anchor="ctr"/>
          <a:lstStyle/>
          <a:p>
            <a:pPr marL="0" indent="0">
              <a:lnSpc>
                <a:spcPts val="2000"/>
              </a:lnSpc>
              <a:buNone/>
            </a:pPr>
            <a:r>
              <a:rPr lang="en-US" sz="1350" dirty="0">
                <a:solidFill>
                  <a:srgbClr val="10162F"/>
                </a:solidFill>
                <a:latin typeface="Calibri" pitchFamily="34" charset="0"/>
                <a:ea typeface="Calibri" pitchFamily="34" charset="-122"/>
                <a:cs typeface="Calibri" pitchFamily="34" charset="-120"/>
              </a:rPr>
              <a:t>The workflow enforces causal order explicitly: numbers first, narrative second. Variance is computed per cost centre, the worst is identified, decomposed by account, and only then is documentary explanation sought.</a:t>
            </a:r>
            <a:endParaRPr lang="en-US" sz="13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2395728"/>
          <a:ext cx="11018520" cy="1243584"/>
        </p:xfrm>
        <a:graphic>
          <a:graphicData uri="http://schemas.openxmlformats.org/drawingml/2006/table">
            <a:tbl>
              <a:tblPr/>
              <a:tblGrid>
                <a:gridCol w="36576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06908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Account</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Quarter variance</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Share of the deviation</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extLst>
                  <a:ext uri="{0D108BD9-81ED-4DB2-BD59-A6C34878D82A}">
                    <a16:rowId xmlns:a16="http://schemas.microsoft.com/office/drawing/2014/main" val="10000"/>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Outbound freight</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+159,486 USD</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The main driver</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1"/>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Inbound freight</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+101,611 USD</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Second driver</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Expedited freight</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+14,770 USD</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Marginal against the previous two</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3"/>
                  </a:ext>
                </a:extLst>
              </a:tr>
            </a:tbl>
          </a:graphicData>
        </a:graphic>
      </p:graphicFrame>
      <p:sp>
        <p:nvSpPr>
          <p:cNvPr id="8" name="Shape 5"/>
          <p:cNvSpPr/>
          <p:nvPr/>
        </p:nvSpPr>
        <p:spPr>
          <a:xfrm>
            <a:off x="566928" y="3977640"/>
            <a:ext cx="41148" cy="1600200"/>
          </a:xfrm>
          <a:prstGeom prst="rect">
            <a:avLst/>
          </a:prstGeom>
          <a:solidFill>
            <a:srgbClr val="9A6410"/>
          </a:solidFill>
          <a:ln/>
        </p:spPr>
        <p:txBody>
          <a:bodyPr/>
          <a:p/>
        </p:txBody>
      </p:sp>
      <p:sp>
        <p:nvSpPr>
          <p:cNvPr id="9" name="Shape 6"/>
          <p:cNvSpPr/>
          <p:nvPr/>
        </p:nvSpPr>
        <p:spPr>
          <a:xfrm>
            <a:off x="608076" y="3977640"/>
            <a:ext cx="10977372" cy="1600200"/>
          </a:xfrm>
          <a:prstGeom prst="rect">
            <a:avLst/>
          </a:prstGeom>
          <a:solidFill>
            <a:srgbClr val="FDF4E4"/>
          </a:solidFill>
          <a:ln w="12700">
            <a:solidFill>
              <a:srgbClr val="FDF4E4"/>
            </a:solidFill>
            <a:prstDash val="solid"/>
          </a:ln>
        </p:spPr>
        <p:txBody>
          <a:bodyPr/>
          <a:p/>
        </p:txBody>
      </p:sp>
      <p:sp>
        <p:nvSpPr>
          <p:cNvPr id="10" name="Text 7"/>
          <p:cNvSpPr/>
          <p:nvPr/>
        </p:nvSpPr>
        <p:spPr>
          <a:xfrm>
            <a:off x="841248" y="4105656"/>
            <a:ext cx="10469880" cy="237744"/>
          </a:xfrm>
          <a:prstGeom prst="rect">
            <a:avLst/>
          </a:prstGeom>
          <a:noFill/>
          <a:ln/>
        </p:spPr>
        <p:txBody>
          <a:bodyPr wrap="square" lIns="0" tIns="0" rIns="0" bIns="0" rtlCol="0" anchor="ctr"/>
          <a:lstStyle/>
          <a:p>
            <a:pPr marL="0" indent="0">
              <a:buNone/>
            </a:pPr>
            <a:r>
              <a:rPr lang="en-US" sz="1050" b="1" dirty="0">
                <a:solidFill>
                  <a:srgbClr val="9A6410"/>
                </a:solidFill>
                <a:latin typeface="Calibri" pitchFamily="34" charset="0"/>
                <a:ea typeface="Calibri" pitchFamily="34" charset="-122"/>
                <a:cs typeface="Calibri" pitchFamily="34" charset="-120"/>
              </a:rPr>
              <a:t>The board memo attributes the overrun to expedited freight</a:t>
            </a:r>
            <a:endParaRPr lang="en-US" sz="1050" dirty="0"/>
          </a:p>
        </p:txBody>
      </p:sp>
      <p:sp>
        <p:nvSpPr>
          <p:cNvPr id="11" name="Text 8"/>
          <p:cNvSpPr/>
          <p:nvPr/>
        </p:nvSpPr>
        <p:spPr>
          <a:xfrm>
            <a:off x="841248" y="4361688"/>
            <a:ext cx="10469880" cy="1088136"/>
          </a:xfrm>
          <a:prstGeom prst="rect">
            <a:avLst/>
          </a:prstGeom>
          <a:noFill/>
          <a:ln/>
        </p:spPr>
        <p:txBody>
          <a:bodyPr wrap="square" lIns="0" tIns="0" rIns="0" bIns="0" rtlCol="0" anchor="t"/>
          <a:lstStyle/>
          <a:p>
            <a:pPr marL="0" indent="0">
              <a:lnSpc>
                <a:spcPts val="1650"/>
              </a:lnSpc>
              <a:buNone/>
            </a:pPr>
            <a:r>
              <a:rPr lang="en-US" sz="1200" dirty="0">
                <a:solidFill>
                  <a:srgbClr val="10162F"/>
                </a:solidFill>
                <a:latin typeface="Calibri" pitchFamily="34" charset="0"/>
                <a:ea typeface="Calibri" pitchFamily="34" charset="-122"/>
                <a:cs typeface="Calibri" pitchFamily="34" charset="-120"/>
              </a:rPr>
              <a:t>The data says otherwise: expedited freight is a minor share of the deviation, while ordinary outbound and inbound explain most of it. The system does not echo the narrative. It reports that the term overlap is partial, names the account actually driving the figure, and does not cite the memo section as backing a claim it does not support.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16</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04 · RESULTS</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All eight questions and what the system does with each</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18520" cy="2798064"/>
        </p:xfrm>
        <a:graphic>
          <a:graphicData uri="http://schemas.openxmlformats.org/drawingml/2006/table">
            <a:tbl>
              <a:tblPr/>
              <a:tblGrid>
                <a:gridCol w="384048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Question</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Rationale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extLst>
                  <a:ext uri="{0D108BD9-81ED-4DB2-BD59-A6C34878D82A}">
                    <a16:rowId xmlns:a16="http://schemas.microsoft.com/office/drawing/2014/main" val="10000"/>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Q2 operating expenses by cost centre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NEEDS_CLARIFICATION</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The two years differ by 5.6%, above the declared tolerance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1"/>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Travel year over year</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PARTIAL</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Three bases with the reclassification bridge quantified</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Consolidated Q3 spend in USD</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REFUSED</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A required rate is missing; delivers computable components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3"/>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Ten largest vendors by spend</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PARTIAL</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Two rankings; the candidate grouping alters the top ten</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Worst centres against budget</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PARTIAL</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Coverage de conversión incompleta en varios centros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5"/>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T&amp;E policy breaches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ANSWER</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192 confirmed, 7 potential, 1,314 not evaluable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Headcount cost per FTE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REFUSED</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The denominator exists in no declared schema</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7"/>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Duplicate payments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ANSWER</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Four high-confidence candidates, framed as candidates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Text 4"/>
          <p:cNvSpPr/>
          <p:nvPr/>
        </p:nvSpPr>
        <p:spPr>
          <a:xfrm>
            <a:off x="566928" y="4956048"/>
            <a:ext cx="11018520" cy="685800"/>
          </a:xfrm>
          <a:prstGeom prst="rect">
            <a:avLst/>
          </a:prstGeom>
          <a:noFill/>
          <a:ln/>
        </p:spPr>
        <p:txBody>
          <a:bodyPr wrap="square" lIns="0" tIns="0" rIns="0" bIns="0" rtlCol="0" anchor="ctr"/>
          <a:lstStyle/>
          <a:p>
            <a:pPr marL="0" indent="0">
              <a:lnSpc>
                <a:spcPts val="1900"/>
              </a:lnSpc>
              <a:buNone/>
            </a:pPr>
            <a:r>
              <a:rPr lang="en-US" sz="1250" dirty="0">
                <a:solidFill>
                  <a:srgbClr val="5C6784"/>
                </a:solidFill>
                <a:latin typeface="Calibri" pitchFamily="34" charset="0"/>
                <a:ea typeface="Calibri" pitchFamily="34" charset="-122"/>
                <a:cs typeface="Calibri" pitchFamily="34" charset="-120"/>
              </a:rPr>
              <a:t>The two refusals differ in kind. Headcount cost is STRUCTURAL: no schema declares FTE, so it holds against any dataset. Q3 is CONTINGENT: it depends on a missing rate, and with a complete FX table the correct answer would be affirmative.</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17</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05 · VERIFICATION</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How I know it works</a:t>
            </a:r>
            <a:endParaRPr lang="en-US" sz="2800" dirty="0"/>
          </a:p>
        </p:txBody>
      </p:sp>
      <p:sp>
        <p:nvSpPr>
          <p:cNvPr id="6" name="Shape 4"/>
          <p:cNvSpPr/>
          <p:nvPr/>
        </p:nvSpPr>
        <p:spPr>
          <a:xfrm>
            <a:off x="566928" y="1645920"/>
            <a:ext cx="3547872" cy="1481328"/>
          </a:xfrm>
          <a:prstGeom prst="roundRect">
            <a:avLst>
              <a:gd name="adj" fmla="val 3086"/>
            </a:avLst>
          </a:prstGeom>
          <a:solidFill>
            <a:srgbClr val="F3F5FA"/>
          </a:solidFill>
          <a:ln w="12700">
            <a:solidFill>
              <a:srgbClr val="DCE2F0"/>
            </a:solidFill>
            <a:prstDash val="solid"/>
          </a:ln>
        </p:spPr>
        <p:txBody>
          <a:bodyPr/>
          <a:p/>
        </p:txBody>
      </p:sp>
      <p:sp>
        <p:nvSpPr>
          <p:cNvPr id="7" name="Text 5"/>
          <p:cNvSpPr/>
          <p:nvPr/>
        </p:nvSpPr>
        <p:spPr>
          <a:xfrm>
            <a:off x="786384" y="1828800"/>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UNIT TESTS</a:t>
            </a:r>
            <a:endParaRPr lang="en-US" sz="900" dirty="0"/>
          </a:p>
        </p:txBody>
      </p:sp>
      <p:sp>
        <p:nvSpPr>
          <p:cNvPr id="8" name="Text 6"/>
          <p:cNvSpPr/>
          <p:nvPr/>
        </p:nvSpPr>
        <p:spPr>
          <a:xfrm>
            <a:off x="786384" y="2066544"/>
            <a:ext cx="3108960" cy="566928"/>
          </a:xfrm>
          <a:prstGeom prst="rect">
            <a:avLst/>
          </a:prstGeom>
          <a:noFill/>
          <a:ln/>
        </p:spPr>
        <p:txBody>
          <a:bodyPr wrap="square" lIns="0" tIns="0" rIns="0" bIns="0" rtlCol="0" anchor="ctr"/>
          <a:lstStyle/>
          <a:p>
            <a:pPr marL="0" indent="0">
              <a:buNone/>
            </a:pPr>
            <a:r>
              <a:rPr lang="en-US" sz="2600" b="1" dirty="0">
                <a:solidFill>
                  <a:srgbClr val="1B2A5E"/>
                </a:solidFill>
                <a:latin typeface="Cambria" pitchFamily="34" charset="0"/>
                <a:ea typeface="Cambria" pitchFamily="34" charset="-122"/>
                <a:cs typeface="Cambria" pitchFamily="34" charset="-120"/>
              </a:rPr>
              <a:t>340</a:t>
            </a:r>
            <a:endParaRPr lang="en-US" sz="2600" dirty="0"/>
          </a:p>
        </p:txBody>
      </p:sp>
      <p:sp>
        <p:nvSpPr>
          <p:cNvPr id="9" name="Text 7"/>
          <p:cNvSpPr/>
          <p:nvPr/>
        </p:nvSpPr>
        <p:spPr>
          <a:xfrm>
            <a:off x="786384" y="2633472"/>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Full deterministic layer, no model credential</a:t>
            </a:r>
            <a:endParaRPr lang="en-US" sz="1000" dirty="0"/>
          </a:p>
        </p:txBody>
      </p:sp>
      <p:sp>
        <p:nvSpPr>
          <p:cNvPr id="10" name="Shape 8"/>
          <p:cNvSpPr/>
          <p:nvPr/>
        </p:nvSpPr>
        <p:spPr>
          <a:xfrm>
            <a:off x="4306824" y="1645920"/>
            <a:ext cx="3547872" cy="1481328"/>
          </a:xfrm>
          <a:prstGeom prst="roundRect">
            <a:avLst>
              <a:gd name="adj" fmla="val 3086"/>
            </a:avLst>
          </a:prstGeom>
          <a:solidFill>
            <a:srgbClr val="F3F5FA"/>
          </a:solidFill>
          <a:ln w="12700">
            <a:solidFill>
              <a:srgbClr val="DCE2F0"/>
            </a:solidFill>
            <a:prstDash val="solid"/>
          </a:ln>
        </p:spPr>
        <p:txBody>
          <a:bodyPr/>
          <a:p/>
        </p:txBody>
      </p:sp>
      <p:sp>
        <p:nvSpPr>
          <p:cNvPr id="11" name="Text 9"/>
          <p:cNvSpPr/>
          <p:nvPr/>
        </p:nvSpPr>
        <p:spPr>
          <a:xfrm>
            <a:off x="4526280" y="1828800"/>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EVAL CASES</a:t>
            </a:r>
            <a:endParaRPr lang="en-US" sz="900" dirty="0"/>
          </a:p>
        </p:txBody>
      </p:sp>
      <p:sp>
        <p:nvSpPr>
          <p:cNvPr id="12" name="Text 10"/>
          <p:cNvSpPr/>
          <p:nvPr/>
        </p:nvSpPr>
        <p:spPr>
          <a:xfrm>
            <a:off x="4526280" y="2066544"/>
            <a:ext cx="3108960" cy="566928"/>
          </a:xfrm>
          <a:prstGeom prst="rect">
            <a:avLst/>
          </a:prstGeom>
          <a:noFill/>
          <a:ln/>
        </p:spPr>
        <p:txBody>
          <a:bodyPr wrap="square" lIns="0" tIns="0" rIns="0" bIns="0" rtlCol="0" anchor="ctr"/>
          <a:lstStyle/>
          <a:p>
            <a:pPr marL="0" indent="0">
              <a:buNone/>
            </a:pPr>
            <a:r>
              <a:rPr lang="en-US" sz="2600" b="1" dirty="0">
                <a:solidFill>
                  <a:srgbClr val="1B2A5E"/>
                </a:solidFill>
                <a:latin typeface="Cambria" pitchFamily="34" charset="0"/>
                <a:ea typeface="Cambria" pitchFamily="34" charset="-122"/>
                <a:cs typeface="Cambria" pitchFamily="34" charset="-120"/>
              </a:rPr>
              <a:t>16 / 16</a:t>
            </a:r>
            <a:endParaRPr lang="en-US" sz="2600" dirty="0"/>
          </a:p>
        </p:txBody>
      </p:sp>
      <p:sp>
        <p:nvSpPr>
          <p:cNvPr id="13" name="Text 11"/>
          <p:cNvSpPr/>
          <p:nvPr/>
        </p:nvSpPr>
        <p:spPr>
          <a:xfrm>
            <a:off x="4526280" y="2633472"/>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Eight deterministic, eight against the live orchestrator</a:t>
            </a:r>
            <a:endParaRPr lang="en-US" sz="1000" dirty="0"/>
          </a:p>
        </p:txBody>
      </p:sp>
      <p:sp>
        <p:nvSpPr>
          <p:cNvPr id="14" name="Shape 12"/>
          <p:cNvSpPr/>
          <p:nvPr/>
        </p:nvSpPr>
        <p:spPr>
          <a:xfrm>
            <a:off x="8037576" y="1645920"/>
            <a:ext cx="3547872" cy="1481328"/>
          </a:xfrm>
          <a:prstGeom prst="roundRect">
            <a:avLst>
              <a:gd name="adj" fmla="val 3086"/>
            </a:avLst>
          </a:prstGeom>
          <a:solidFill>
            <a:srgbClr val="F3F5FA"/>
          </a:solidFill>
          <a:ln w="12700">
            <a:solidFill>
              <a:srgbClr val="DCE2F0"/>
            </a:solidFill>
            <a:prstDash val="solid"/>
          </a:ln>
        </p:spPr>
        <p:txBody>
          <a:bodyPr/>
          <a:p/>
        </p:txBody>
      </p:sp>
      <p:sp>
        <p:nvSpPr>
          <p:cNvPr id="15" name="Text 13"/>
          <p:cNvSpPr/>
          <p:nvPr/>
        </p:nvSpPr>
        <p:spPr>
          <a:xfrm>
            <a:off x="8257032" y="1828800"/>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NUMERIC DIVERGENCES</a:t>
            </a:r>
            <a:endParaRPr lang="en-US" sz="900" dirty="0"/>
          </a:p>
        </p:txBody>
      </p:sp>
      <p:sp>
        <p:nvSpPr>
          <p:cNvPr id="16" name="Text 14"/>
          <p:cNvSpPr/>
          <p:nvPr/>
        </p:nvSpPr>
        <p:spPr>
          <a:xfrm>
            <a:off x="8257032" y="2066544"/>
            <a:ext cx="3108960" cy="566928"/>
          </a:xfrm>
          <a:prstGeom prst="rect">
            <a:avLst/>
          </a:prstGeom>
          <a:noFill/>
          <a:ln/>
        </p:spPr>
        <p:txBody>
          <a:bodyPr wrap="square" lIns="0" tIns="0" rIns="0" bIns="0" rtlCol="0" anchor="ctr"/>
          <a:lstStyle/>
          <a:p>
            <a:pPr marL="0" indent="0">
              <a:buNone/>
            </a:pPr>
            <a:r>
              <a:rPr lang="en-US" sz="2600" b="1" dirty="0">
                <a:solidFill>
                  <a:srgbClr val="1C6046"/>
                </a:solidFill>
                <a:latin typeface="Cambria" pitchFamily="34" charset="0"/>
                <a:ea typeface="Cambria" pitchFamily="34" charset="-122"/>
                <a:cs typeface="Cambria" pitchFamily="34" charset="-120"/>
              </a:rPr>
              <a:t>0</a:t>
            </a:r>
            <a:endParaRPr lang="en-US" sz="2600" dirty="0"/>
          </a:p>
        </p:txBody>
      </p:sp>
      <p:sp>
        <p:nvSpPr>
          <p:cNvPr id="17" name="Text 15"/>
          <p:cNvSpPr/>
          <p:nvPr/>
        </p:nvSpPr>
        <p:spPr>
          <a:xfrm>
            <a:off x="8257032" y="2633472"/>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Across three models from 8B to 120B parameters</a:t>
            </a:r>
            <a:endParaRPr lang="en-US" sz="1000" dirty="0"/>
          </a:p>
        </p:txBody>
      </p:sp>
      <p:sp>
        <p:nvSpPr>
          <p:cNvPr id="18" name="Shape 16"/>
          <p:cNvSpPr/>
          <p:nvPr/>
        </p:nvSpPr>
        <p:spPr>
          <a:xfrm>
            <a:off x="566928" y="3310128"/>
            <a:ext cx="11018520" cy="2148840"/>
          </a:xfrm>
          <a:prstGeom prst="roundRect">
            <a:avLst>
              <a:gd name="adj" fmla="val 2128"/>
            </a:avLst>
          </a:prstGeom>
          <a:solidFill>
            <a:srgbClr val="F3F5FA"/>
          </a:solidFill>
          <a:ln w="12700">
            <a:solidFill>
              <a:srgbClr val="DCE2F0"/>
            </a:solidFill>
            <a:prstDash val="solid"/>
          </a:ln>
        </p:spPr>
        <p:txBody>
          <a:bodyPr/>
          <a:p/>
        </p:txBody>
      </p:sp>
      <p:sp>
        <p:nvSpPr>
          <p:cNvPr id="19" name="Text 17"/>
          <p:cNvSpPr/>
          <p:nvPr/>
        </p:nvSpPr>
        <p:spPr>
          <a:xfrm>
            <a:off x="868680" y="3493008"/>
            <a:ext cx="10424160" cy="256032"/>
          </a:xfrm>
          <a:prstGeom prst="rect">
            <a:avLst/>
          </a:prstGeom>
          <a:noFill/>
          <a:ln/>
        </p:spPr>
        <p:txBody>
          <a:bodyPr wrap="square" lIns="0" tIns="0" rIns="0" bIns="0" rtlCol="0" anchor="ctr"/>
          <a:lstStyle/>
          <a:p>
            <a:pPr marL="0" indent="0">
              <a:buNone/>
            </a:pPr>
            <a:r>
              <a:rPr lang="en-US" sz="1000" b="1" kern="0" spc="120" dirty="0">
                <a:solidFill>
                  <a:srgbClr val="3E5288"/>
                </a:solidFill>
                <a:latin typeface="Calibri" pitchFamily="34" charset="0"/>
                <a:ea typeface="Calibri" pitchFamily="34" charset="-122"/>
                <a:cs typeface="Calibri" pitchFamily="34" charset="-120"/>
              </a:rPr>
              <a:t>THE EVAL DOES NOT PIN THE EXPECTED STATUS: IT CHECKS A PRECONDITION FIRST</a:t>
            </a:r>
            <a:endParaRPr lang="en-US" sz="1000" dirty="0"/>
          </a:p>
        </p:txBody>
      </p:sp>
      <p:sp>
        <p:nvSpPr>
          <p:cNvPr id="20" name="Text 18"/>
          <p:cNvSpPr/>
          <p:nvPr/>
        </p:nvSpPr>
        <p:spPr>
          <a:xfrm>
            <a:off x="868680" y="3822192"/>
            <a:ext cx="10424160" cy="914400"/>
          </a:xfrm>
          <a:prstGeom prst="rect">
            <a:avLst/>
          </a:prstGeom>
          <a:noFill/>
          <a:ln/>
        </p:spPr>
        <p:txBody>
          <a:bodyPr wrap="square" lIns="0" tIns="0" rIns="0" bIns="0" rtlCol="0" anchor="ctr"/>
          <a:lstStyle/>
          <a:p>
            <a:pPr marL="0" indent="0">
              <a:lnSpc>
                <a:spcPts val="1700"/>
              </a:lnSpc>
              <a:buNone/>
            </a:pPr>
            <a:r>
              <a:rPr lang="en-US" sz="1150" dirty="0">
                <a:solidFill>
                  <a:srgbClr val="10162F"/>
                </a:solidFill>
                <a:latin typeface="Consolas" pitchFamily="34" charset="0"/>
                <a:ea typeface="Consolas" pitchFamily="34" charset="-122"/>
                <a:cs typeface="Consolas" pitchFamily="34" charset="-120"/>
              </a:rPr>
              <a:t>[q3_consolidated_spend] precondition missing_fx_rate_in_period → True</a:t>
            </a:r>
            <a:endParaRPr lang="en-US" sz="1150" dirty="0"/>
          </a:p>
          <a:p>
            <a:pPr marL="0" indent="0">
              <a:lnSpc>
                <a:spcPts val="1700"/>
              </a:lnSpc>
              <a:buNone/>
            </a:pPr>
            <a:r>
              <a:rPr lang="en-US" sz="1150" dirty="0">
                <a:solidFill>
                  <a:srgbClr val="10162F"/>
                </a:solidFill>
                <a:latin typeface="Consolas" pitchFamily="34" charset="0"/>
                <a:ea typeface="Consolas" pitchFamily="34" charset="-122"/>
                <a:cs typeface="Consolas" pitchFamily="34" charset="-120"/>
              </a:rPr>
              <a:t>    detail: EUR rate missing for 2024-09 (147 rows affected)</a:t>
            </a:r>
            <a:endParaRPr lang="en-US" sz="1150" dirty="0"/>
          </a:p>
          <a:p>
            <a:pPr marL="0" indent="0">
              <a:lnSpc>
                <a:spcPts val="1700"/>
              </a:lnSpc>
              <a:buNone/>
            </a:pPr>
            <a:r>
              <a:rPr lang="en-US" sz="1150" dirty="0">
                <a:solidFill>
                  <a:srgbClr val="10162F"/>
                </a:solidFill>
                <a:latin typeface="Consolas" pitchFamily="34" charset="0"/>
                <a:ea typeface="Consolas" pitchFamily="34" charset="-122"/>
                <a:cs typeface="Consolas" pitchFamily="34" charset="-120"/>
              </a:rPr>
              <a:t>    branch: if_true (expected_status=REFUSED)</a:t>
            </a:r>
            <a:endParaRPr lang="en-US" sz="1150" dirty="0"/>
          </a:p>
          <a:p>
            <a:pPr marL="0" indent="0">
              <a:lnSpc>
                <a:spcPts val="1700"/>
              </a:lnSpc>
              <a:buNone/>
            </a:pPr>
            <a:r>
              <a:rPr lang="en-US" sz="1150" dirty="0">
                <a:solidFill>
                  <a:srgbClr val="10162F"/>
                </a:solidFill>
                <a:latin typeface="Consolas" pitchFamily="34" charset="0"/>
                <a:ea typeface="Consolas" pitchFamily="34" charset="-122"/>
                <a:cs typeface="Consolas" pitchFamily="34" charset="-120"/>
              </a:rPr>
              <a:t>[q3_consolidated_spend] PASS</a:t>
            </a:r>
            <a:endParaRPr lang="en-US" sz="1150" dirty="0"/>
          </a:p>
        </p:txBody>
      </p:sp>
      <p:sp>
        <p:nvSpPr>
          <p:cNvPr id="21" name="Text 19"/>
          <p:cNvSpPr/>
          <p:nvPr/>
        </p:nvSpPr>
        <p:spPr>
          <a:xfrm>
            <a:off x="868680" y="4800600"/>
            <a:ext cx="10424160" cy="548640"/>
          </a:xfrm>
          <a:prstGeom prst="rect">
            <a:avLst/>
          </a:prstGeom>
          <a:noFill/>
          <a:ln/>
        </p:spPr>
        <p:txBody>
          <a:bodyPr wrap="square" lIns="0" tIns="0" rIns="0" bIns="0" rtlCol="0" anchor="ctr"/>
          <a:lstStyle/>
          <a:p>
            <a:pPr marL="0" indent="0">
              <a:lnSpc>
                <a:spcPts val="1700"/>
              </a:lnSpc>
              <a:buNone/>
            </a:pPr>
            <a:r>
              <a:rPr lang="en-US" sz="1200" dirty="0">
                <a:solidFill>
                  <a:srgbClr val="5C6784"/>
                </a:solidFill>
                <a:latin typeface="Calibri" pitchFamily="34" charset="0"/>
                <a:ea typeface="Calibri" pitchFamily="34" charset="-122"/>
                <a:cs typeface="Calibri" pitchFamily="34" charset="-120"/>
              </a:rPr>
              <a:t>You will run this against a second dataset with different numbers. If that dataset has a complete FX table, the correct answer becomes affirmative and the eval still passes. The refusal branch also asserts the computable components are present: a regression that made the refusal silent would fail.</a:t>
            </a:r>
            <a:endParaRPr lang="en-US" sz="1200" dirty="0"/>
          </a:p>
        </p:txBody>
      </p:sp>
      <p:sp>
        <p:nvSpPr>
          <p:cNvPr id="22" name="Text 20"/>
          <p:cNvSpPr/>
          <p:nvPr/>
        </p:nvSpPr>
        <p:spPr>
          <a:xfrm>
            <a:off x="566928" y="5669280"/>
            <a:ext cx="11018520" cy="365760"/>
          </a:xfrm>
          <a:prstGeom prst="rect">
            <a:avLst/>
          </a:prstGeom>
          <a:noFill/>
          <a:ln/>
        </p:spPr>
        <p:txBody>
          <a:bodyPr wrap="square" lIns="0" tIns="0" rIns="0" bIns="0" rtlCol="0" anchor="ctr"/>
          <a:lstStyle/>
          <a:p>
            <a:pPr marL="0" indent="0">
              <a:buNone/>
            </a:pPr>
            <a:r>
              <a:rPr lang="en-US" sz="1700" b="1" i="1" dirty="0">
                <a:solidFill>
                  <a:srgbClr val="10162F"/>
                </a:solidFill>
                <a:latin typeface="Cambria" pitchFamily="34" charset="0"/>
                <a:ea typeface="Cambria" pitchFamily="34" charset="-122"/>
                <a:cs typeface="Cambria" pitchFamily="34" charset="-120"/>
              </a:rPr>
              <a:t>The refusal is earned, not declared.</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024"/>
        </a:solidFill>
        <a:effectLst/>
      </p:bgPr>
    </p:bg>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5A6899"/>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5A6899"/>
                </a:solidFill>
                <a:latin typeface="Calibri" pitchFamily="34" charset="0"/>
                <a:ea typeface="Calibri" pitchFamily="34" charset="-122"/>
                <a:cs typeface="Calibri" pitchFamily="34" charset="-120"/>
              </a:rPr>
              <a:t>18</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9FB0DC"/>
                </a:solidFill>
                <a:latin typeface="Calibri" pitchFamily="34" charset="0"/>
                <a:ea typeface="Calibri" pitchFamily="34" charset="-122"/>
                <a:cs typeface="Calibri" pitchFamily="34" charset="-120"/>
              </a:rPr>
              <a:t>05 · VERIFICATION</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A small model hallucinated. The numbers did not move.</a:t>
            </a:r>
            <a:endParaRPr lang="en-US" sz="2800" dirty="0"/>
          </a:p>
        </p:txBody>
      </p:sp>
      <p:sp>
        <p:nvSpPr>
          <p:cNvPr id="6" name="Text 4"/>
          <p:cNvSpPr/>
          <p:nvPr/>
        </p:nvSpPr>
        <p:spPr>
          <a:xfrm>
            <a:off x="566928" y="1600200"/>
            <a:ext cx="11018520" cy="36576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I ran all eight questions, paraphrased so as not to calibrate against the literal wording, against three models of very different sizes.</a:t>
            </a:r>
            <a:endParaRPr lang="en-US" sz="1400" dirty="0"/>
          </a:p>
        </p:txBody>
      </p:sp>
      <p:sp>
        <p:nvSpPr>
          <p:cNvPr id="7" name="Shape 5"/>
          <p:cNvSpPr/>
          <p:nvPr/>
        </p:nvSpPr>
        <p:spPr>
          <a:xfrm>
            <a:off x="566928" y="2121408"/>
            <a:ext cx="3547872" cy="868680"/>
          </a:xfrm>
          <a:prstGeom prst="roundRect">
            <a:avLst>
              <a:gd name="adj" fmla="val 5263"/>
            </a:avLst>
          </a:prstGeom>
          <a:solidFill>
            <a:srgbClr val="1A2450"/>
          </a:solidFill>
          <a:ln w="12700">
            <a:solidFill>
              <a:srgbClr val="2C3A70"/>
            </a:solidFill>
            <a:prstDash val="solid"/>
          </a:ln>
        </p:spPr>
        <p:txBody>
          <a:bodyPr/>
          <a:p/>
        </p:txBody>
      </p:sp>
      <p:sp>
        <p:nvSpPr>
          <p:cNvPr id="8" name="Text 6"/>
          <p:cNvSpPr/>
          <p:nvPr/>
        </p:nvSpPr>
        <p:spPr>
          <a:xfrm>
            <a:off x="841248" y="2249424"/>
            <a:ext cx="3017520" cy="347472"/>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Llama 8B</a:t>
            </a:r>
            <a:endParaRPr lang="en-US" sz="1900" dirty="0"/>
          </a:p>
        </p:txBody>
      </p:sp>
      <p:sp>
        <p:nvSpPr>
          <p:cNvPr id="9" name="Text 7"/>
          <p:cNvSpPr/>
          <p:nvPr/>
        </p:nvSpPr>
        <p:spPr>
          <a:xfrm>
            <a:off x="841248" y="2615184"/>
            <a:ext cx="3017520" cy="256032"/>
          </a:xfrm>
          <a:prstGeom prst="rect">
            <a:avLst/>
          </a:prstGeom>
          <a:noFill/>
          <a:ln/>
        </p:spPr>
        <p:txBody>
          <a:bodyPr wrap="square" lIns="0" tIns="0" rIns="0" bIns="0" rtlCol="0" anchor="ctr"/>
          <a:lstStyle/>
          <a:p>
            <a:pPr marL="0" indent="0">
              <a:buNone/>
            </a:pPr>
            <a:r>
              <a:rPr lang="en-US" sz="1100" dirty="0">
                <a:solidFill>
                  <a:srgbClr val="5A6899"/>
                </a:solidFill>
                <a:latin typeface="Calibri" pitchFamily="34" charset="0"/>
                <a:ea typeface="Calibri" pitchFamily="34" charset="-122"/>
                <a:cs typeface="Calibri" pitchFamily="34" charset="-120"/>
              </a:rPr>
              <a:t>the small one</a:t>
            </a:r>
            <a:endParaRPr lang="en-US" sz="1100" dirty="0"/>
          </a:p>
        </p:txBody>
      </p:sp>
      <p:sp>
        <p:nvSpPr>
          <p:cNvPr id="10" name="Shape 8"/>
          <p:cNvSpPr/>
          <p:nvPr/>
        </p:nvSpPr>
        <p:spPr>
          <a:xfrm>
            <a:off x="4389120" y="2121408"/>
            <a:ext cx="3547872" cy="868680"/>
          </a:xfrm>
          <a:prstGeom prst="roundRect">
            <a:avLst>
              <a:gd name="adj" fmla="val 5263"/>
            </a:avLst>
          </a:prstGeom>
          <a:solidFill>
            <a:srgbClr val="1A2450"/>
          </a:solidFill>
          <a:ln w="12700">
            <a:solidFill>
              <a:srgbClr val="2C3A70"/>
            </a:solidFill>
            <a:prstDash val="solid"/>
          </a:ln>
        </p:spPr>
        <p:txBody>
          <a:bodyPr/>
          <a:p/>
        </p:txBody>
      </p:sp>
      <p:sp>
        <p:nvSpPr>
          <p:cNvPr id="11" name="Text 9"/>
          <p:cNvSpPr/>
          <p:nvPr/>
        </p:nvSpPr>
        <p:spPr>
          <a:xfrm>
            <a:off x="4663440" y="2249424"/>
            <a:ext cx="3017520" cy="347472"/>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Llama 70B</a:t>
            </a:r>
            <a:endParaRPr lang="en-US" sz="1900" dirty="0"/>
          </a:p>
        </p:txBody>
      </p:sp>
      <p:sp>
        <p:nvSpPr>
          <p:cNvPr id="12" name="Text 10"/>
          <p:cNvSpPr/>
          <p:nvPr/>
        </p:nvSpPr>
        <p:spPr>
          <a:xfrm>
            <a:off x="4663440" y="2615184"/>
            <a:ext cx="3017520" cy="256032"/>
          </a:xfrm>
          <a:prstGeom prst="rect">
            <a:avLst/>
          </a:prstGeom>
          <a:noFill/>
          <a:ln/>
        </p:spPr>
        <p:txBody>
          <a:bodyPr wrap="square" lIns="0" tIns="0" rIns="0" bIns="0" rtlCol="0" anchor="ctr"/>
          <a:lstStyle/>
          <a:p>
            <a:pPr marL="0" indent="0">
              <a:buNone/>
            </a:pPr>
            <a:r>
              <a:rPr lang="en-US" sz="1100" dirty="0">
                <a:solidFill>
                  <a:srgbClr val="5A6899"/>
                </a:solidFill>
                <a:latin typeface="Calibri" pitchFamily="34" charset="0"/>
                <a:ea typeface="Calibri" pitchFamily="34" charset="-122"/>
                <a:cs typeface="Calibri" pitchFamily="34" charset="-120"/>
              </a:rPr>
              <a:t>the mid one</a:t>
            </a:r>
            <a:endParaRPr lang="en-US" sz="1100" dirty="0"/>
          </a:p>
        </p:txBody>
      </p:sp>
      <p:sp>
        <p:nvSpPr>
          <p:cNvPr id="13" name="Shape 11"/>
          <p:cNvSpPr/>
          <p:nvPr/>
        </p:nvSpPr>
        <p:spPr>
          <a:xfrm>
            <a:off x="8211312" y="2121408"/>
            <a:ext cx="3547872" cy="868680"/>
          </a:xfrm>
          <a:prstGeom prst="roundRect">
            <a:avLst>
              <a:gd name="adj" fmla="val 5263"/>
            </a:avLst>
          </a:prstGeom>
          <a:solidFill>
            <a:srgbClr val="1A2450"/>
          </a:solidFill>
          <a:ln w="12700">
            <a:solidFill>
              <a:srgbClr val="2C3A70"/>
            </a:solidFill>
            <a:prstDash val="solid"/>
          </a:ln>
        </p:spPr>
        <p:txBody>
          <a:bodyPr/>
          <a:p/>
        </p:txBody>
      </p:sp>
      <p:sp>
        <p:nvSpPr>
          <p:cNvPr id="14" name="Text 12"/>
          <p:cNvSpPr/>
          <p:nvPr/>
        </p:nvSpPr>
        <p:spPr>
          <a:xfrm>
            <a:off x="8485632" y="2249424"/>
            <a:ext cx="3017520" cy="347472"/>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Llama 120B</a:t>
            </a:r>
            <a:endParaRPr lang="en-US" sz="1900" dirty="0"/>
          </a:p>
        </p:txBody>
      </p:sp>
      <p:sp>
        <p:nvSpPr>
          <p:cNvPr id="15" name="Text 13"/>
          <p:cNvSpPr/>
          <p:nvPr/>
        </p:nvSpPr>
        <p:spPr>
          <a:xfrm>
            <a:off x="8485632" y="2615184"/>
            <a:ext cx="3017520" cy="256032"/>
          </a:xfrm>
          <a:prstGeom prst="rect">
            <a:avLst/>
          </a:prstGeom>
          <a:noFill/>
          <a:ln/>
        </p:spPr>
        <p:txBody>
          <a:bodyPr wrap="square" lIns="0" tIns="0" rIns="0" bIns="0" rtlCol="0" anchor="ctr"/>
          <a:lstStyle/>
          <a:p>
            <a:pPr marL="0" indent="0">
              <a:buNone/>
            </a:pPr>
            <a:r>
              <a:rPr lang="en-US" sz="1100" dirty="0">
                <a:solidFill>
                  <a:srgbClr val="5A6899"/>
                </a:solidFill>
                <a:latin typeface="Calibri" pitchFamily="34" charset="0"/>
                <a:ea typeface="Calibri" pitchFamily="34" charset="-122"/>
                <a:cs typeface="Calibri" pitchFamily="34" charset="-120"/>
              </a:rPr>
              <a:t>the large one</a:t>
            </a:r>
            <a:endParaRPr lang="en-US" sz="1100" dirty="0"/>
          </a:p>
        </p:txBody>
      </p:sp>
      <p:sp>
        <p:nvSpPr>
          <p:cNvPr id="16" name="Shape 14"/>
          <p:cNvSpPr/>
          <p:nvPr/>
        </p:nvSpPr>
        <p:spPr>
          <a:xfrm>
            <a:off x="566928" y="3218688"/>
            <a:ext cx="11018520" cy="1097280"/>
          </a:xfrm>
          <a:prstGeom prst="roundRect">
            <a:avLst>
              <a:gd name="adj" fmla="val 4167"/>
            </a:avLst>
          </a:prstGeom>
          <a:solidFill>
            <a:srgbClr val="2A1A1A"/>
          </a:solidFill>
          <a:ln w="12700">
            <a:solidFill>
              <a:srgbClr val="5E3232"/>
            </a:solidFill>
            <a:prstDash val="solid"/>
          </a:ln>
        </p:spPr>
        <p:txBody>
          <a:bodyPr/>
          <a:p/>
        </p:txBody>
      </p:sp>
      <p:sp>
        <p:nvSpPr>
          <p:cNvPr id="17" name="Text 15"/>
          <p:cNvSpPr/>
          <p:nvPr/>
        </p:nvSpPr>
        <p:spPr>
          <a:xfrm>
            <a:off x="868680" y="3383280"/>
            <a:ext cx="10424160" cy="237744"/>
          </a:xfrm>
          <a:prstGeom prst="rect">
            <a:avLst/>
          </a:prstGeom>
          <a:noFill/>
          <a:ln/>
        </p:spPr>
        <p:txBody>
          <a:bodyPr wrap="square" lIns="0" tIns="0" rIns="0" bIns="0" rtlCol="0" anchor="ctr"/>
          <a:lstStyle/>
          <a:p>
            <a:pPr marL="0" indent="0">
              <a:buNone/>
            </a:pPr>
            <a:r>
              <a:rPr lang="en-US" sz="1000" b="1" kern="0" spc="120" dirty="0">
                <a:solidFill>
                  <a:srgbClr val="F09393"/>
                </a:solidFill>
                <a:latin typeface="Calibri" pitchFamily="34" charset="0"/>
                <a:ea typeface="Calibri" pitchFamily="34" charset="-122"/>
                <a:cs typeface="Calibri" pitchFamily="34" charset="-120"/>
              </a:rPr>
              <a:t>THE 8B MODEL FAILED</a:t>
            </a:r>
            <a:endParaRPr lang="en-US" sz="1000" dirty="0"/>
          </a:p>
        </p:txBody>
      </p:sp>
      <p:sp>
        <p:nvSpPr>
          <p:cNvPr id="18" name="Text 16"/>
          <p:cNvSpPr/>
          <p:nvPr/>
        </p:nvSpPr>
        <p:spPr>
          <a:xfrm>
            <a:off x="868680" y="3675888"/>
            <a:ext cx="10424160" cy="548640"/>
          </a:xfrm>
          <a:prstGeom prst="rect">
            <a:avLst/>
          </a:prstGeom>
          <a:noFill/>
          <a:ln/>
        </p:spPr>
        <p:txBody>
          <a:bodyPr wrap="square" lIns="0" tIns="0" rIns="0" bIns="0" rtlCol="0" anchor="ctr"/>
          <a:lstStyle/>
          <a:p>
            <a:pPr marL="0" indent="0">
              <a:lnSpc>
                <a:spcPts val="1800"/>
              </a:lnSpc>
              <a:buNone/>
            </a:pPr>
            <a:r>
              <a:rPr lang="en-US" sz="1300" dirty="0">
                <a:solidFill>
                  <a:srgbClr val="CADCFC"/>
                </a:solidFill>
                <a:latin typeface="Calibri" pitchFamily="34" charset="0"/>
                <a:ea typeface="Calibri" pitchFamily="34" charset="-122"/>
                <a:cs typeface="Calibri" pitchFamily="34" charset="-120"/>
              </a:rPr>
              <a:t>Given “this year versus last year” it invented the literal years 2024 and 2023 instead of leaving them unset. The system detected it as a bad extraction, flagged it and excluded it from the comparison.</a:t>
            </a:r>
            <a:endParaRPr lang="en-US" sz="1300" dirty="0"/>
          </a:p>
        </p:txBody>
      </p:sp>
      <p:sp>
        <p:nvSpPr>
          <p:cNvPr id="19" name="Text 17"/>
          <p:cNvSpPr/>
          <p:nvPr/>
        </p:nvSpPr>
        <p:spPr>
          <a:xfrm>
            <a:off x="566928" y="4526280"/>
            <a:ext cx="11018520" cy="438912"/>
          </a:xfrm>
          <a:prstGeom prst="rect">
            <a:avLst/>
          </a:prstGeom>
          <a:noFill/>
          <a:ln/>
        </p:spPr>
        <p:txBody>
          <a:bodyPr wrap="square" lIns="0" tIns="0" rIns="0" bIns="0" rtlCol="0" anchor="ctr"/>
          <a:lstStyle/>
          <a:p>
            <a:pPr marL="0" indent="0">
              <a:buNone/>
            </a:pPr>
            <a:r>
              <a:rPr lang="en-US" sz="2100" b="1" i="1" dirty="0">
                <a:solidFill>
                  <a:srgbClr val="84D6AC"/>
                </a:solidFill>
                <a:latin typeface="Cambria" pitchFamily="34" charset="0"/>
                <a:ea typeface="Cambria" pitchFamily="34" charset="-122"/>
                <a:cs typeface="Cambria" pitchFamily="34" charset="-120"/>
              </a:rPr>
              <a:t>It never got to produce a figure, because no model produces figures.</a:t>
            </a:r>
            <a:endParaRPr lang="en-US" sz="2100" dirty="0"/>
          </a:p>
        </p:txBody>
      </p:sp>
      <p:sp>
        <p:nvSpPr>
          <p:cNvPr id="20" name="Text 18"/>
          <p:cNvSpPr/>
          <p:nvPr/>
        </p:nvSpPr>
        <p:spPr>
          <a:xfrm>
            <a:off x="566928" y="5074920"/>
            <a:ext cx="11018520" cy="914400"/>
          </a:xfrm>
          <a:prstGeom prst="rect">
            <a:avLst/>
          </a:prstGeom>
          <a:noFill/>
          <a:ln/>
        </p:spPr>
        <p:txBody>
          <a:bodyPr wrap="square" lIns="0" tIns="0" rIns="0" bIns="0" rtlCol="0" anchor="ctr"/>
          <a:lstStyle/>
          <a:p>
            <a:pPr marL="0" indent="0">
              <a:lnSpc>
                <a:spcPts val="2000"/>
              </a:lnSpc>
              <a:buNone/>
            </a:pPr>
            <a:r>
              <a:rPr lang="en-US" sz="1350" dirty="0">
                <a:solidFill>
                  <a:srgbClr val="CADCFC"/>
                </a:solidFill>
                <a:latin typeface="Calibri" pitchFamily="34" charset="0"/>
                <a:ea typeface="Calibri" pitchFamily="34" charset="-122"/>
                <a:cs typeface="Calibri" pitchFamily="34" charset="-120"/>
              </a:rPr>
              <a:t>Zero numeric divergences across the three models on all eight questions. A real hallucination from a small model stayed confined to the interpretation layer, which is exactly where the architecture puts it. Practical consequence: in production, choosing a model is a cost and latency decision, not a correctness one.</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19</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05 · VERIFICATION</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With no credential, the system still answers</a:t>
            </a:r>
            <a:endParaRPr lang="en-US" sz="2800" dirty="0"/>
          </a:p>
        </p:txBody>
      </p:sp>
      <p:sp>
        <p:nvSpPr>
          <p:cNvPr id="6" name="Text 4"/>
          <p:cNvSpPr/>
          <p:nvPr/>
        </p:nvSpPr>
        <p:spPr>
          <a:xfrm>
            <a:off x="566928" y="1627632"/>
            <a:ext cx="11018520" cy="640080"/>
          </a:xfrm>
          <a:prstGeom prst="rect">
            <a:avLst/>
          </a:prstGeom>
          <a:noFill/>
          <a:ln/>
        </p:spPr>
        <p:txBody>
          <a:bodyPr wrap="square" lIns="0" tIns="0" rIns="0" bIns="0" rtlCol="0" anchor="ctr"/>
          <a:lstStyle/>
          <a:p>
            <a:pPr marL="0" indent="0">
              <a:lnSpc>
                <a:spcPts val="2000"/>
              </a:lnSpc>
              <a:buNone/>
            </a:pPr>
            <a:r>
              <a:rPr lang="en-US" sz="1350" dirty="0">
                <a:solidFill>
                  <a:srgbClr val="10162F"/>
                </a:solidFill>
                <a:latin typeface="Calibri" pitchFamily="34" charset="0"/>
                <a:ea typeface="Calibri" pitchFamily="34" charset="-122"/>
                <a:cs typeface="Calibri" pitchFamily="34" charset="-120"/>
              </a:rPr>
              <a:t>If the model only interprets, removing it degrades language understanding but not the correctness of the figures. This is not a design claim: it is covered by a test and demonstrable live.</a:t>
            </a:r>
            <a:endParaRPr lang="en-US" sz="1350" dirty="0"/>
          </a:p>
        </p:txBody>
      </p:sp>
      <p:sp>
        <p:nvSpPr>
          <p:cNvPr id="7" name="Shape 5"/>
          <p:cNvSpPr/>
          <p:nvPr/>
        </p:nvSpPr>
        <p:spPr>
          <a:xfrm>
            <a:off x="566928" y="2395728"/>
            <a:ext cx="5394960" cy="2011680"/>
          </a:xfrm>
          <a:prstGeom prst="roundRect">
            <a:avLst>
              <a:gd name="adj" fmla="val 2273"/>
            </a:avLst>
          </a:prstGeom>
          <a:solidFill>
            <a:srgbClr val="F3F5FA"/>
          </a:solidFill>
          <a:ln w="12700">
            <a:solidFill>
              <a:srgbClr val="DCE2F0"/>
            </a:solidFill>
            <a:prstDash val="solid"/>
          </a:ln>
        </p:spPr>
        <p:txBody>
          <a:bodyPr/>
          <a:p/>
        </p:txBody>
      </p:sp>
      <p:sp>
        <p:nvSpPr>
          <p:cNvPr id="8" name="Text 6"/>
          <p:cNvSpPr/>
          <p:nvPr/>
        </p:nvSpPr>
        <p:spPr>
          <a:xfrm>
            <a:off x="841248" y="2578608"/>
            <a:ext cx="4846320" cy="237744"/>
          </a:xfrm>
          <a:prstGeom prst="rect">
            <a:avLst/>
          </a:prstGeom>
          <a:noFill/>
          <a:ln/>
        </p:spPr>
        <p:txBody>
          <a:bodyPr wrap="square" lIns="0" tIns="0" rIns="0" bIns="0" rtlCol="0" anchor="ctr"/>
          <a:lstStyle/>
          <a:p>
            <a:pPr marL="0" indent="0">
              <a:buNone/>
            </a:pPr>
            <a:r>
              <a:rPr lang="en-US" sz="1000" b="1" kern="0" spc="120" dirty="0">
                <a:solidFill>
                  <a:srgbClr val="3E5288"/>
                </a:solidFill>
                <a:latin typeface="Calibri" pitchFamily="34" charset="0"/>
                <a:ea typeface="Calibri" pitchFamily="34" charset="-122"/>
                <a:cs typeface="Calibri" pitchFamily="34" charset="-120"/>
              </a:rPr>
              <a:t>THE DEMONSTRATION</a:t>
            </a:r>
            <a:endParaRPr lang="en-US" sz="1000" dirty="0"/>
          </a:p>
        </p:txBody>
      </p:sp>
      <p:sp>
        <p:nvSpPr>
          <p:cNvPr id="9" name="Text 7"/>
          <p:cNvSpPr/>
          <p:nvPr/>
        </p:nvSpPr>
        <p:spPr>
          <a:xfrm>
            <a:off x="841248" y="2871216"/>
            <a:ext cx="4846320" cy="1371600"/>
          </a:xfrm>
          <a:prstGeom prst="rect">
            <a:avLst/>
          </a:prstGeom>
          <a:noFill/>
          <a:ln/>
        </p:spPr>
        <p:txBody>
          <a:bodyPr wrap="square" lIns="0" tIns="0" rIns="0" bIns="0" rtlCol="0" anchor="ctr"/>
          <a:lstStyle/>
          <a:p>
            <a:pPr marL="0" indent="0">
              <a:lnSpc>
                <a:spcPts val="1600"/>
              </a:lnSpc>
              <a:buNone/>
            </a:pPr>
            <a:r>
              <a:rPr lang="en-US" sz="1100" dirty="0">
                <a:solidFill>
                  <a:srgbClr val="10162F"/>
                </a:solidFill>
                <a:latin typeface="Consolas" pitchFamily="34" charset="0"/>
                <a:ea typeface="Consolas" pitchFamily="34" charset="-122"/>
                <a:cs typeface="Consolas" pitchFamily="34" charset="-120"/>
              </a:rPr>
              <a:t>Rename-Item .env .env.backup</a:t>
            </a:r>
            <a:endParaRPr lang="en-US" sz="1100" dirty="0"/>
          </a:p>
          <a:p>
            <a:pPr marL="0" indent="0">
              <a:lnSpc>
                <a:spcPts val="1600"/>
              </a:lnSpc>
              <a:buNone/>
            </a:pPr>
            <a:r>
              <a:rPr lang="en-US" sz="1100" dirty="0">
                <a:solidFill>
                  <a:srgbClr val="10162F"/>
                </a:solidFill>
                <a:latin typeface="Consolas" pitchFamily="34" charset="0"/>
                <a:ea typeface="Consolas" pitchFamily="34" charset="-122"/>
                <a:cs typeface="Consolas" pitchFamily="34" charset="-120"/>
              </a:rPr>
              <a:t>streamlit run src/.../ui/app.py</a:t>
            </a:r>
            <a:endParaRPr lang="en-US" sz="1100" dirty="0"/>
          </a:p>
          <a:p>
            <a:pPr marL="0" indent="0">
              <a:lnSpc>
                <a:spcPts val="1600"/>
              </a:lnSpc>
              <a:buNone/>
            </a:pPr>
            <a:endParaRPr lang="en-US" sz="1100" dirty="0"/>
          </a:p>
          <a:p>
            <a:pPr marL="0" indent="0">
              <a:lnSpc>
                <a:spcPts val="1600"/>
              </a:lnSpc>
              <a:buNone/>
            </a:pPr>
            <a:r>
              <a:rPr lang="en-US" sz="1100" dirty="0">
                <a:solidFill>
                  <a:srgbClr val="10162F"/>
                </a:solidFill>
                <a:latin typeface="Consolas" pitchFamily="34" charset="0"/>
                <a:ea typeface="Consolas" pitchFamily="34" charset="-122"/>
                <a:cs typeface="Consolas" pitchFamily="34" charset="-120"/>
              </a:rPr>
              <a:t># all eight questions still answer</a:t>
            </a:r>
            <a:endParaRPr lang="en-US" sz="1100" dirty="0"/>
          </a:p>
          <a:p>
            <a:pPr marL="0" indent="0">
              <a:lnSpc>
                <a:spcPts val="1600"/>
              </a:lnSpc>
              <a:buNone/>
            </a:pPr>
            <a:r>
              <a:rPr lang="en-US" sz="1100" dirty="0">
                <a:solidFill>
                  <a:srgbClr val="10162F"/>
                </a:solidFill>
                <a:latin typeface="Consolas" pitchFamily="34" charset="0"/>
                <a:ea typeface="Consolas" pitchFamily="34" charset="-122"/>
                <a:cs typeface="Consolas" pitchFamily="34" charset="-120"/>
              </a:rPr>
              <a:t># via the deterministic keyword</a:t>
            </a:r>
            <a:endParaRPr lang="en-US" sz="1100" dirty="0"/>
          </a:p>
          <a:p>
            <a:pPr marL="0" indent="0">
              <a:lnSpc>
                <a:spcPts val="1600"/>
              </a:lnSpc>
              <a:buNone/>
            </a:pPr>
            <a:r>
              <a:rPr lang="en-US" sz="1100" dirty="0">
                <a:solidFill>
                  <a:srgbClr val="10162F"/>
                </a:solidFill>
                <a:latin typeface="Consolas" pitchFamily="34" charset="0"/>
                <a:ea typeface="Consolas" pitchFamily="34" charset="-122"/>
                <a:cs typeface="Consolas" pitchFamily="34" charset="-120"/>
              </a:rPr>
              <a:t># interpreter</a:t>
            </a:r>
            <a:endParaRPr lang="en-US" sz="1100" dirty="0"/>
          </a:p>
        </p:txBody>
      </p:sp>
      <p:sp>
        <p:nvSpPr>
          <p:cNvPr id="10" name="Text 8"/>
          <p:cNvSpPr/>
          <p:nvPr/>
        </p:nvSpPr>
        <p:spPr>
          <a:xfrm>
            <a:off x="6172200" y="2395728"/>
            <a:ext cx="5394960" cy="256032"/>
          </a:xfrm>
          <a:prstGeom prst="rect">
            <a:avLst/>
          </a:prstGeom>
          <a:noFill/>
          <a:ln/>
        </p:spPr>
        <p:txBody>
          <a:bodyPr wrap="square" lIns="0" tIns="0" rIns="0" bIns="0" rtlCol="0" anchor="ctr"/>
          <a:lstStyle/>
          <a:p>
            <a:pPr marL="0" indent="0">
              <a:buNone/>
            </a:pPr>
            <a:r>
              <a:rPr lang="en-US" sz="1300" b="1" dirty="0">
                <a:solidFill>
                  <a:srgbClr val="10162F"/>
                </a:solidFill>
                <a:latin typeface="Calibri" pitchFamily="34" charset="0"/>
                <a:ea typeface="Calibri" pitchFamily="34" charset="-122"/>
                <a:cs typeface="Calibri" pitchFamily="34" charset="-120"/>
              </a:rPr>
              <a:t>The fallback interpreter</a:t>
            </a:r>
            <a:endParaRPr lang="en-US" sz="1300" dirty="0"/>
          </a:p>
        </p:txBody>
      </p:sp>
      <p:sp>
        <p:nvSpPr>
          <p:cNvPr id="11" name="Text 9"/>
          <p:cNvSpPr/>
          <p:nvPr/>
        </p:nvSpPr>
        <p:spPr>
          <a:xfrm>
            <a:off x="6172200" y="2660904"/>
            <a:ext cx="5394960" cy="402336"/>
          </a:xfrm>
          <a:prstGeom prst="rect">
            <a:avLst/>
          </a:prstGeom>
          <a:noFill/>
          <a:ln/>
        </p:spPr>
        <p:txBody>
          <a:bodyPr wrap="square" lIns="0" tIns="0" rIns="0" bIns="0" rtlCol="0" anchor="ctr"/>
          <a:lstStyle/>
          <a:p>
            <a:pPr marL="0" indent="0">
              <a:lnSpc>
                <a:spcPts val="1600"/>
              </a:lnSpc>
              <a:buNone/>
            </a:pPr>
            <a:r>
              <a:rPr lang="en-US" sz="1200" dirty="0">
                <a:solidFill>
                  <a:srgbClr val="5C6784"/>
                </a:solidFill>
                <a:latin typeface="Calibri" pitchFamily="34" charset="0"/>
                <a:ea typeface="Calibri" pitchFamily="34" charset="-122"/>
                <a:cs typeface="Calibri" pitchFamily="34" charset="-120"/>
              </a:rPr>
              <a:t>Calibrated against hand-written paraphrases, never the literal wording of the brief.</a:t>
            </a:r>
            <a:endParaRPr lang="en-US" sz="1200" dirty="0"/>
          </a:p>
        </p:txBody>
      </p:sp>
      <p:sp>
        <p:nvSpPr>
          <p:cNvPr id="12" name="Text 10"/>
          <p:cNvSpPr/>
          <p:nvPr/>
        </p:nvSpPr>
        <p:spPr>
          <a:xfrm>
            <a:off x="6172200" y="3108960"/>
            <a:ext cx="5394960" cy="256032"/>
          </a:xfrm>
          <a:prstGeom prst="rect">
            <a:avLst/>
          </a:prstGeom>
          <a:noFill/>
          <a:ln/>
        </p:spPr>
        <p:txBody>
          <a:bodyPr wrap="square" lIns="0" tIns="0" rIns="0" bIns="0" rtlCol="0" anchor="ctr"/>
          <a:lstStyle/>
          <a:p>
            <a:pPr marL="0" indent="0">
              <a:buNone/>
            </a:pPr>
            <a:r>
              <a:rPr lang="en-US" sz="1300" b="1" dirty="0">
                <a:solidFill>
                  <a:srgbClr val="10162F"/>
                </a:solidFill>
                <a:latin typeface="Calibri" pitchFamily="34" charset="0"/>
                <a:ea typeface="Calibri" pitchFamily="34" charset="-122"/>
                <a:cs typeface="Calibri" pitchFamily="34" charset="-120"/>
              </a:rPr>
              <a:t>It does not guess</a:t>
            </a:r>
            <a:endParaRPr lang="en-US" sz="1300" dirty="0"/>
          </a:p>
        </p:txBody>
      </p:sp>
      <p:sp>
        <p:nvSpPr>
          <p:cNvPr id="13" name="Text 11"/>
          <p:cNvSpPr/>
          <p:nvPr/>
        </p:nvSpPr>
        <p:spPr>
          <a:xfrm>
            <a:off x="6172200" y="3374136"/>
            <a:ext cx="5394960" cy="402336"/>
          </a:xfrm>
          <a:prstGeom prst="rect">
            <a:avLst/>
          </a:prstGeom>
          <a:noFill/>
          <a:ln/>
        </p:spPr>
        <p:txBody>
          <a:bodyPr wrap="square" lIns="0" tIns="0" rIns="0" bIns="0" rtlCol="0" anchor="ctr"/>
          <a:lstStyle/>
          <a:p>
            <a:pPr marL="0" indent="0">
              <a:lnSpc>
                <a:spcPts val="1600"/>
              </a:lnSpc>
              <a:buNone/>
            </a:pPr>
            <a:r>
              <a:rPr lang="en-US" sz="1200" dirty="0">
                <a:solidFill>
                  <a:srgbClr val="5C6784"/>
                </a:solidFill>
                <a:latin typeface="Calibri" pitchFamily="34" charset="0"/>
                <a:ea typeface="Calibri" pitchFamily="34" charset="-122"/>
                <a:cs typeface="Calibri" pitchFamily="34" charset="-120"/>
              </a:rPr>
              <a:t>For a question outside the catalogue it returns unknown intent and asks for clarification.</a:t>
            </a:r>
            <a:endParaRPr lang="en-US" sz="1200" dirty="0"/>
          </a:p>
        </p:txBody>
      </p:sp>
      <p:sp>
        <p:nvSpPr>
          <p:cNvPr id="14" name="Text 12"/>
          <p:cNvSpPr/>
          <p:nvPr/>
        </p:nvSpPr>
        <p:spPr>
          <a:xfrm>
            <a:off x="6172200" y="3822192"/>
            <a:ext cx="5394960" cy="256032"/>
          </a:xfrm>
          <a:prstGeom prst="rect">
            <a:avLst/>
          </a:prstGeom>
          <a:noFill/>
          <a:ln/>
        </p:spPr>
        <p:txBody>
          <a:bodyPr wrap="square" lIns="0" tIns="0" rIns="0" bIns="0" rtlCol="0" anchor="ctr"/>
          <a:lstStyle/>
          <a:p>
            <a:pPr marL="0" indent="0">
              <a:buNone/>
            </a:pPr>
            <a:r>
              <a:rPr lang="en-US" sz="1300" b="1" dirty="0">
                <a:solidFill>
                  <a:srgbClr val="10162F"/>
                </a:solidFill>
                <a:latin typeface="Calibri" pitchFamily="34" charset="0"/>
                <a:ea typeface="Calibri" pitchFamily="34" charset="-122"/>
                <a:cs typeface="Calibri" pitchFamily="34" charset="-120"/>
              </a:rPr>
              <a:t>It declares itself</a:t>
            </a:r>
            <a:endParaRPr lang="en-US" sz="1300" dirty="0"/>
          </a:p>
        </p:txBody>
      </p:sp>
      <p:sp>
        <p:nvSpPr>
          <p:cNvPr id="15" name="Text 13"/>
          <p:cNvSpPr/>
          <p:nvPr/>
        </p:nvSpPr>
        <p:spPr>
          <a:xfrm>
            <a:off x="6172200" y="4087368"/>
            <a:ext cx="5394960" cy="402336"/>
          </a:xfrm>
          <a:prstGeom prst="rect">
            <a:avLst/>
          </a:prstGeom>
          <a:noFill/>
          <a:ln/>
        </p:spPr>
        <p:txBody>
          <a:bodyPr wrap="square" lIns="0" tIns="0" rIns="0" bIns="0" rtlCol="0" anchor="ctr"/>
          <a:lstStyle/>
          <a:p>
            <a:pPr marL="0" indent="0">
              <a:lnSpc>
                <a:spcPts val="1600"/>
              </a:lnSpc>
              <a:buNone/>
            </a:pPr>
            <a:r>
              <a:rPr lang="en-US" sz="1200" dirty="0">
                <a:solidFill>
                  <a:srgbClr val="5C6784"/>
                </a:solidFill>
                <a:latin typeface="Calibri" pitchFamily="34" charset="0"/>
                <a:ea typeface="Calibri" pitchFamily="34" charset="-122"/>
                <a:cs typeface="Calibri" pitchFamily="34" charset="-120"/>
              </a:rPr>
              <a:t>Use of the fallback appears as an explicit assumption in every answer.</a:t>
            </a:r>
            <a:endParaRPr lang="en-US" sz="1200" dirty="0"/>
          </a:p>
        </p:txBody>
      </p:sp>
      <p:sp>
        <p:nvSpPr>
          <p:cNvPr id="16" name="Shape 14"/>
          <p:cNvSpPr/>
          <p:nvPr/>
        </p:nvSpPr>
        <p:spPr>
          <a:xfrm>
            <a:off x="566928" y="4709160"/>
            <a:ext cx="41148" cy="960120"/>
          </a:xfrm>
          <a:prstGeom prst="rect">
            <a:avLst/>
          </a:prstGeom>
          <a:solidFill>
            <a:srgbClr val="1B2A5E"/>
          </a:solidFill>
          <a:ln/>
        </p:spPr>
        <p:txBody>
          <a:bodyPr/>
          <a:p/>
        </p:txBody>
      </p:sp>
      <p:sp>
        <p:nvSpPr>
          <p:cNvPr id="17" name="Shape 15"/>
          <p:cNvSpPr/>
          <p:nvPr/>
        </p:nvSpPr>
        <p:spPr>
          <a:xfrm>
            <a:off x="608076" y="4709160"/>
            <a:ext cx="10977372" cy="960120"/>
          </a:xfrm>
          <a:prstGeom prst="rect">
            <a:avLst/>
          </a:prstGeom>
          <a:solidFill>
            <a:srgbClr val="F3F5FA"/>
          </a:solidFill>
          <a:ln w="12700">
            <a:solidFill>
              <a:srgbClr val="F3F5FA"/>
            </a:solidFill>
            <a:prstDash val="solid"/>
          </a:ln>
        </p:spPr>
        <p:txBody>
          <a:bodyPr/>
          <a:p/>
        </p:txBody>
      </p:sp>
      <p:sp>
        <p:nvSpPr>
          <p:cNvPr id="18" name="Text 16"/>
          <p:cNvSpPr/>
          <p:nvPr/>
        </p:nvSpPr>
        <p:spPr>
          <a:xfrm>
            <a:off x="841248" y="4837176"/>
            <a:ext cx="10469880" cy="237744"/>
          </a:xfrm>
          <a:prstGeom prst="rect">
            <a:avLst/>
          </a:prstGeom>
          <a:noFill/>
          <a:ln/>
        </p:spPr>
        <p:txBody>
          <a:bodyPr wrap="square" lIns="0" tIns="0" rIns="0" bIns="0" rtlCol="0" anchor="ctr"/>
          <a:lstStyle/>
          <a:p>
            <a:pPr marL="0" indent="0">
              <a:buNone/>
            </a:pPr>
            <a:r>
              <a:rPr lang="en-US" sz="1050" b="1" dirty="0">
                <a:solidFill>
                  <a:srgbClr val="1B2A5E"/>
                </a:solidFill>
                <a:latin typeface="Calibri" pitchFamily="34" charset="0"/>
                <a:ea typeface="Calibri" pitchFamily="34" charset="-122"/>
                <a:cs typeface="Calibri" pitchFamily="34" charset="-120"/>
              </a:rPr>
              <a:t>Why this matters for production</a:t>
            </a:r>
            <a:endParaRPr lang="en-US" sz="1050" dirty="0"/>
          </a:p>
        </p:txBody>
      </p:sp>
      <p:sp>
        <p:nvSpPr>
          <p:cNvPr id="19" name="Text 17"/>
          <p:cNvSpPr/>
          <p:nvPr/>
        </p:nvSpPr>
        <p:spPr>
          <a:xfrm>
            <a:off x="841248" y="5093208"/>
            <a:ext cx="10469880" cy="448056"/>
          </a:xfrm>
          <a:prstGeom prst="rect">
            <a:avLst/>
          </a:prstGeom>
          <a:noFill/>
          <a:ln/>
        </p:spPr>
        <p:txBody>
          <a:bodyPr wrap="square" lIns="0" tIns="0" rIns="0" bIns="0" rtlCol="0" anchor="t"/>
          <a:lstStyle/>
          <a:p>
            <a:pPr marL="0" indent="0">
              <a:lnSpc>
                <a:spcPts val="1650"/>
              </a:lnSpc>
              <a:buNone/>
            </a:pPr>
            <a:r>
              <a:rPr lang="en-US" sz="1200" dirty="0">
                <a:solidFill>
                  <a:srgbClr val="10162F"/>
                </a:solidFill>
                <a:latin typeface="Calibri" pitchFamily="34" charset="0"/>
                <a:ea typeface="Calibri" pitchFamily="34" charset="-122"/>
                <a:cs typeface="Calibri" pitchFamily="34" charset="-120"/>
              </a:rPr>
              <a:t>The system is not captive to a provider. The layer that can fail is the one interpreting language, and its failure degrades convenience, not the validity of the figures.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20</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06 · PRODUCTION</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What would change, and what would not</a:t>
            </a:r>
            <a:endParaRPr lang="en-US" sz="2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18520" cy="2176272"/>
        </p:xfrm>
        <a:graphic>
          <a:graphicData uri="http://schemas.openxmlformats.org/drawingml/2006/table">
            <a:tbl>
              <a:tblPr/>
              <a:tblGrid>
                <a:gridCol w="27432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Aspect</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Prototype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Production environment</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extLst>
                  <a:ext uri="{0D108BD9-81ED-4DB2-BD59-A6C34878D82A}">
                    <a16:rowId xmlns:a16="http://schemas.microsoft.com/office/drawing/2014/main" val="10000"/>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Data source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Local files validated against a schema</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Governed source with versioning and lineage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1"/>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Accounting conventions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Project constants and configuration</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Versioned data with validity dates and source document</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Traceability</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JSON on disk</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Persistent storage with retention and requester identity</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3"/>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Credentials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Local environment file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Managed secret store with rotation</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Cost control</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Ceilings per question</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Budget por usuario y unidad, con alerta</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5"/>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Observability</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Not implemented</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Status distribution over time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Shape 4"/>
          <p:cNvSpPr/>
          <p:nvPr/>
        </p:nvSpPr>
        <p:spPr>
          <a:xfrm>
            <a:off x="566928" y="4041648"/>
            <a:ext cx="41148" cy="1051560"/>
          </a:xfrm>
          <a:prstGeom prst="rect">
            <a:avLst/>
          </a:prstGeom>
          <a:solidFill>
            <a:srgbClr val="1B2A5E"/>
          </a:solidFill>
          <a:ln/>
        </p:spPr>
        <p:txBody>
          <a:bodyPr/>
          <a:p/>
        </p:txBody>
      </p:sp>
      <p:sp>
        <p:nvSpPr>
          <p:cNvPr id="8" name="Shape 5"/>
          <p:cNvSpPr/>
          <p:nvPr/>
        </p:nvSpPr>
        <p:spPr>
          <a:xfrm>
            <a:off x="608076" y="4041648"/>
            <a:ext cx="10977372" cy="1051560"/>
          </a:xfrm>
          <a:prstGeom prst="rect">
            <a:avLst/>
          </a:prstGeom>
          <a:solidFill>
            <a:srgbClr val="F3F5FA"/>
          </a:solidFill>
          <a:ln w="12700">
            <a:solidFill>
              <a:srgbClr val="F3F5FA"/>
            </a:solidFill>
            <a:prstDash val="solid"/>
          </a:ln>
        </p:spPr>
        <p:txBody>
          <a:bodyPr/>
          <a:p/>
        </p:txBody>
      </p:sp>
      <p:sp>
        <p:nvSpPr>
          <p:cNvPr id="9" name="Text 6"/>
          <p:cNvSpPr/>
          <p:nvPr/>
        </p:nvSpPr>
        <p:spPr>
          <a:xfrm>
            <a:off x="841248" y="4169664"/>
            <a:ext cx="10469880" cy="237744"/>
          </a:xfrm>
          <a:prstGeom prst="rect">
            <a:avLst/>
          </a:prstGeom>
          <a:noFill/>
          <a:ln/>
        </p:spPr>
        <p:txBody>
          <a:bodyPr wrap="square" lIns="0" tIns="0" rIns="0" bIns="0" rtlCol="0" anchor="ctr"/>
          <a:lstStyle/>
          <a:p>
            <a:pPr marL="0" indent="0">
              <a:buNone/>
            </a:pPr>
            <a:r>
              <a:rPr lang="en-US" sz="1050" b="1" dirty="0">
                <a:solidFill>
                  <a:srgbClr val="1B2A5E"/>
                </a:solidFill>
                <a:latin typeface="Calibri" pitchFamily="34" charset="0"/>
                <a:ea typeface="Calibri" pitchFamily="34" charset="-122"/>
                <a:cs typeface="Calibri" pitchFamily="34" charset="-120"/>
              </a:rPr>
              <a:t>The conventions catalogue is the piece that adds most value</a:t>
            </a:r>
            <a:endParaRPr lang="en-US" sz="1050" dirty="0"/>
          </a:p>
        </p:txBody>
      </p:sp>
      <p:sp>
        <p:nvSpPr>
          <p:cNvPr id="10" name="Text 7"/>
          <p:cNvSpPr/>
          <p:nvPr/>
        </p:nvSpPr>
        <p:spPr>
          <a:xfrm>
            <a:off x="841248" y="4425696"/>
            <a:ext cx="10469880" cy="539496"/>
          </a:xfrm>
          <a:prstGeom prst="rect">
            <a:avLst/>
          </a:prstGeom>
          <a:noFill/>
          <a:ln/>
        </p:spPr>
        <p:txBody>
          <a:bodyPr wrap="square" lIns="0" tIns="0" rIns="0" bIns="0" rtlCol="0" anchor="t"/>
          <a:lstStyle/>
          <a:p>
            <a:pPr marL="0" indent="0">
              <a:lnSpc>
                <a:spcPts val="1650"/>
              </a:lnSpc>
              <a:buNone/>
            </a:pPr>
            <a:r>
              <a:rPr lang="en-US" sz="1200" dirty="0">
                <a:solidFill>
                  <a:srgbClr val="10162F"/>
                </a:solidFill>
                <a:latin typeface="Calibri" pitchFamily="34" charset="0"/>
                <a:ea typeface="Calibri" pitchFamily="34" charset="-122"/>
                <a:cs typeface="Calibri" pitchFamily="34" charset="-120"/>
              </a:rPr>
              <a:t>An account changed hierarchy and a cost centre changed code. Both changes were documented in a memo no system read, and both would have broken the reports silently.</a:t>
            </a:r>
            <a:endParaRPr lang="en-US" sz="1200" dirty="0"/>
          </a:p>
        </p:txBody>
      </p:sp>
      <p:sp>
        <p:nvSpPr>
          <p:cNvPr id="11" name="Text 8"/>
          <p:cNvSpPr/>
          <p:nvPr/>
        </p:nvSpPr>
        <p:spPr>
          <a:xfrm>
            <a:off x="566928" y="5285232"/>
            <a:ext cx="11018520" cy="731520"/>
          </a:xfrm>
          <a:prstGeom prst="rect">
            <a:avLst/>
          </a:prstGeom>
          <a:noFill/>
          <a:ln/>
        </p:spPr>
        <p:txBody>
          <a:bodyPr wrap="square" lIns="0" tIns="0" rIns="0" bIns="0" rtlCol="0" anchor="ctr"/>
          <a:lstStyle/>
          <a:p>
            <a:pPr marL="0" indent="0">
              <a:lnSpc>
                <a:spcPts val="1900"/>
              </a:lnSpc>
              <a:buNone/>
            </a:pPr>
            <a:r>
              <a:rPr lang="en-US" sz="1300" b="1" dirty="0">
                <a:solidFill>
                  <a:srgbClr val="10162F"/>
                </a:solidFill>
                <a:latin typeface="Calibri" pitchFamily="34" charset="0"/>
                <a:ea typeface="Calibri" pitchFamily="34" charset="-122"/>
                <a:cs typeface="Calibri" pitchFamily="34" charset="-120"/>
              </a:rPr>
              <a:t>What would NOT change: the tools, the evidence gate and the workflows are pure code with no shared state and no I/O of their own. That is why going to production is an infrastructure and data-governance exercise, not a rewrite of the financial logic.</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21</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HONESTY</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What it does not do, and why</a:t>
            </a:r>
            <a:endParaRPr lang="en-US" sz="2800" dirty="0"/>
          </a:p>
        </p:txBody>
      </p:sp>
      <p:sp>
        <p:nvSpPr>
          <p:cNvPr id="6" name="Shape 4"/>
          <p:cNvSpPr/>
          <p:nvPr/>
        </p:nvSpPr>
        <p:spPr>
          <a:xfrm>
            <a:off x="566928" y="1691640"/>
            <a:ext cx="32004" cy="914400"/>
          </a:xfrm>
          <a:prstGeom prst="rect">
            <a:avLst/>
          </a:prstGeom>
          <a:solidFill>
            <a:srgbClr val="3E5288"/>
          </a:solidFill>
          <a:ln/>
        </p:spPr>
        <p:txBody>
          <a:bodyPr/>
          <a:p/>
        </p:txBody>
      </p:sp>
      <p:sp>
        <p:nvSpPr>
          <p:cNvPr id="7" name="Text 5"/>
          <p:cNvSpPr/>
          <p:nvPr/>
        </p:nvSpPr>
        <p:spPr>
          <a:xfrm>
            <a:off x="841248" y="1691640"/>
            <a:ext cx="3200400" cy="502920"/>
          </a:xfrm>
          <a:prstGeom prst="rect">
            <a:avLst/>
          </a:prstGeom>
          <a:noFill/>
          <a:ln/>
        </p:spPr>
        <p:txBody>
          <a:bodyPr wrap="square" lIns="0" tIns="0" rIns="0" bIns="0" rtlCol="0" anchor="ctr"/>
          <a:lstStyle/>
          <a:p>
            <a:pPr marL="0" indent="0">
              <a:lnSpc>
                <a:spcPts val="1700"/>
              </a:lnSpc>
              <a:buNone/>
            </a:pPr>
            <a:r>
              <a:rPr lang="en-US" sz="1300" b="1" dirty="0">
                <a:solidFill>
                  <a:srgbClr val="10162F"/>
                </a:solidFill>
                <a:latin typeface="Calibri" pitchFamily="34" charset="0"/>
                <a:ea typeface="Calibri" pitchFamily="34" charset="-122"/>
                <a:cs typeface="Calibri" pitchFamily="34" charset="-120"/>
              </a:rPr>
              <a:t>Canonical vendor identity</a:t>
            </a:r>
            <a:endParaRPr lang="en-US" sz="1300" dirty="0"/>
          </a:p>
        </p:txBody>
      </p:sp>
      <p:sp>
        <p:nvSpPr>
          <p:cNvPr id="8" name="Text 6"/>
          <p:cNvSpPr/>
          <p:nvPr/>
        </p:nvSpPr>
        <p:spPr>
          <a:xfrm>
            <a:off x="4206240" y="1691640"/>
            <a:ext cx="7360920" cy="914400"/>
          </a:xfrm>
          <a:prstGeom prst="rect">
            <a:avLst/>
          </a:prstGeom>
          <a:noFill/>
          <a:ln/>
        </p:spPr>
        <p:txBody>
          <a:bodyPr wrap="square" lIns="0" tIns="0" rIns="0" bIns="0" rtlCol="0" anchor="ctr"/>
          <a:lstStyle/>
          <a:p>
            <a:pPr marL="0" indent="0">
              <a:lnSpc>
                <a:spcPts val="1700"/>
              </a:lnSpc>
              <a:buNone/>
            </a:pPr>
            <a:r>
              <a:rPr lang="en-US" sz="1200" dirty="0">
                <a:solidFill>
                  <a:srgbClr val="5C6784"/>
                </a:solidFill>
                <a:latin typeface="Calibri" pitchFamily="34" charset="0"/>
                <a:ea typeface="Calibri" pitchFamily="34" charset="-122"/>
                <a:cs typeface="Calibri" pitchFamily="34" charset="-120"/>
              </a:rPr>
              <a:t>I detect clusters and measure their impact, but do not apply them: no authoritative mapping exists in the data. Mechanical normalisation also misses abbreviations and translations, so the real risk is larger than what I return.</a:t>
            </a:r>
            <a:endParaRPr lang="en-US" sz="1200" dirty="0"/>
          </a:p>
        </p:txBody>
      </p:sp>
      <p:sp>
        <p:nvSpPr>
          <p:cNvPr id="9" name="Shape 7"/>
          <p:cNvSpPr/>
          <p:nvPr/>
        </p:nvSpPr>
        <p:spPr>
          <a:xfrm>
            <a:off x="566928" y="2788920"/>
            <a:ext cx="32004" cy="914400"/>
          </a:xfrm>
          <a:prstGeom prst="rect">
            <a:avLst/>
          </a:prstGeom>
          <a:solidFill>
            <a:srgbClr val="3E5288"/>
          </a:solidFill>
          <a:ln/>
        </p:spPr>
        <p:txBody>
          <a:bodyPr/>
          <a:p/>
        </p:txBody>
      </p:sp>
      <p:sp>
        <p:nvSpPr>
          <p:cNvPr id="10" name="Text 8"/>
          <p:cNvSpPr/>
          <p:nvPr/>
        </p:nvSpPr>
        <p:spPr>
          <a:xfrm>
            <a:off x="841248" y="2788920"/>
            <a:ext cx="3200400" cy="502920"/>
          </a:xfrm>
          <a:prstGeom prst="rect">
            <a:avLst/>
          </a:prstGeom>
          <a:noFill/>
          <a:ln/>
        </p:spPr>
        <p:txBody>
          <a:bodyPr wrap="square" lIns="0" tIns="0" rIns="0" bIns="0" rtlCol="0" anchor="ctr"/>
          <a:lstStyle/>
          <a:p>
            <a:pPr marL="0" indent="0">
              <a:lnSpc>
                <a:spcPts val="1700"/>
              </a:lnSpc>
              <a:buNone/>
            </a:pPr>
            <a:r>
              <a:rPr lang="en-US" sz="1300" b="1" dirty="0">
                <a:solidFill>
                  <a:srgbClr val="10162F"/>
                </a:solidFill>
                <a:latin typeface="Calibri" pitchFamily="34" charset="0"/>
                <a:ea typeface="Calibri" pitchFamily="34" charset="-122"/>
                <a:cs typeface="Calibri" pitchFamily="34" charset="-120"/>
              </a:rPr>
              <a:t>Policy verifiability</a:t>
            </a:r>
            <a:endParaRPr lang="en-US" sz="1300" dirty="0"/>
          </a:p>
        </p:txBody>
      </p:sp>
      <p:sp>
        <p:nvSpPr>
          <p:cNvPr id="11" name="Text 9"/>
          <p:cNvSpPr/>
          <p:nvPr/>
        </p:nvSpPr>
        <p:spPr>
          <a:xfrm>
            <a:off x="4206240" y="2788920"/>
            <a:ext cx="7360920" cy="914400"/>
          </a:xfrm>
          <a:prstGeom prst="rect">
            <a:avLst/>
          </a:prstGeom>
          <a:noFill/>
          <a:ln/>
        </p:spPr>
        <p:txBody>
          <a:bodyPr wrap="square" lIns="0" tIns="0" rIns="0" bIns="0" rtlCol="0" anchor="ctr"/>
          <a:lstStyle/>
          <a:p>
            <a:pPr marL="0" indent="0">
              <a:lnSpc>
                <a:spcPts val="1700"/>
              </a:lnSpc>
              <a:buNone/>
            </a:pPr>
            <a:r>
              <a:rPr lang="en-US" sz="1200" dirty="0">
                <a:solidFill>
                  <a:srgbClr val="5C6784"/>
                </a:solidFill>
                <a:latin typeface="Calibri" pitchFamily="34" charset="0"/>
                <a:ea typeface="Calibri" pitchFamily="34" charset="-122"/>
                <a:cs typeface="Calibri" pitchFamily="34" charset="-120"/>
              </a:rPr>
              <a:t>The ledger has no flight duration and no attendee roster. Several rules can only conclude insufficient evidence.</a:t>
            </a:r>
            <a:endParaRPr lang="en-US" sz="1200" dirty="0"/>
          </a:p>
        </p:txBody>
      </p:sp>
      <p:sp>
        <p:nvSpPr>
          <p:cNvPr id="12" name="Shape 10"/>
          <p:cNvSpPr/>
          <p:nvPr/>
        </p:nvSpPr>
        <p:spPr>
          <a:xfrm>
            <a:off x="566928" y="3886200"/>
            <a:ext cx="32004" cy="914400"/>
          </a:xfrm>
          <a:prstGeom prst="rect">
            <a:avLst/>
          </a:prstGeom>
          <a:solidFill>
            <a:srgbClr val="3E5288"/>
          </a:solidFill>
          <a:ln/>
        </p:spPr>
        <p:txBody>
          <a:bodyPr/>
          <a:p/>
        </p:txBody>
      </p:sp>
      <p:sp>
        <p:nvSpPr>
          <p:cNvPr id="13" name="Text 11"/>
          <p:cNvSpPr/>
          <p:nvPr/>
        </p:nvSpPr>
        <p:spPr>
          <a:xfrm>
            <a:off x="841248" y="3886200"/>
            <a:ext cx="3200400" cy="502920"/>
          </a:xfrm>
          <a:prstGeom prst="rect">
            <a:avLst/>
          </a:prstGeom>
          <a:noFill/>
          <a:ln/>
        </p:spPr>
        <p:txBody>
          <a:bodyPr wrap="square" lIns="0" tIns="0" rIns="0" bIns="0" rtlCol="0" anchor="ctr"/>
          <a:lstStyle/>
          <a:p>
            <a:pPr marL="0" indent="0">
              <a:lnSpc>
                <a:spcPts val="1700"/>
              </a:lnSpc>
              <a:buNone/>
            </a:pPr>
            <a:r>
              <a:rPr lang="en-US" sz="1300" b="1" dirty="0">
                <a:solidFill>
                  <a:srgbClr val="10162F"/>
                </a:solidFill>
                <a:latin typeface="Calibri" pitchFamily="34" charset="0"/>
                <a:ea typeface="Calibri" pitchFamily="34" charset="-122"/>
                <a:cs typeface="Calibri" pitchFamily="34" charset="-120"/>
              </a:rPr>
              <a:t>Entry versus payment</a:t>
            </a:r>
            <a:endParaRPr lang="en-US" sz="1300" dirty="0"/>
          </a:p>
        </p:txBody>
      </p:sp>
      <p:sp>
        <p:nvSpPr>
          <p:cNvPr id="14" name="Text 12"/>
          <p:cNvSpPr/>
          <p:nvPr/>
        </p:nvSpPr>
        <p:spPr>
          <a:xfrm>
            <a:off x="4206240" y="3886200"/>
            <a:ext cx="7360920" cy="914400"/>
          </a:xfrm>
          <a:prstGeom prst="rect">
            <a:avLst/>
          </a:prstGeom>
          <a:noFill/>
          <a:ln/>
        </p:spPr>
        <p:txBody>
          <a:bodyPr wrap="square" lIns="0" tIns="0" rIns="0" bIns="0" rtlCol="0" anchor="ctr"/>
          <a:lstStyle/>
          <a:p>
            <a:pPr marL="0" indent="0">
              <a:lnSpc>
                <a:spcPts val="1700"/>
              </a:lnSpc>
              <a:buNone/>
            </a:pPr>
            <a:r>
              <a:rPr lang="en-US" sz="1200" dirty="0">
                <a:solidFill>
                  <a:srgbClr val="5C6784"/>
                </a:solidFill>
                <a:latin typeface="Calibri" pitchFamily="34" charset="0"/>
                <a:ea typeface="Calibri" pitchFamily="34" charset="-122"/>
                <a:cs typeface="Calibri" pitchFamily="34" charset="-120"/>
              </a:rPr>
              <a:t>I detect duplicate ledger entries. Proving a duplicate payment requires treasury evidence absent from the dataset.</a:t>
            </a:r>
            <a:endParaRPr lang="en-US" sz="1200" dirty="0"/>
          </a:p>
        </p:txBody>
      </p:sp>
      <p:sp>
        <p:nvSpPr>
          <p:cNvPr id="15" name="Shape 13"/>
          <p:cNvSpPr/>
          <p:nvPr/>
        </p:nvSpPr>
        <p:spPr>
          <a:xfrm>
            <a:off x="566928" y="4983480"/>
            <a:ext cx="32004" cy="914400"/>
          </a:xfrm>
          <a:prstGeom prst="rect">
            <a:avLst/>
          </a:prstGeom>
          <a:solidFill>
            <a:srgbClr val="3E5288"/>
          </a:solidFill>
          <a:ln/>
        </p:spPr>
        <p:txBody>
          <a:bodyPr/>
          <a:p/>
        </p:txBody>
      </p:sp>
      <p:sp>
        <p:nvSpPr>
          <p:cNvPr id="16" name="Text 14"/>
          <p:cNvSpPr/>
          <p:nvPr/>
        </p:nvSpPr>
        <p:spPr>
          <a:xfrm>
            <a:off x="841248" y="4983480"/>
            <a:ext cx="3200400" cy="502920"/>
          </a:xfrm>
          <a:prstGeom prst="rect">
            <a:avLst/>
          </a:prstGeom>
          <a:noFill/>
          <a:ln/>
        </p:spPr>
        <p:txBody>
          <a:bodyPr wrap="square" lIns="0" tIns="0" rIns="0" bIns="0" rtlCol="0" anchor="ctr"/>
          <a:lstStyle/>
          <a:p>
            <a:pPr marL="0" indent="0">
              <a:lnSpc>
                <a:spcPts val="1700"/>
              </a:lnSpc>
              <a:buNone/>
            </a:pPr>
            <a:r>
              <a:rPr lang="en-US" sz="1300" b="1" dirty="0">
                <a:solidFill>
                  <a:srgbClr val="10162F"/>
                </a:solidFill>
                <a:latin typeface="Calibri" pitchFamily="34" charset="0"/>
                <a:ea typeface="Calibri" pitchFamily="34" charset="-122"/>
                <a:cs typeface="Calibri" pitchFamily="34" charset="-120"/>
              </a:rPr>
              <a:t>Intent coverage</a:t>
            </a:r>
            <a:endParaRPr lang="en-US" sz="1300" dirty="0"/>
          </a:p>
        </p:txBody>
      </p:sp>
      <p:sp>
        <p:nvSpPr>
          <p:cNvPr id="17" name="Text 15"/>
          <p:cNvSpPr/>
          <p:nvPr/>
        </p:nvSpPr>
        <p:spPr>
          <a:xfrm>
            <a:off x="4206240" y="4983480"/>
            <a:ext cx="7360920" cy="914400"/>
          </a:xfrm>
          <a:prstGeom prst="rect">
            <a:avLst/>
          </a:prstGeom>
          <a:noFill/>
          <a:ln/>
        </p:spPr>
        <p:txBody>
          <a:bodyPr wrap="square" lIns="0" tIns="0" rIns="0" bIns="0" rtlCol="0" anchor="ctr"/>
          <a:lstStyle/>
          <a:p>
            <a:pPr marL="0" indent="0">
              <a:lnSpc>
                <a:spcPts val="1700"/>
              </a:lnSpc>
              <a:buNone/>
            </a:pPr>
            <a:r>
              <a:rPr lang="en-US" sz="1200" dirty="0">
                <a:solidFill>
                  <a:srgbClr val="5C6784"/>
                </a:solidFill>
                <a:latin typeface="Calibri" pitchFamily="34" charset="0"/>
                <a:ea typeface="Calibri" pitchFamily="34" charset="-122"/>
                <a:cs typeface="Calibri" pitchFamily="34" charset="-120"/>
              </a:rPr>
              <a:t>I cover eight. A question outside the catalogue asks for clarification instead of snapping to the nearest match.</a:t>
            </a:r>
            <a:endParaRPr lang="en-US" sz="1200" dirty="0"/>
          </a:p>
        </p:txBody>
      </p:sp>
      <p:sp>
        <p:nvSpPr>
          <p:cNvPr id="18" name="Text 16"/>
          <p:cNvSpPr/>
          <p:nvPr/>
        </p:nvSpPr>
        <p:spPr>
          <a:xfrm>
            <a:off x="566928" y="6035040"/>
            <a:ext cx="11018520" cy="365760"/>
          </a:xfrm>
          <a:prstGeom prst="rect">
            <a:avLst/>
          </a:prstGeom>
          <a:noFill/>
          <a:ln/>
        </p:spPr>
        <p:txBody>
          <a:bodyPr wrap="square" lIns="0" tIns="0" rIns="0" bIns="0" rtlCol="0" anchor="ctr"/>
          <a:lstStyle/>
          <a:p>
            <a:pPr marL="0" indent="0">
              <a:buNone/>
            </a:pPr>
            <a:r>
              <a:rPr lang="en-US" sz="1250" b="1" i="1" dirty="0">
                <a:solidFill>
                  <a:srgbClr val="3E5288"/>
                </a:solidFill>
                <a:latin typeface="Calibri" pitchFamily="34" charset="0"/>
                <a:ea typeface="Calibri" pitchFamily="34" charset="-122"/>
                <a:cs typeface="Calibri" pitchFamily="34" charset="-120"/>
              </a:rPr>
              <a:t>None of these is down to lack of time. All are decisions about what can be claimed on the available evidence.</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024"/>
        </a:solidFill>
        <a:effectLst/>
      </p:bgPr>
    </p:bg>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5A6899"/>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5A6899"/>
                </a:solidFill>
                <a:latin typeface="Calibri" pitchFamily="34" charset="0"/>
                <a:ea typeface="Calibri" pitchFamily="34" charset="-122"/>
                <a:cs typeface="Calibri" pitchFamily="34" charset="-120"/>
              </a:rPr>
              <a:t>22</a:t>
            </a:r>
            <a:endParaRPr lang="en-US" sz="900" dirty="0"/>
          </a:p>
        </p:txBody>
      </p:sp>
      <p:sp>
        <p:nvSpPr>
          <p:cNvPr id="4" name="Text 2"/>
          <p:cNvSpPr/>
          <p:nvPr/>
        </p:nvSpPr>
        <p:spPr>
          <a:xfrm>
            <a:off x="566928" y="1188720"/>
            <a:ext cx="10972800" cy="5943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What I want you to take away</a:t>
            </a:r>
            <a:endParaRPr lang="en-US" sz="3000" dirty="0"/>
          </a:p>
        </p:txBody>
      </p:sp>
      <p:sp>
        <p:nvSpPr>
          <p:cNvPr id="5" name="Text 3"/>
          <p:cNvSpPr/>
          <p:nvPr/>
        </p:nvSpPr>
        <p:spPr>
          <a:xfrm>
            <a:off x="566928" y="2148840"/>
            <a:ext cx="777240" cy="457200"/>
          </a:xfrm>
          <a:prstGeom prst="rect">
            <a:avLst/>
          </a:prstGeom>
          <a:noFill/>
          <a:ln/>
        </p:spPr>
        <p:txBody>
          <a:bodyPr wrap="square" lIns="0" tIns="0" rIns="0" bIns="0" rtlCol="0" anchor="ctr"/>
          <a:lstStyle/>
          <a:p>
            <a:pPr marL="0" indent="0">
              <a:buNone/>
            </a:pPr>
            <a:r>
              <a:rPr lang="en-US" sz="2200" b="1" dirty="0">
                <a:solidFill>
                  <a:srgbClr val="3B4A85"/>
                </a:solidFill>
                <a:latin typeface="Cambria" pitchFamily="34" charset="0"/>
                <a:ea typeface="Cambria" pitchFamily="34" charset="-122"/>
                <a:cs typeface="Cambria" pitchFamily="34" charset="-120"/>
              </a:rPr>
              <a:t>01</a:t>
            </a:r>
            <a:endParaRPr lang="en-US" sz="2200" dirty="0"/>
          </a:p>
        </p:txBody>
      </p:sp>
      <p:sp>
        <p:nvSpPr>
          <p:cNvPr id="6" name="Text 4"/>
          <p:cNvSpPr/>
          <p:nvPr/>
        </p:nvSpPr>
        <p:spPr>
          <a:xfrm>
            <a:off x="1508760" y="2167128"/>
            <a:ext cx="9966960"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The problem was not building the cleverest agent</a:t>
            </a:r>
            <a:endParaRPr lang="en-US" sz="1500" dirty="0"/>
          </a:p>
        </p:txBody>
      </p:sp>
      <p:sp>
        <p:nvSpPr>
          <p:cNvPr id="7" name="Text 5"/>
          <p:cNvSpPr/>
          <p:nvPr/>
        </p:nvSpPr>
        <p:spPr>
          <a:xfrm>
            <a:off x="1508760" y="2478024"/>
            <a:ext cx="9966960" cy="457200"/>
          </a:xfrm>
          <a:prstGeom prst="rect">
            <a:avLst/>
          </a:prstGeom>
          <a:noFill/>
          <a:ln/>
        </p:spPr>
        <p:txBody>
          <a:bodyPr wrap="square" lIns="0" tIns="0" rIns="0" bIns="0" rtlCol="0" anchor="ctr"/>
          <a:lstStyle/>
          <a:p>
            <a:pPr marL="0" indent="0">
              <a:lnSpc>
                <a:spcPts val="1700"/>
              </a:lnSpc>
              <a:buNone/>
            </a:pPr>
            <a:r>
              <a:rPr lang="en-US" sz="1250" dirty="0">
                <a:solidFill>
                  <a:srgbClr val="CADCFC"/>
                </a:solidFill>
                <a:latin typeface="Calibri" pitchFamily="34" charset="0"/>
                <a:ea typeface="Calibri" pitchFamily="34" charset="-122"/>
                <a:cs typeface="Calibri" pitchFamily="34" charset="-120"/>
              </a:rPr>
              <a:t>It was recognising that two of the eight questions have no honest answer, and designing for that.</a:t>
            </a:r>
            <a:endParaRPr lang="en-US" sz="1250" dirty="0"/>
          </a:p>
        </p:txBody>
      </p:sp>
      <p:sp>
        <p:nvSpPr>
          <p:cNvPr id="8" name="Text 6"/>
          <p:cNvSpPr/>
          <p:nvPr/>
        </p:nvSpPr>
        <p:spPr>
          <a:xfrm>
            <a:off x="566928" y="3108960"/>
            <a:ext cx="777240" cy="457200"/>
          </a:xfrm>
          <a:prstGeom prst="rect">
            <a:avLst/>
          </a:prstGeom>
          <a:noFill/>
          <a:ln/>
        </p:spPr>
        <p:txBody>
          <a:bodyPr wrap="square" lIns="0" tIns="0" rIns="0" bIns="0" rtlCol="0" anchor="ctr"/>
          <a:lstStyle/>
          <a:p>
            <a:pPr marL="0" indent="0">
              <a:buNone/>
            </a:pPr>
            <a:r>
              <a:rPr lang="en-US" sz="2200" b="1" dirty="0">
                <a:solidFill>
                  <a:srgbClr val="3B4A85"/>
                </a:solidFill>
                <a:latin typeface="Cambria" pitchFamily="34" charset="0"/>
                <a:ea typeface="Cambria" pitchFamily="34" charset="-122"/>
                <a:cs typeface="Cambria" pitchFamily="34" charset="-120"/>
              </a:rPr>
              <a:t>02</a:t>
            </a:r>
            <a:endParaRPr lang="en-US" sz="2200" dirty="0"/>
          </a:p>
        </p:txBody>
      </p:sp>
      <p:sp>
        <p:nvSpPr>
          <p:cNvPr id="9" name="Text 7"/>
          <p:cNvSpPr/>
          <p:nvPr/>
        </p:nvSpPr>
        <p:spPr>
          <a:xfrm>
            <a:off x="1508760" y="3127248"/>
            <a:ext cx="9966960"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The figures do not depend on the model</a:t>
            </a:r>
            <a:endParaRPr lang="en-US" sz="1500" dirty="0"/>
          </a:p>
        </p:txBody>
      </p:sp>
      <p:sp>
        <p:nvSpPr>
          <p:cNvPr id="10" name="Text 8"/>
          <p:cNvSpPr/>
          <p:nvPr/>
        </p:nvSpPr>
        <p:spPr>
          <a:xfrm>
            <a:off x="1508760" y="3438144"/>
            <a:ext cx="9966960" cy="457200"/>
          </a:xfrm>
          <a:prstGeom prst="rect">
            <a:avLst/>
          </a:prstGeom>
          <a:noFill/>
          <a:ln/>
        </p:spPr>
        <p:txBody>
          <a:bodyPr wrap="square" lIns="0" tIns="0" rIns="0" bIns="0" rtlCol="0" anchor="ctr"/>
          <a:lstStyle/>
          <a:p>
            <a:pPr marL="0" indent="0">
              <a:lnSpc>
                <a:spcPts val="1700"/>
              </a:lnSpc>
              <a:buNone/>
            </a:pPr>
            <a:r>
              <a:rPr lang="en-US" sz="1250" dirty="0">
                <a:solidFill>
                  <a:srgbClr val="CADCFC"/>
                </a:solidFill>
                <a:latin typeface="Calibri" pitchFamily="34" charset="0"/>
                <a:ea typeface="Calibri" pitchFamily="34" charset="-122"/>
                <a:cs typeface="Calibri" pitchFamily="34" charset="-120"/>
              </a:rPr>
              <a:t>Three models, zero divergencies. With no credential, the system still answers the eight.</a:t>
            </a:r>
            <a:endParaRPr lang="en-US" sz="1250" dirty="0"/>
          </a:p>
        </p:txBody>
      </p:sp>
      <p:sp>
        <p:nvSpPr>
          <p:cNvPr id="11" name="Text 9"/>
          <p:cNvSpPr/>
          <p:nvPr/>
        </p:nvSpPr>
        <p:spPr>
          <a:xfrm>
            <a:off x="566928" y="4069080"/>
            <a:ext cx="777240" cy="457200"/>
          </a:xfrm>
          <a:prstGeom prst="rect">
            <a:avLst/>
          </a:prstGeom>
          <a:noFill/>
          <a:ln/>
        </p:spPr>
        <p:txBody>
          <a:bodyPr wrap="square" lIns="0" tIns="0" rIns="0" bIns="0" rtlCol="0" anchor="ctr"/>
          <a:lstStyle/>
          <a:p>
            <a:pPr marL="0" indent="0">
              <a:buNone/>
            </a:pPr>
            <a:r>
              <a:rPr lang="en-US" sz="2200" b="1" dirty="0">
                <a:solidFill>
                  <a:srgbClr val="3B4A85"/>
                </a:solidFill>
                <a:latin typeface="Cambria" pitchFamily="34" charset="0"/>
                <a:ea typeface="Cambria" pitchFamily="34" charset="-122"/>
                <a:cs typeface="Cambria" pitchFamily="34" charset="-120"/>
              </a:rPr>
              <a:t>03</a:t>
            </a:r>
            <a:endParaRPr lang="en-US" sz="2200" dirty="0"/>
          </a:p>
        </p:txBody>
      </p:sp>
      <p:sp>
        <p:nvSpPr>
          <p:cNvPr id="12" name="Text 10"/>
          <p:cNvSpPr/>
          <p:nvPr/>
        </p:nvSpPr>
        <p:spPr>
          <a:xfrm>
            <a:off x="1508760" y="4087368"/>
            <a:ext cx="9966960"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 well-made refusal is product, not failure</a:t>
            </a:r>
            <a:endParaRPr lang="en-US" sz="1500" dirty="0"/>
          </a:p>
        </p:txBody>
      </p:sp>
      <p:sp>
        <p:nvSpPr>
          <p:cNvPr id="13" name="Text 11"/>
          <p:cNvSpPr/>
          <p:nvPr/>
        </p:nvSpPr>
        <p:spPr>
          <a:xfrm>
            <a:off x="1508760" y="4398264"/>
            <a:ext cx="9966960" cy="457200"/>
          </a:xfrm>
          <a:prstGeom prst="rect">
            <a:avLst/>
          </a:prstGeom>
          <a:noFill/>
          <a:ln/>
        </p:spPr>
        <p:txBody>
          <a:bodyPr wrap="square" lIns="0" tIns="0" rIns="0" bIns="0" rtlCol="0" anchor="ctr"/>
          <a:lstStyle/>
          <a:p>
            <a:pPr marL="0" indent="0">
              <a:lnSpc>
                <a:spcPts val="1700"/>
              </a:lnSpc>
              <a:buNone/>
            </a:pPr>
            <a:r>
              <a:rPr lang="en-US" sz="1250" dirty="0">
                <a:solidFill>
                  <a:srgbClr val="CADCFC"/>
                </a:solidFill>
                <a:latin typeface="Calibri" pitchFamily="34" charset="0"/>
                <a:ea typeface="Calibri" pitchFamily="34" charset="-122"/>
                <a:cs typeface="Calibri" pitchFamily="34" charset="-120"/>
              </a:rPr>
              <a:t>Q3 refuses the exact total and delivers 89% of the picture with the gap quantified.</a:t>
            </a:r>
            <a:endParaRPr lang="en-US" sz="1250" dirty="0"/>
          </a:p>
        </p:txBody>
      </p:sp>
      <p:sp>
        <p:nvSpPr>
          <p:cNvPr id="14" name="Text 12"/>
          <p:cNvSpPr/>
          <p:nvPr/>
        </p:nvSpPr>
        <p:spPr>
          <a:xfrm>
            <a:off x="566928" y="5029200"/>
            <a:ext cx="777240" cy="457200"/>
          </a:xfrm>
          <a:prstGeom prst="rect">
            <a:avLst/>
          </a:prstGeom>
          <a:noFill/>
          <a:ln/>
        </p:spPr>
        <p:txBody>
          <a:bodyPr wrap="square" lIns="0" tIns="0" rIns="0" bIns="0" rtlCol="0" anchor="ctr"/>
          <a:lstStyle/>
          <a:p>
            <a:pPr marL="0" indent="0">
              <a:buNone/>
            </a:pPr>
            <a:r>
              <a:rPr lang="en-US" sz="2200" b="1" dirty="0">
                <a:solidFill>
                  <a:srgbClr val="3B4A85"/>
                </a:solidFill>
                <a:latin typeface="Cambria" pitchFamily="34" charset="0"/>
                <a:ea typeface="Cambria" pitchFamily="34" charset="-122"/>
                <a:cs typeface="Cambria" pitchFamily="34" charset="-120"/>
              </a:rPr>
              <a:t>04</a:t>
            </a:r>
            <a:endParaRPr lang="en-US" sz="2200" dirty="0"/>
          </a:p>
        </p:txBody>
      </p:sp>
      <p:sp>
        <p:nvSpPr>
          <p:cNvPr id="15" name="Text 13"/>
          <p:cNvSpPr/>
          <p:nvPr/>
        </p:nvSpPr>
        <p:spPr>
          <a:xfrm>
            <a:off x="1508760" y="5047488"/>
            <a:ext cx="9966960"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It is built to leave the prototype stage</a:t>
            </a:r>
            <a:endParaRPr lang="en-US" sz="1500" dirty="0"/>
          </a:p>
        </p:txBody>
      </p:sp>
      <p:sp>
        <p:nvSpPr>
          <p:cNvPr id="16" name="Text 14"/>
          <p:cNvSpPr/>
          <p:nvPr/>
        </p:nvSpPr>
        <p:spPr>
          <a:xfrm>
            <a:off x="1508760" y="5358384"/>
            <a:ext cx="9966960" cy="457200"/>
          </a:xfrm>
          <a:prstGeom prst="rect">
            <a:avLst/>
          </a:prstGeom>
          <a:noFill/>
          <a:ln/>
        </p:spPr>
        <p:txBody>
          <a:bodyPr wrap="square" lIns="0" tIns="0" rIns="0" bIns="0" rtlCol="0" anchor="ctr"/>
          <a:lstStyle/>
          <a:p>
            <a:pPr marL="0" indent="0">
              <a:lnSpc>
                <a:spcPts val="1700"/>
              </a:lnSpc>
              <a:buNone/>
            </a:pPr>
            <a:r>
              <a:rPr lang="en-US" sz="1250" dirty="0">
                <a:solidFill>
                  <a:srgbClr val="CADCFC"/>
                </a:solidFill>
                <a:latin typeface="Calibri" pitchFamily="34" charset="0"/>
                <a:ea typeface="Calibri" pitchFamily="34" charset="-122"/>
                <a:cs typeface="Calibri" pitchFamily="34" charset="-120"/>
              </a:rPr>
              <a:t>The tools do no I/O of their own: going to production is infrastructure, not a rewrite.</a:t>
            </a:r>
            <a:endParaRPr lang="en-US" sz="1250" dirty="0"/>
          </a:p>
        </p:txBody>
      </p:sp>
      <p:sp>
        <p:nvSpPr>
          <p:cNvPr id="17" name="Shape 15"/>
          <p:cNvSpPr/>
          <p:nvPr/>
        </p:nvSpPr>
        <p:spPr>
          <a:xfrm>
            <a:off x="566928" y="5989320"/>
            <a:ext cx="1097280" cy="32004"/>
          </a:xfrm>
          <a:prstGeom prst="rect">
            <a:avLst/>
          </a:prstGeom>
          <a:solidFill>
            <a:srgbClr val="CADCFC"/>
          </a:solidFill>
          <a:ln/>
        </p:spPr>
        <p:txBody>
          <a:bodyPr/>
          <a:p/>
        </p:txBody>
      </p:sp>
      <p:sp>
        <p:nvSpPr>
          <p:cNvPr id="18" name="Text 16"/>
          <p:cNvSpPr/>
          <p:nvPr/>
        </p:nvSpPr>
        <p:spPr>
          <a:xfrm>
            <a:off x="566928" y="6217920"/>
            <a:ext cx="10972800" cy="365760"/>
          </a:xfrm>
          <a:prstGeom prst="rect">
            <a:avLst/>
          </a:prstGeom>
          <a:noFill/>
          <a:ln/>
        </p:spPr>
        <p:txBody>
          <a:bodyPr wrap="square" lIns="0" tIns="0" rIns="0" bIns="0" rtlCol="0" anchor="ctr"/>
          <a:lstStyle/>
          <a:p>
            <a:pPr marL="0" indent="0">
              <a:buNone/>
            </a:pPr>
            <a:r>
              <a:rPr lang="en-US" sz="1500" i="1" dirty="0">
                <a:solidFill>
                  <a:srgbClr val="CADCFC"/>
                </a:solidFill>
                <a:latin typeface="Cambria" pitchFamily="34" charset="0"/>
                <a:ea typeface="Cambria" pitchFamily="34" charset="-122"/>
                <a:cs typeface="Cambria" pitchFamily="34" charset="-120"/>
              </a:rPr>
              <a:t>Agentic at interpretation. Deterministic at financial computation.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3452</Words>
  <Application>Microsoft Office PowerPoint</Application>
  <PresentationFormat>Panorámica</PresentationFormat>
  <Paragraphs>482</Paragraphs>
  <Slides>22</Slides>
  <Notes>22</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22</vt:i4>
      </vt:variant>
    </vt:vector>
  </HeadingPairs>
  <TitlesOfParts>
    <vt:vector size="27" baseType="lpstr">
      <vt:lpstr>Arial</vt:lpstr>
      <vt:lpstr>Calibri</vt:lpstr>
      <vt:lpstr>Cambria</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juan sebastian tellez lopez</cp:lastModifiedBy>
  <cp:revision>3</cp:revision>
  <dcterms:created xsi:type="dcterms:W3CDTF">2026-08-09T22:40:11Z</dcterms:created>
  <dcterms:modified xsi:type="dcterms:W3CDTF">2026-08-09T22:47:44Z</dcterms:modified>
</cp:coreProperties>
</file>