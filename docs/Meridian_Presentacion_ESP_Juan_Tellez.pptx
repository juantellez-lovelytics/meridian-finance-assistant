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83"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114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Streamlit ANTES de empezar. 15 seg aquí.</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leerla en 20 segundos y pasar. Sirve para que sepan cuándo van a poder preguntar.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seg. El punto: el reto no premia el agente más listo, premia criterio.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No leer las ocho. Señalar la 2 y la 7 y decir 'volveremos a estas'.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 Leer solo la de FX. Las otras dos se ven.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 La de proveedores conecta con la slide del ranking. La de presupuesto con la de la asunción demostrada.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GANCHO. 2 min. Pausa después de 'el signo cambia'. Si solo se llevan una cosa, esta.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Leer la frase del recuadro. Es la que quieres que recuerden.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 Señalar los dos bloques marcados en azul oscuro: ahí está la decisión.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 No leerlas. Decir 'cada fila de la derecha es un bug que no ocurre'.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técnica. En 15 min saltarla; en 30 min es de las que mejor demuestran nivel.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seg. 'Esto es determinista' es la frase.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Segundo momento fuerte. Aquí conecta la discrepancia argumentada con el enunciado.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Insistir en que 27.900 no son infracciones. Es el error de lectura más probable.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Buena para preguntas técnicas: demuestra que el orden causal no es teórico.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Señalar los dos REFUSED y explicar por qué son distintos. Esto conecta con la slide de evals.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en 15. En 30 min, detenerse: es la slide que demuestra que pensaste en su dataset.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Guardar para preguntas técnicas. En 30 min contarlo entero: es la mejor prueba de la tesis.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AQUÍ si todo va bien. Ensayar el gesto: renombrar, recargar, preguntar.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última frase es la que responde a lo que buscan en el rol.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seg. La honestidad aquí puntúa. No pedir disculpas por nada.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y abrir preguntas. Si la demo va bien, hacerla antes de esta slide.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4"/>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B2A5E"/>
          </a:solidFill>
          <a:ln/>
        </p:spPr>
        <p:txBody>
          <a:bodyPr/>
          <a:p/>
        </p:txBody>
      </p:sp>
      <p:sp>
        <p:nvSpPr>
          <p:cNvPr id="3" name="Text 1"/>
          <p:cNvSpPr/>
          <p:nvPr/>
        </p:nvSpPr>
        <p:spPr>
          <a:xfrm>
            <a:off x="868680" y="1920240"/>
            <a:ext cx="9144000" cy="274320"/>
          </a:xfrm>
          <a:prstGeom prst="rect">
            <a:avLst/>
          </a:prstGeom>
          <a:noFill/>
          <a:ln/>
        </p:spPr>
        <p:txBody>
          <a:bodyPr wrap="square" lIns="0" tIns="0" rIns="0" bIns="0" rtlCol="0" anchor="ctr"/>
          <a:lstStyle/>
          <a:p>
            <a:pPr marL="0" indent="0">
              <a:buNone/>
            </a:pPr>
            <a:r>
              <a:rPr lang="en-US" sz="1200" b="1" kern="0" spc="250" dirty="0">
                <a:solidFill>
                  <a:srgbClr val="9FB0DC"/>
                </a:solidFill>
                <a:latin typeface="Calibri" pitchFamily="34" charset="0"/>
                <a:ea typeface="Calibri" pitchFamily="34" charset="-122"/>
                <a:cs typeface="Calibri" pitchFamily="34" charset="-120"/>
              </a:rPr>
              <a:t>CASO DE ANÁLISIS FINANCIERO</a:t>
            </a:r>
            <a:endParaRPr lang="en-US" sz="1200" dirty="0"/>
          </a:p>
        </p:txBody>
      </p:sp>
      <p:sp>
        <p:nvSpPr>
          <p:cNvPr id="4" name="Text 2"/>
          <p:cNvSpPr/>
          <p:nvPr/>
        </p:nvSpPr>
        <p:spPr>
          <a:xfrm>
            <a:off x="868680" y="2331720"/>
            <a:ext cx="10058400" cy="1554480"/>
          </a:xfrm>
          <a:prstGeom prst="rect">
            <a:avLst/>
          </a:prstGeom>
          <a:noFill/>
          <a:ln/>
        </p:spPr>
        <p:txBody>
          <a:bodyPr wrap="square" lIns="0" tIns="0" rIns="0" bIns="0" rtlCol="0" anchor="ctr"/>
          <a:lstStyle/>
          <a:p>
            <a:pPr marL="0" indent="0">
              <a:lnSpc>
                <a:spcPts val="5200"/>
              </a:lnSpc>
              <a:buNone/>
            </a:pPr>
            <a:r>
              <a:rPr lang="en-US" sz="4200" b="1" dirty="0">
                <a:solidFill>
                  <a:srgbClr val="FFFFFF"/>
                </a:solidFill>
                <a:latin typeface="Cambria" pitchFamily="34" charset="0"/>
                <a:ea typeface="Cambria" pitchFamily="34" charset="-122"/>
                <a:cs typeface="Cambria" pitchFamily="34" charset="-120"/>
              </a:rPr>
              <a:t>Meridian Finance</a:t>
            </a:r>
            <a:endParaRPr lang="en-US" sz="4200" dirty="0"/>
          </a:p>
          <a:p>
            <a:pPr marL="0" indent="0">
              <a:lnSpc>
                <a:spcPts val="5200"/>
              </a:lnSpc>
              <a:buNone/>
            </a:pPr>
            <a:r>
              <a:rPr lang="en-US" sz="4200" b="1" dirty="0">
                <a:solidFill>
                  <a:srgbClr val="FFFFFF"/>
                </a:solidFill>
                <a:latin typeface="Cambria" pitchFamily="34" charset="0"/>
                <a:ea typeface="Cambria" pitchFamily="34" charset="-122"/>
                <a:cs typeface="Cambria" pitchFamily="34" charset="-120"/>
              </a:rPr>
              <a:t>Analyst Assistant</a:t>
            </a:r>
            <a:endParaRPr lang="en-US" sz="4200" dirty="0"/>
          </a:p>
        </p:txBody>
      </p:sp>
      <p:sp>
        <p:nvSpPr>
          <p:cNvPr id="5" name="Shape 3"/>
          <p:cNvSpPr/>
          <p:nvPr/>
        </p:nvSpPr>
        <p:spPr>
          <a:xfrm>
            <a:off x="868680" y="4114800"/>
            <a:ext cx="1097280" cy="32004"/>
          </a:xfrm>
          <a:prstGeom prst="rect">
            <a:avLst/>
          </a:prstGeom>
          <a:solidFill>
            <a:srgbClr val="CADCFC"/>
          </a:solidFill>
          <a:ln/>
        </p:spPr>
        <p:txBody>
          <a:bodyPr/>
          <a:p/>
        </p:txBody>
      </p:sp>
      <p:sp>
        <p:nvSpPr>
          <p:cNvPr id="6" name="Text 4"/>
          <p:cNvSpPr/>
          <p:nvPr/>
        </p:nvSpPr>
        <p:spPr>
          <a:xfrm>
            <a:off x="868680" y="4407408"/>
            <a:ext cx="9601200" cy="731520"/>
          </a:xfrm>
          <a:prstGeom prst="rect">
            <a:avLst/>
          </a:prstGeom>
          <a:noFill/>
          <a:ln/>
        </p:spPr>
        <p:txBody>
          <a:bodyPr wrap="square" lIns="0" tIns="0" rIns="0" bIns="0" rtlCol="0" anchor="ctr"/>
          <a:lstStyle/>
          <a:p>
            <a:pPr marL="0" indent="0">
              <a:lnSpc>
                <a:spcPts val="2500"/>
              </a:lnSpc>
              <a:buNone/>
            </a:pPr>
            <a:r>
              <a:rPr lang="en-US" sz="1600" i="1" dirty="0">
                <a:solidFill>
                  <a:srgbClr val="CADCFC"/>
                </a:solidFill>
                <a:latin typeface="Calibri" pitchFamily="34" charset="0"/>
                <a:ea typeface="Calibri" pitchFamily="34" charset="-122"/>
                <a:cs typeface="Calibri" pitchFamily="34" charset="-120"/>
              </a:rPr>
              <a:t>Un asistente que responde preguntas financieras en lenguaje natural,</a:t>
            </a:r>
            <a:endParaRPr lang="en-US" sz="1600" dirty="0"/>
          </a:p>
          <a:p>
            <a:pPr marL="0" indent="0">
              <a:lnSpc>
                <a:spcPts val="2500"/>
              </a:lnSpc>
              <a:buNone/>
            </a:pPr>
            <a:r>
              <a:rPr lang="en-US" sz="1600" i="1" dirty="0">
                <a:solidFill>
                  <a:srgbClr val="CADCFC"/>
                </a:solidFill>
                <a:latin typeface="Calibri" pitchFamily="34" charset="0"/>
                <a:ea typeface="Calibri" pitchFamily="34" charset="-122"/>
                <a:cs typeface="Calibri" pitchFamily="34" charset="-120"/>
              </a:rPr>
              <a:t>y que sabe cuándo no debe responder.</a:t>
            </a:r>
            <a:endParaRPr lang="en-US" sz="1600" dirty="0"/>
          </a:p>
        </p:txBody>
      </p:sp>
      <p:sp>
        <p:nvSpPr>
          <p:cNvPr id="7" name="Text 5"/>
          <p:cNvSpPr/>
          <p:nvPr/>
        </p:nvSpPr>
        <p:spPr>
          <a:xfrm>
            <a:off x="868680" y="5852160"/>
            <a:ext cx="7315200" cy="274320"/>
          </a:xfrm>
          <a:prstGeom prst="rect">
            <a:avLst/>
          </a:prstGeom>
          <a:noFill/>
          <a:ln/>
        </p:spPr>
        <p:txBody>
          <a:bodyPr wrap="square" lIns="0" tIns="0" rIns="0" bIns="0" rtlCol="0" anchor="ctr"/>
          <a:lstStyle/>
          <a:p>
            <a:pPr marL="0" indent="0">
              <a:buNone/>
            </a:pPr>
            <a:r>
              <a:rPr lang="en-US" sz="1200" dirty="0">
                <a:solidFill>
                  <a:srgbClr val="5A6899"/>
                </a:solidFill>
                <a:latin typeface="Calibri" pitchFamily="34" charset="0"/>
                <a:ea typeface="Calibri" pitchFamily="34" charset="-122"/>
                <a:cs typeface="Calibri" pitchFamily="34" charset="-120"/>
              </a:rPr>
              <a:t>Juan Sebastián Téllez López · Agosto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02</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RECORRIDO</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Lo que vamos a ver</a:t>
            </a:r>
            <a:endParaRPr lang="en-US" sz="2800" dirty="0"/>
          </a:p>
        </p:txBody>
      </p:sp>
      <p:sp>
        <p:nvSpPr>
          <p:cNvPr id="6" name="Shape 4"/>
          <p:cNvSpPr/>
          <p:nvPr/>
        </p:nvSpPr>
        <p:spPr>
          <a:xfrm>
            <a:off x="566928" y="1691640"/>
            <a:ext cx="5349240" cy="1078992"/>
          </a:xfrm>
          <a:prstGeom prst="roundRect">
            <a:avLst>
              <a:gd name="adj" fmla="val 4237"/>
            </a:avLst>
          </a:prstGeom>
          <a:solidFill>
            <a:srgbClr val="F3F5FA"/>
          </a:solidFill>
          <a:ln w="12700">
            <a:solidFill>
              <a:srgbClr val="DCE2F0"/>
            </a:solidFill>
            <a:prstDash val="solid"/>
          </a:ln>
        </p:spPr>
        <p:txBody>
          <a:bodyPr/>
          <a:p/>
        </p:txBody>
      </p:sp>
      <p:sp>
        <p:nvSpPr>
          <p:cNvPr id="7" name="Text 5"/>
          <p:cNvSpPr/>
          <p:nvPr/>
        </p:nvSpPr>
        <p:spPr>
          <a:xfrm>
            <a:off x="822960" y="1929384"/>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01</a:t>
            </a:r>
            <a:endParaRPr lang="en-US" sz="2200" dirty="0"/>
          </a:p>
        </p:txBody>
      </p:sp>
      <p:sp>
        <p:nvSpPr>
          <p:cNvPr id="8" name="Text 6"/>
          <p:cNvSpPr/>
          <p:nvPr/>
        </p:nvSpPr>
        <p:spPr>
          <a:xfrm>
            <a:off x="1527048" y="1911096"/>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El encargo</a:t>
            </a:r>
            <a:endParaRPr lang="en-US" sz="1400" dirty="0"/>
          </a:p>
        </p:txBody>
      </p:sp>
      <p:sp>
        <p:nvSpPr>
          <p:cNvPr id="9" name="Text 7"/>
          <p:cNvSpPr/>
          <p:nvPr/>
        </p:nvSpPr>
        <p:spPr>
          <a:xfrm>
            <a:off x="1527048" y="2221992"/>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Qué pedían y cuál era el criterio de éxito real.</a:t>
            </a:r>
            <a:endParaRPr lang="en-US" sz="1150" dirty="0"/>
          </a:p>
        </p:txBody>
      </p:sp>
      <p:sp>
        <p:nvSpPr>
          <p:cNvPr id="10" name="Shape 8"/>
          <p:cNvSpPr/>
          <p:nvPr/>
        </p:nvSpPr>
        <p:spPr>
          <a:xfrm>
            <a:off x="6236208" y="1691640"/>
            <a:ext cx="5349240" cy="1078992"/>
          </a:xfrm>
          <a:prstGeom prst="roundRect">
            <a:avLst>
              <a:gd name="adj" fmla="val 4237"/>
            </a:avLst>
          </a:prstGeom>
          <a:solidFill>
            <a:srgbClr val="F3F5FA"/>
          </a:solidFill>
          <a:ln w="12700">
            <a:solidFill>
              <a:srgbClr val="DCE2F0"/>
            </a:solidFill>
            <a:prstDash val="solid"/>
          </a:ln>
        </p:spPr>
        <p:txBody>
          <a:bodyPr/>
          <a:p/>
        </p:txBody>
      </p:sp>
      <p:sp>
        <p:nvSpPr>
          <p:cNvPr id="11" name="Text 9"/>
          <p:cNvSpPr/>
          <p:nvPr/>
        </p:nvSpPr>
        <p:spPr>
          <a:xfrm>
            <a:off x="6492240" y="1929384"/>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02</a:t>
            </a:r>
            <a:endParaRPr lang="en-US" sz="2200" dirty="0"/>
          </a:p>
        </p:txBody>
      </p:sp>
      <p:sp>
        <p:nvSpPr>
          <p:cNvPr id="12" name="Text 10"/>
          <p:cNvSpPr/>
          <p:nvPr/>
        </p:nvSpPr>
        <p:spPr>
          <a:xfrm>
            <a:off x="7196328" y="1911096"/>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El dataset</a:t>
            </a:r>
            <a:endParaRPr lang="en-US" sz="1400" dirty="0"/>
          </a:p>
        </p:txBody>
      </p:sp>
      <p:sp>
        <p:nvSpPr>
          <p:cNvPr id="13" name="Text 11"/>
          <p:cNvSpPr/>
          <p:nvPr/>
        </p:nvSpPr>
        <p:spPr>
          <a:xfrm>
            <a:off x="7196328" y="2221992"/>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Seis anomalías deliberadas y lo que cada una rompe.</a:t>
            </a:r>
            <a:endParaRPr lang="en-US" sz="1150" dirty="0"/>
          </a:p>
        </p:txBody>
      </p:sp>
      <p:sp>
        <p:nvSpPr>
          <p:cNvPr id="14" name="Shape 12"/>
          <p:cNvSpPr/>
          <p:nvPr/>
        </p:nvSpPr>
        <p:spPr>
          <a:xfrm>
            <a:off x="566928" y="2990088"/>
            <a:ext cx="5349240" cy="1078992"/>
          </a:xfrm>
          <a:prstGeom prst="roundRect">
            <a:avLst>
              <a:gd name="adj" fmla="val 4237"/>
            </a:avLst>
          </a:prstGeom>
          <a:solidFill>
            <a:srgbClr val="F3F5FA"/>
          </a:solidFill>
          <a:ln w="12700">
            <a:solidFill>
              <a:srgbClr val="DCE2F0"/>
            </a:solidFill>
            <a:prstDash val="solid"/>
          </a:ln>
        </p:spPr>
        <p:txBody>
          <a:bodyPr/>
          <a:p/>
        </p:txBody>
      </p:sp>
      <p:sp>
        <p:nvSpPr>
          <p:cNvPr id="15" name="Text 13"/>
          <p:cNvSpPr/>
          <p:nvPr/>
        </p:nvSpPr>
        <p:spPr>
          <a:xfrm>
            <a:off x="822960" y="3227832"/>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03</a:t>
            </a:r>
            <a:endParaRPr lang="en-US" sz="2200" dirty="0"/>
          </a:p>
        </p:txBody>
      </p:sp>
      <p:sp>
        <p:nvSpPr>
          <p:cNvPr id="16" name="Text 14"/>
          <p:cNvSpPr/>
          <p:nvPr/>
        </p:nvSpPr>
        <p:spPr>
          <a:xfrm>
            <a:off x="1527048" y="3209544"/>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La arquitectura</a:t>
            </a:r>
            <a:endParaRPr lang="en-US" sz="1400" dirty="0"/>
          </a:p>
        </p:txBody>
      </p:sp>
      <p:sp>
        <p:nvSpPr>
          <p:cNvPr id="17" name="Text 15"/>
          <p:cNvSpPr/>
          <p:nvPr/>
        </p:nvSpPr>
        <p:spPr>
          <a:xfrm>
            <a:off x="1527048" y="3520440"/>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Dónde puse la frontera y por qué ahí.</a:t>
            </a:r>
            <a:endParaRPr lang="en-US" sz="1150" dirty="0"/>
          </a:p>
        </p:txBody>
      </p:sp>
      <p:sp>
        <p:nvSpPr>
          <p:cNvPr id="18" name="Shape 16"/>
          <p:cNvSpPr/>
          <p:nvPr/>
        </p:nvSpPr>
        <p:spPr>
          <a:xfrm>
            <a:off x="6236208" y="2990088"/>
            <a:ext cx="5349240" cy="1078992"/>
          </a:xfrm>
          <a:prstGeom prst="roundRect">
            <a:avLst>
              <a:gd name="adj" fmla="val 4237"/>
            </a:avLst>
          </a:prstGeom>
          <a:solidFill>
            <a:srgbClr val="F3F5FA"/>
          </a:solidFill>
          <a:ln w="12700">
            <a:solidFill>
              <a:srgbClr val="DCE2F0"/>
            </a:solidFill>
            <a:prstDash val="solid"/>
          </a:ln>
        </p:spPr>
        <p:txBody>
          <a:bodyPr/>
          <a:p/>
        </p:txBody>
      </p:sp>
      <p:sp>
        <p:nvSpPr>
          <p:cNvPr id="19" name="Text 17"/>
          <p:cNvSpPr/>
          <p:nvPr/>
        </p:nvSpPr>
        <p:spPr>
          <a:xfrm>
            <a:off x="6492240" y="3227832"/>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04</a:t>
            </a:r>
            <a:endParaRPr lang="en-US" sz="2200" dirty="0"/>
          </a:p>
        </p:txBody>
      </p:sp>
      <p:sp>
        <p:nvSpPr>
          <p:cNvPr id="20" name="Text 18"/>
          <p:cNvSpPr/>
          <p:nvPr/>
        </p:nvSpPr>
        <p:spPr>
          <a:xfrm>
            <a:off x="7196328" y="3209544"/>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Los resultados</a:t>
            </a:r>
            <a:endParaRPr lang="en-US" sz="1400" dirty="0"/>
          </a:p>
        </p:txBody>
      </p:sp>
      <p:sp>
        <p:nvSpPr>
          <p:cNvPr id="21" name="Text 19"/>
          <p:cNvSpPr/>
          <p:nvPr/>
        </p:nvSpPr>
        <p:spPr>
          <a:xfrm>
            <a:off x="7196328" y="3520440"/>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Las ocho preguntas, incluidos los dos rechazos.</a:t>
            </a:r>
            <a:endParaRPr lang="en-US" sz="1150" dirty="0"/>
          </a:p>
        </p:txBody>
      </p:sp>
      <p:sp>
        <p:nvSpPr>
          <p:cNvPr id="22" name="Shape 20"/>
          <p:cNvSpPr/>
          <p:nvPr/>
        </p:nvSpPr>
        <p:spPr>
          <a:xfrm>
            <a:off x="566928" y="4288536"/>
            <a:ext cx="5349240" cy="1078992"/>
          </a:xfrm>
          <a:prstGeom prst="roundRect">
            <a:avLst>
              <a:gd name="adj" fmla="val 4237"/>
            </a:avLst>
          </a:prstGeom>
          <a:solidFill>
            <a:srgbClr val="F3F5FA"/>
          </a:solidFill>
          <a:ln w="12700">
            <a:solidFill>
              <a:srgbClr val="DCE2F0"/>
            </a:solidFill>
            <a:prstDash val="solid"/>
          </a:ln>
        </p:spPr>
        <p:txBody>
          <a:bodyPr/>
          <a:p/>
        </p:txBody>
      </p:sp>
      <p:sp>
        <p:nvSpPr>
          <p:cNvPr id="23" name="Text 21"/>
          <p:cNvSpPr/>
          <p:nvPr/>
        </p:nvSpPr>
        <p:spPr>
          <a:xfrm>
            <a:off x="822960" y="4526280"/>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05</a:t>
            </a:r>
            <a:endParaRPr lang="en-US" sz="2200" dirty="0"/>
          </a:p>
        </p:txBody>
      </p:sp>
      <p:sp>
        <p:nvSpPr>
          <p:cNvPr id="24" name="Text 22"/>
          <p:cNvSpPr/>
          <p:nvPr/>
        </p:nvSpPr>
        <p:spPr>
          <a:xfrm>
            <a:off x="1527048" y="4507992"/>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La verificación</a:t>
            </a:r>
            <a:endParaRPr lang="en-US" sz="1400" dirty="0"/>
          </a:p>
        </p:txBody>
      </p:sp>
      <p:sp>
        <p:nvSpPr>
          <p:cNvPr id="25" name="Text 23"/>
          <p:cNvSpPr/>
          <p:nvPr/>
        </p:nvSpPr>
        <p:spPr>
          <a:xfrm>
            <a:off x="1527048" y="4818888"/>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Cómo sé que funciona, y contra otro dataset.</a:t>
            </a:r>
            <a:endParaRPr lang="en-US" sz="1150" dirty="0"/>
          </a:p>
        </p:txBody>
      </p:sp>
      <p:sp>
        <p:nvSpPr>
          <p:cNvPr id="26" name="Shape 24"/>
          <p:cNvSpPr/>
          <p:nvPr/>
        </p:nvSpPr>
        <p:spPr>
          <a:xfrm>
            <a:off x="6236208" y="4288536"/>
            <a:ext cx="5349240" cy="1078992"/>
          </a:xfrm>
          <a:prstGeom prst="roundRect">
            <a:avLst>
              <a:gd name="adj" fmla="val 4237"/>
            </a:avLst>
          </a:prstGeom>
          <a:solidFill>
            <a:srgbClr val="F3F5FA"/>
          </a:solidFill>
          <a:ln w="12700">
            <a:solidFill>
              <a:srgbClr val="DCE2F0"/>
            </a:solidFill>
            <a:prstDash val="solid"/>
          </a:ln>
        </p:spPr>
        <p:txBody>
          <a:bodyPr/>
          <a:p/>
        </p:txBody>
      </p:sp>
      <p:sp>
        <p:nvSpPr>
          <p:cNvPr id="27" name="Text 25"/>
          <p:cNvSpPr/>
          <p:nvPr/>
        </p:nvSpPr>
        <p:spPr>
          <a:xfrm>
            <a:off x="6492240" y="4526280"/>
            <a:ext cx="640080" cy="457200"/>
          </a:xfrm>
          <a:prstGeom prst="rect">
            <a:avLst/>
          </a:prstGeom>
          <a:noFill/>
          <a:ln/>
        </p:spPr>
        <p:txBody>
          <a:bodyPr wrap="square" lIns="0" tIns="0" rIns="0" bIns="0" rtlCol="0" anchor="ctr"/>
          <a:lstStyle/>
          <a:p>
            <a:pPr marL="0" indent="0">
              <a:buNone/>
            </a:pPr>
            <a:r>
              <a:rPr lang="en-US" sz="2200" b="1" dirty="0">
                <a:solidFill>
                  <a:srgbClr val="9FB0DC"/>
                </a:solidFill>
                <a:latin typeface="Cambria" pitchFamily="34" charset="0"/>
                <a:ea typeface="Cambria" pitchFamily="34" charset="-122"/>
                <a:cs typeface="Cambria" pitchFamily="34" charset="-120"/>
              </a:rPr>
              <a:t>06</a:t>
            </a:r>
            <a:endParaRPr lang="en-US" sz="2200" dirty="0"/>
          </a:p>
        </p:txBody>
      </p:sp>
      <p:sp>
        <p:nvSpPr>
          <p:cNvPr id="28" name="Text 26"/>
          <p:cNvSpPr/>
          <p:nvPr/>
        </p:nvSpPr>
        <p:spPr>
          <a:xfrm>
            <a:off x="7196328" y="4507992"/>
            <a:ext cx="4114800" cy="274320"/>
          </a:xfrm>
          <a:prstGeom prst="rect">
            <a:avLst/>
          </a:prstGeom>
          <a:noFill/>
          <a:ln/>
        </p:spPr>
        <p:txBody>
          <a:bodyPr wrap="square" lIns="0" tIns="0" rIns="0" bIns="0" rtlCol="0" anchor="ctr"/>
          <a:lstStyle/>
          <a:p>
            <a:pPr marL="0" indent="0">
              <a:buNone/>
            </a:pPr>
            <a:r>
              <a:rPr lang="en-US" sz="1400" b="1" dirty="0">
                <a:solidFill>
                  <a:srgbClr val="10162F"/>
                </a:solidFill>
                <a:latin typeface="Calibri" pitchFamily="34" charset="0"/>
                <a:ea typeface="Calibri" pitchFamily="34" charset="-122"/>
                <a:cs typeface="Calibri" pitchFamily="34" charset="-120"/>
              </a:rPr>
              <a:t>Producción</a:t>
            </a:r>
            <a:endParaRPr lang="en-US" sz="1400" dirty="0"/>
          </a:p>
        </p:txBody>
      </p:sp>
      <p:sp>
        <p:nvSpPr>
          <p:cNvPr id="29" name="Text 27"/>
          <p:cNvSpPr/>
          <p:nvPr/>
        </p:nvSpPr>
        <p:spPr>
          <a:xfrm>
            <a:off x="7196328" y="4818888"/>
            <a:ext cx="4160520" cy="384048"/>
          </a:xfrm>
          <a:prstGeom prst="rect">
            <a:avLst/>
          </a:prstGeom>
          <a:noFill/>
          <a:ln/>
        </p:spPr>
        <p:txBody>
          <a:bodyPr wrap="square" lIns="0" tIns="0" rIns="0" bIns="0" rtlCol="0" anchor="ctr"/>
          <a:lstStyle/>
          <a:p>
            <a:pPr marL="0" indent="0">
              <a:lnSpc>
                <a:spcPts val="1500"/>
              </a:lnSpc>
              <a:buNone/>
            </a:pPr>
            <a:r>
              <a:rPr lang="en-US" sz="1150" dirty="0">
                <a:solidFill>
                  <a:srgbClr val="5C6784"/>
                </a:solidFill>
                <a:latin typeface="Calibri" pitchFamily="34" charset="0"/>
                <a:ea typeface="Calibri" pitchFamily="34" charset="-122"/>
                <a:cs typeface="Calibri" pitchFamily="34" charset="-120"/>
              </a:rPr>
              <a:t>Qué cambiaría y qué no.</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03</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01 · EL ENCARGO</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Tres personas, cuatro archivos, dos convenciones no escritas</a:t>
            </a:r>
            <a:endParaRPr lang="en-US" sz="2800" dirty="0"/>
          </a:p>
        </p:txBody>
      </p:sp>
      <p:sp>
        <p:nvSpPr>
          <p:cNvPr id="6" name="Text 4"/>
          <p:cNvSpPr/>
          <p:nvPr/>
        </p:nvSpPr>
        <p:spPr>
          <a:xfrm>
            <a:off x="566928" y="1627632"/>
            <a:ext cx="6583680" cy="914400"/>
          </a:xfrm>
          <a:prstGeom prst="rect">
            <a:avLst/>
          </a:prstGeom>
          <a:noFill/>
          <a:ln/>
        </p:spPr>
        <p:txBody>
          <a:bodyPr wrap="square" lIns="0" tIns="0" rIns="0" bIns="0" rtlCol="0" anchor="ctr"/>
          <a:lstStyle/>
          <a:p>
            <a:pPr marL="0" indent="0">
              <a:lnSpc>
                <a:spcPts val="2100"/>
              </a:lnSpc>
              <a:buNone/>
            </a:pPr>
            <a:r>
              <a:rPr lang="en-US" sz="1400" dirty="0">
                <a:solidFill>
                  <a:srgbClr val="10162F"/>
                </a:solidFill>
                <a:latin typeface="Calibri" pitchFamily="34" charset="0"/>
                <a:ea typeface="Calibri" pitchFamily="34" charset="-122"/>
                <a:cs typeface="Calibri" pitchFamily="34" charset="-120"/>
              </a:rPr>
              <a:t>El equipo de planificación financiera de Meridian responde todo el día a la misma pregunta con distinta ropa: por qué esta cifra no es la que esperábamos. Para contestarla abren cuatro archivos y aplican dos convenciones contables que nadie documentó jamás.</a:t>
            </a:r>
            <a:endParaRPr lang="en-US" sz="1400" dirty="0"/>
          </a:p>
        </p:txBody>
      </p:sp>
      <p:sp>
        <p:nvSpPr>
          <p:cNvPr id="7" name="Text 5"/>
          <p:cNvSpPr/>
          <p:nvPr/>
        </p:nvSpPr>
        <p:spPr>
          <a:xfrm>
            <a:off x="566928" y="2788920"/>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10.916</a:t>
            </a:r>
            <a:endParaRPr lang="en-US" sz="2200" dirty="0"/>
          </a:p>
        </p:txBody>
      </p:sp>
      <p:sp>
        <p:nvSpPr>
          <p:cNvPr id="8" name="Text 6"/>
          <p:cNvSpPr/>
          <p:nvPr/>
        </p:nvSpPr>
        <p:spPr>
          <a:xfrm>
            <a:off x="2084832" y="2871216"/>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transacciones de ledger</a:t>
            </a:r>
            <a:endParaRPr lang="en-US" sz="1300" dirty="0"/>
          </a:p>
        </p:txBody>
      </p:sp>
      <p:sp>
        <p:nvSpPr>
          <p:cNvPr id="9" name="Text 7"/>
          <p:cNvSpPr/>
          <p:nvPr/>
        </p:nvSpPr>
        <p:spPr>
          <a:xfrm>
            <a:off x="566928" y="3447288"/>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3</a:t>
            </a:r>
            <a:endParaRPr lang="en-US" sz="2200" dirty="0"/>
          </a:p>
        </p:txBody>
      </p:sp>
      <p:sp>
        <p:nvSpPr>
          <p:cNvPr id="10" name="Text 8"/>
          <p:cNvSpPr/>
          <p:nvPr/>
        </p:nvSpPr>
        <p:spPr>
          <a:xfrm>
            <a:off x="2084832" y="3529584"/>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entidades y monedas</a:t>
            </a:r>
            <a:endParaRPr lang="en-US" sz="1300" dirty="0"/>
          </a:p>
        </p:txBody>
      </p:sp>
      <p:sp>
        <p:nvSpPr>
          <p:cNvPr id="11" name="Text 9"/>
          <p:cNvSpPr/>
          <p:nvPr/>
        </p:nvSpPr>
        <p:spPr>
          <a:xfrm>
            <a:off x="566928" y="4105656"/>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2084832" y="4187952"/>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archivos de datos</a:t>
            </a:r>
            <a:endParaRPr lang="en-US" sz="1300" dirty="0"/>
          </a:p>
        </p:txBody>
      </p:sp>
      <p:sp>
        <p:nvSpPr>
          <p:cNvPr id="13" name="Text 11"/>
          <p:cNvSpPr/>
          <p:nvPr/>
        </p:nvSpPr>
        <p:spPr>
          <a:xfrm>
            <a:off x="566928" y="4764024"/>
            <a:ext cx="1371600" cy="402336"/>
          </a:xfrm>
          <a:prstGeom prst="rect">
            <a:avLst/>
          </a:prstGeom>
          <a:noFill/>
          <a:ln/>
        </p:spPr>
        <p:txBody>
          <a:bodyPr wrap="square" lIns="0" tIns="0" rIns="0" bIns="0" rtlCol="0" anchor="ctr"/>
          <a:lstStyle/>
          <a:p>
            <a:pPr marL="0" indent="0" algn="r">
              <a:buNone/>
            </a:pPr>
            <a:r>
              <a:rPr lang="en-US" sz="2200" b="1" dirty="0">
                <a:solidFill>
                  <a:srgbClr val="1B2A5E"/>
                </a:solidFill>
                <a:latin typeface="Cambria" pitchFamily="34" charset="0"/>
                <a:ea typeface="Cambria" pitchFamily="34" charset="-122"/>
                <a:cs typeface="Cambria" pitchFamily="34" charset="-120"/>
              </a:rPr>
              <a:t>4</a:t>
            </a:r>
            <a:endParaRPr lang="en-US" sz="2200" dirty="0"/>
          </a:p>
        </p:txBody>
      </p:sp>
      <p:sp>
        <p:nvSpPr>
          <p:cNvPr id="14" name="Text 12"/>
          <p:cNvSpPr/>
          <p:nvPr/>
        </p:nvSpPr>
        <p:spPr>
          <a:xfrm>
            <a:off x="2084832" y="4846320"/>
            <a:ext cx="4937760" cy="310896"/>
          </a:xfrm>
          <a:prstGeom prst="rect">
            <a:avLst/>
          </a:prstGeom>
          <a:noFill/>
          <a:ln/>
        </p:spPr>
        <p:txBody>
          <a:bodyPr wrap="square" lIns="0" tIns="0" rIns="0" bIns="0" rtlCol="0" anchor="ctr"/>
          <a:lstStyle/>
          <a:p>
            <a:pPr marL="0" indent="0">
              <a:buNone/>
            </a:pPr>
            <a:r>
              <a:rPr lang="en-US" sz="1300" dirty="0">
                <a:solidFill>
                  <a:srgbClr val="10162F"/>
                </a:solidFill>
                <a:latin typeface="Calibri" pitchFamily="34" charset="0"/>
                <a:ea typeface="Calibri" pitchFamily="34" charset="-122"/>
                <a:cs typeface="Calibri" pitchFamily="34" charset="-120"/>
              </a:rPr>
              <a:t>documentos internos</a:t>
            </a:r>
            <a:endParaRPr lang="en-US" sz="1300" dirty="0"/>
          </a:p>
        </p:txBody>
      </p:sp>
      <p:sp>
        <p:nvSpPr>
          <p:cNvPr id="15" name="Shape 13"/>
          <p:cNvSpPr/>
          <p:nvPr/>
        </p:nvSpPr>
        <p:spPr>
          <a:xfrm>
            <a:off x="7452360" y="1627632"/>
            <a:ext cx="41148" cy="2331720"/>
          </a:xfrm>
          <a:prstGeom prst="rect">
            <a:avLst/>
          </a:prstGeom>
          <a:solidFill>
            <a:srgbClr val="1B2A5E"/>
          </a:solidFill>
          <a:ln/>
        </p:spPr>
        <p:txBody>
          <a:bodyPr/>
          <a:p/>
        </p:txBody>
      </p:sp>
      <p:sp>
        <p:nvSpPr>
          <p:cNvPr id="16" name="Shape 14"/>
          <p:cNvSpPr/>
          <p:nvPr/>
        </p:nvSpPr>
        <p:spPr>
          <a:xfrm>
            <a:off x="7493508" y="1627632"/>
            <a:ext cx="4073652" cy="2331720"/>
          </a:xfrm>
          <a:prstGeom prst="rect">
            <a:avLst/>
          </a:prstGeom>
          <a:solidFill>
            <a:srgbClr val="F3F5FA"/>
          </a:solidFill>
          <a:ln w="12700">
            <a:solidFill>
              <a:srgbClr val="F3F5FA"/>
            </a:solidFill>
            <a:prstDash val="solid"/>
          </a:ln>
        </p:spPr>
        <p:txBody>
          <a:bodyPr/>
          <a:p/>
        </p:txBody>
      </p:sp>
      <p:sp>
        <p:nvSpPr>
          <p:cNvPr id="17" name="Text 15"/>
          <p:cNvSpPr/>
          <p:nvPr/>
        </p:nvSpPr>
        <p:spPr>
          <a:xfrm>
            <a:off x="7726680" y="1755648"/>
            <a:ext cx="356616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El criterio de éxito, textual</a:t>
            </a:r>
            <a:endParaRPr lang="en-US" sz="1050" dirty="0"/>
          </a:p>
        </p:txBody>
      </p:sp>
      <p:sp>
        <p:nvSpPr>
          <p:cNvPr id="18" name="Text 16"/>
          <p:cNvSpPr/>
          <p:nvPr/>
        </p:nvSpPr>
        <p:spPr>
          <a:xfrm>
            <a:off x="7726680" y="2011680"/>
            <a:ext cx="3566160" cy="181965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«Si le entrega a un cliente un número equivocado una sola vez, estamos acabados.»</a:t>
            </a:r>
            <a:endParaRPr lang="en-US" sz="1200" dirty="0"/>
          </a:p>
        </p:txBody>
      </p:sp>
      <p:sp>
        <p:nvSpPr>
          <p:cNvPr id="19" name="Text 17"/>
          <p:cNvSpPr/>
          <p:nvPr/>
        </p:nvSpPr>
        <p:spPr>
          <a:xfrm>
            <a:off x="7452360" y="4160520"/>
            <a:ext cx="4114800" cy="365760"/>
          </a:xfrm>
          <a:prstGeom prst="rect">
            <a:avLst/>
          </a:prstGeom>
          <a:noFill/>
          <a:ln/>
        </p:spPr>
        <p:txBody>
          <a:bodyPr wrap="square" lIns="0" tIns="0" rIns="0" bIns="0" rtlCol="0" anchor="ctr"/>
          <a:lstStyle/>
          <a:p>
            <a:pPr marL="0" indent="0">
              <a:lnSpc>
                <a:spcPts val="1900"/>
              </a:lnSpc>
              <a:buNone/>
            </a:pPr>
            <a:r>
              <a:rPr lang="en-US" sz="1300" b="1" dirty="0">
                <a:solidFill>
                  <a:srgbClr val="10162F"/>
                </a:solidFill>
                <a:latin typeface="Calibri" pitchFamily="34" charset="0"/>
                <a:ea typeface="Calibri" pitchFamily="34" charset="-122"/>
                <a:cs typeface="Calibri" pitchFamily="34" charset="-120"/>
              </a:rPr>
              <a:t>Esa frase no es retórica. Determina toda la arquitectura.</a:t>
            </a:r>
            <a:endParaRPr lang="en-US" sz="1300" dirty="0"/>
          </a:p>
        </p:txBody>
      </p:sp>
      <p:sp>
        <p:nvSpPr>
          <p:cNvPr id="20" name="Text 18"/>
          <p:cNvSpPr/>
          <p:nvPr/>
        </p:nvSpPr>
        <p:spPr>
          <a:xfrm>
            <a:off x="7452360" y="4617720"/>
            <a:ext cx="4114800" cy="822960"/>
          </a:xfrm>
          <a:prstGeom prst="rect">
            <a:avLst/>
          </a:prstGeom>
          <a:noFill/>
          <a:ln/>
        </p:spPr>
        <p:txBody>
          <a:bodyPr wrap="square" lIns="0" tIns="0" rIns="0" bIns="0" rtlCol="0" anchor="ctr"/>
          <a:lstStyle/>
          <a:p>
            <a:pPr marL="0" indent="0">
              <a:lnSpc>
                <a:spcPts val="1800"/>
              </a:lnSpc>
              <a:buNone/>
            </a:pPr>
            <a:r>
              <a:rPr lang="en-US" sz="1250" dirty="0">
                <a:solidFill>
                  <a:srgbClr val="5C6784"/>
                </a:solidFill>
                <a:latin typeface="Calibri" pitchFamily="34" charset="0"/>
                <a:ea typeface="Calibri" pitchFamily="34" charset="-122"/>
                <a:cs typeface="Calibri" pitchFamily="34" charset="-120"/>
              </a:rPr>
              <a:t>Dos de las ocho preguntas no tienen respuesta honesta en los datos. Averiguar cuáles, y decidir qué debe hacer el asistente, es parte del ejercicio.</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04</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01 · EL ENCARGO</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Ocho preguntas que parecen fáciles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4572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662940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Pregunta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Por qué no es trivial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Gasto operativo del Q2 por centro de coste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El trimestre no lleva año y los dos ejercicios difieren materialmente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Comparación de viajes entre ejercicios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Una cuenta se reclasifica a mitad de año: el resultado cambia de signo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Gasto consolidado del Q3 en dólares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Falta una tasa de cambio: el total exacto no es calculable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Diez mayores proveedores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Varios identificadores parecen el mismo proveedor, sin mapeo autoritativo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Peores centros contra presupuesto y su causa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El presupuesto tiene claves repetidas y el memo no coincide con los números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Transacciones que incumplen la política de viajes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El ledger no contiene toda la evidencia que la política exige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Coste de personal por empleado equivalente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El denominador no existe en ninguno de los archivos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7"/>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Pagos duplicados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El ledger permite detectar asientos, no pagos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 4"/>
          <p:cNvSpPr/>
          <p:nvPr/>
        </p:nvSpPr>
        <p:spPr>
          <a:xfrm>
            <a:off x="566928" y="5029200"/>
            <a:ext cx="11018520" cy="548640"/>
          </a:xfrm>
          <a:prstGeom prst="rect">
            <a:avLst/>
          </a:prstGeom>
          <a:noFill/>
          <a:ln/>
        </p:spPr>
        <p:txBody>
          <a:bodyPr wrap="square" lIns="0" tIns="0" rIns="0" bIns="0" rtlCol="0" anchor="ctr"/>
          <a:lstStyle/>
          <a:p>
            <a:pPr marL="0" indent="0">
              <a:lnSpc>
                <a:spcPts val="1900"/>
              </a:lnSpc>
              <a:buNone/>
            </a:pPr>
            <a:r>
              <a:rPr lang="en-US" sz="1300" i="1" dirty="0">
                <a:solidFill>
                  <a:srgbClr val="5C6784"/>
                </a:solidFill>
                <a:latin typeface="Calibri" pitchFamily="34" charset="0"/>
                <a:ea typeface="Calibri" pitchFamily="34" charset="-122"/>
                <a:cs typeface="Calibri" pitchFamily="34" charset="-120"/>
              </a:rPr>
              <a:t>La dificultad no está en la aritmética. Está en que cada pregunta depende de convenciones que no aparecen en los datos y que, aplicadas mal, producen resultados que parecen correctos.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05</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02 · EL DATASET</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El conjunto está minado a propósito (1 de 2)</a:t>
            </a:r>
            <a:endParaRPr lang="en-US" sz="2800" dirty="0"/>
          </a:p>
        </p:txBody>
      </p:sp>
      <p:sp>
        <p:nvSpPr>
          <p:cNvPr id="6" name="Shape 4"/>
          <p:cNvSpPr/>
          <p:nvPr/>
        </p:nvSpPr>
        <p:spPr>
          <a:xfrm>
            <a:off x="566928" y="1691640"/>
            <a:ext cx="11018520" cy="1225296"/>
          </a:xfrm>
          <a:prstGeom prst="roundRect">
            <a:avLst>
              <a:gd name="adj" fmla="val 3731"/>
            </a:avLst>
          </a:prstGeom>
          <a:solidFill>
            <a:srgbClr val="F3F5FA"/>
          </a:solidFill>
          <a:ln w="12700">
            <a:solidFill>
              <a:srgbClr val="DCE2F0"/>
            </a:solidFill>
            <a:prstDash val="solid"/>
          </a:ln>
        </p:spPr>
        <p:txBody>
          <a:bodyPr/>
          <a:p/>
        </p:txBody>
      </p:sp>
      <p:sp>
        <p:nvSpPr>
          <p:cNvPr id="7" name="Text 5"/>
          <p:cNvSpPr/>
          <p:nvPr/>
        </p:nvSpPr>
        <p:spPr>
          <a:xfrm>
            <a:off x="841248" y="185623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FECHAS</a:t>
            </a:r>
            <a:endParaRPr lang="en-US" sz="1000" dirty="0"/>
          </a:p>
        </p:txBody>
      </p:sp>
      <p:sp>
        <p:nvSpPr>
          <p:cNvPr id="8" name="Text 6"/>
          <p:cNvSpPr/>
          <p:nvPr/>
        </p:nvSpPr>
        <p:spPr>
          <a:xfrm>
            <a:off x="841248" y="213055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894 filas con mes de contabilización distinto al de devengo; 114 cruzan el año fiscal.</a:t>
            </a:r>
            <a:endParaRPr lang="en-US" sz="1300" dirty="0"/>
          </a:p>
        </p:txBody>
      </p:sp>
      <p:sp>
        <p:nvSpPr>
          <p:cNvPr id="9" name="Shape 7"/>
          <p:cNvSpPr/>
          <p:nvPr/>
        </p:nvSpPr>
        <p:spPr>
          <a:xfrm>
            <a:off x="7635240" y="1892808"/>
            <a:ext cx="32004" cy="822960"/>
          </a:xfrm>
          <a:prstGeom prst="rect">
            <a:avLst/>
          </a:prstGeom>
          <a:solidFill>
            <a:srgbClr val="9A6410"/>
          </a:solidFill>
          <a:ln/>
        </p:spPr>
        <p:txBody>
          <a:bodyPr/>
          <a:p/>
        </p:txBody>
      </p:sp>
      <p:sp>
        <p:nvSpPr>
          <p:cNvPr id="10" name="Text 8"/>
          <p:cNvSpPr/>
          <p:nvPr/>
        </p:nvSpPr>
        <p:spPr>
          <a:xfrm>
            <a:off x="7863840" y="189280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MODO DE FALLO</a:t>
            </a:r>
            <a:endParaRPr lang="en-US" sz="900" dirty="0"/>
          </a:p>
        </p:txBody>
      </p:sp>
      <p:sp>
        <p:nvSpPr>
          <p:cNvPr id="11" name="Text 9"/>
          <p:cNvSpPr/>
          <p:nvPr/>
        </p:nvSpPr>
        <p:spPr>
          <a:xfrm>
            <a:off x="7863840" y="214884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Filtrar por fecha de contabilización desplaza el ejercicio.</a:t>
            </a:r>
            <a:endParaRPr lang="en-US" sz="1200" dirty="0"/>
          </a:p>
        </p:txBody>
      </p:sp>
      <p:sp>
        <p:nvSpPr>
          <p:cNvPr id="12" name="Shape 10"/>
          <p:cNvSpPr/>
          <p:nvPr/>
        </p:nvSpPr>
        <p:spPr>
          <a:xfrm>
            <a:off x="566928" y="3108960"/>
            <a:ext cx="11018520" cy="1225296"/>
          </a:xfrm>
          <a:prstGeom prst="roundRect">
            <a:avLst>
              <a:gd name="adj" fmla="val 3731"/>
            </a:avLst>
          </a:prstGeom>
          <a:solidFill>
            <a:srgbClr val="F3F5FA"/>
          </a:solidFill>
          <a:ln w="12700">
            <a:solidFill>
              <a:srgbClr val="DCE2F0"/>
            </a:solidFill>
            <a:prstDash val="solid"/>
          </a:ln>
        </p:spPr>
        <p:txBody>
          <a:bodyPr/>
          <a:p/>
        </p:txBody>
      </p:sp>
      <p:sp>
        <p:nvSpPr>
          <p:cNvPr id="13" name="Text 11"/>
          <p:cNvSpPr/>
          <p:nvPr/>
        </p:nvSpPr>
        <p:spPr>
          <a:xfrm>
            <a:off x="841248" y="327355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TIPO DE CAMBIO</a:t>
            </a:r>
            <a:endParaRPr lang="en-US" sz="1000" dirty="0"/>
          </a:p>
        </p:txBody>
      </p:sp>
      <p:sp>
        <p:nvSpPr>
          <p:cNvPr id="14" name="Text 12"/>
          <p:cNvSpPr/>
          <p:nvPr/>
        </p:nvSpPr>
        <p:spPr>
          <a:xfrm>
            <a:off x="841248" y="354787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Falta exactamente una tasa: euro para 2024-09. Afecta 147 filas por EUR 1.231.309.</a:t>
            </a:r>
            <a:endParaRPr lang="en-US" sz="1300" dirty="0"/>
          </a:p>
        </p:txBody>
      </p:sp>
      <p:sp>
        <p:nvSpPr>
          <p:cNvPr id="15" name="Shape 13"/>
          <p:cNvSpPr/>
          <p:nvPr/>
        </p:nvSpPr>
        <p:spPr>
          <a:xfrm>
            <a:off x="7635240" y="3310128"/>
            <a:ext cx="32004" cy="822960"/>
          </a:xfrm>
          <a:prstGeom prst="rect">
            <a:avLst/>
          </a:prstGeom>
          <a:solidFill>
            <a:srgbClr val="9A6410"/>
          </a:solidFill>
          <a:ln/>
        </p:spPr>
        <p:txBody>
          <a:bodyPr/>
          <a:p/>
        </p:txBody>
      </p:sp>
      <p:sp>
        <p:nvSpPr>
          <p:cNvPr id="16" name="Text 14"/>
          <p:cNvSpPr/>
          <p:nvPr/>
        </p:nvSpPr>
        <p:spPr>
          <a:xfrm>
            <a:off x="7863840" y="331012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MODO DE FALLO</a:t>
            </a:r>
            <a:endParaRPr lang="en-US" sz="900" dirty="0"/>
          </a:p>
        </p:txBody>
      </p:sp>
      <p:sp>
        <p:nvSpPr>
          <p:cNvPr id="17" name="Text 15"/>
          <p:cNvSpPr/>
          <p:nvPr/>
        </p:nvSpPr>
        <p:spPr>
          <a:xfrm>
            <a:off x="7863840" y="356616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Una agregación que ignora nulos inventa un ahorro.</a:t>
            </a:r>
            <a:endParaRPr lang="en-US" sz="1200" dirty="0"/>
          </a:p>
        </p:txBody>
      </p:sp>
      <p:sp>
        <p:nvSpPr>
          <p:cNvPr id="18" name="Shape 16"/>
          <p:cNvSpPr/>
          <p:nvPr/>
        </p:nvSpPr>
        <p:spPr>
          <a:xfrm>
            <a:off x="566928" y="4526280"/>
            <a:ext cx="11018520" cy="1225296"/>
          </a:xfrm>
          <a:prstGeom prst="roundRect">
            <a:avLst>
              <a:gd name="adj" fmla="val 3731"/>
            </a:avLst>
          </a:prstGeom>
          <a:solidFill>
            <a:srgbClr val="F3F5FA"/>
          </a:solidFill>
          <a:ln w="12700">
            <a:solidFill>
              <a:srgbClr val="DCE2F0"/>
            </a:solidFill>
            <a:prstDash val="solid"/>
          </a:ln>
        </p:spPr>
        <p:txBody>
          <a:bodyPr/>
          <a:p/>
        </p:txBody>
      </p:sp>
      <p:sp>
        <p:nvSpPr>
          <p:cNvPr id="19" name="Text 17"/>
          <p:cNvSpPr/>
          <p:nvPr/>
        </p:nvSpPr>
        <p:spPr>
          <a:xfrm>
            <a:off x="841248" y="469087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PLAN CONTABLE</a:t>
            </a:r>
            <a:endParaRPr lang="en-US" sz="1000" dirty="0"/>
          </a:p>
        </p:txBody>
      </p:sp>
      <p:sp>
        <p:nvSpPr>
          <p:cNvPr id="20" name="Text 18"/>
          <p:cNvSpPr/>
          <p:nvPr/>
        </p:nvSpPr>
        <p:spPr>
          <a:xfrm>
            <a:off x="841248" y="496519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La cuenta 6230 cambia de padre el 1 de julio de 2024. Mismo código, distinta jerarquía.</a:t>
            </a:r>
            <a:endParaRPr lang="en-US" sz="1300" dirty="0"/>
          </a:p>
        </p:txBody>
      </p:sp>
      <p:sp>
        <p:nvSpPr>
          <p:cNvPr id="21" name="Shape 19"/>
          <p:cNvSpPr/>
          <p:nvPr/>
        </p:nvSpPr>
        <p:spPr>
          <a:xfrm>
            <a:off x="7635240" y="4727448"/>
            <a:ext cx="32004" cy="822960"/>
          </a:xfrm>
          <a:prstGeom prst="rect">
            <a:avLst/>
          </a:prstGeom>
          <a:solidFill>
            <a:srgbClr val="9A6410"/>
          </a:solidFill>
          <a:ln/>
        </p:spPr>
        <p:txBody>
          <a:bodyPr/>
          <a:p/>
        </p:txBody>
      </p:sp>
      <p:sp>
        <p:nvSpPr>
          <p:cNvPr id="22" name="Text 20"/>
          <p:cNvSpPr/>
          <p:nvPr/>
        </p:nvSpPr>
        <p:spPr>
          <a:xfrm>
            <a:off x="7863840" y="472744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MODO DE FALLO</a:t>
            </a:r>
            <a:endParaRPr lang="en-US" sz="900" dirty="0"/>
          </a:p>
        </p:txBody>
      </p:sp>
      <p:sp>
        <p:nvSpPr>
          <p:cNvPr id="23" name="Text 21"/>
          <p:cNvSpPr/>
          <p:nvPr/>
        </p:nvSpPr>
        <p:spPr>
          <a:xfrm>
            <a:off x="7863840" y="498348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Eliminar duplicados por código es catástrofe silenciosa.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06</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02 · EL DATASET</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El conjunto está minado a propósito (2 de 2)</a:t>
            </a:r>
            <a:endParaRPr lang="en-US" sz="2800" dirty="0"/>
          </a:p>
        </p:txBody>
      </p:sp>
      <p:sp>
        <p:nvSpPr>
          <p:cNvPr id="6" name="Shape 4"/>
          <p:cNvSpPr/>
          <p:nvPr/>
        </p:nvSpPr>
        <p:spPr>
          <a:xfrm>
            <a:off x="566928" y="1691640"/>
            <a:ext cx="11018520" cy="1225296"/>
          </a:xfrm>
          <a:prstGeom prst="roundRect">
            <a:avLst>
              <a:gd name="adj" fmla="val 3731"/>
            </a:avLst>
          </a:prstGeom>
          <a:solidFill>
            <a:srgbClr val="F3F5FA"/>
          </a:solidFill>
          <a:ln w="12700">
            <a:solidFill>
              <a:srgbClr val="DCE2F0"/>
            </a:solidFill>
            <a:prstDash val="solid"/>
          </a:ln>
        </p:spPr>
        <p:txBody>
          <a:bodyPr/>
          <a:p/>
        </p:txBody>
      </p:sp>
      <p:sp>
        <p:nvSpPr>
          <p:cNvPr id="7" name="Text 5"/>
          <p:cNvSpPr/>
          <p:nvPr/>
        </p:nvSpPr>
        <p:spPr>
          <a:xfrm>
            <a:off x="841248" y="185623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CENTROS DE COSTE</a:t>
            </a:r>
            <a:endParaRPr lang="en-US" sz="1000" dirty="0"/>
          </a:p>
        </p:txBody>
      </p:sp>
      <p:sp>
        <p:nvSpPr>
          <p:cNvPr id="8" name="Text 6"/>
          <p:cNvSpPr/>
          <p:nvPr/>
        </p:nvSpPr>
        <p:spPr>
          <a:xfrm>
            <a:off x="841248" y="213055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OPS-NA pasa a OPS-AMER el 1 de julio de 2024. El plan sí se reexpresó; el histórico no.</a:t>
            </a:r>
            <a:endParaRPr lang="en-US" sz="1300" dirty="0"/>
          </a:p>
        </p:txBody>
      </p:sp>
      <p:sp>
        <p:nvSpPr>
          <p:cNvPr id="9" name="Shape 7"/>
          <p:cNvSpPr/>
          <p:nvPr/>
        </p:nvSpPr>
        <p:spPr>
          <a:xfrm>
            <a:off x="7635240" y="1892808"/>
            <a:ext cx="32004" cy="822960"/>
          </a:xfrm>
          <a:prstGeom prst="rect">
            <a:avLst/>
          </a:prstGeom>
          <a:solidFill>
            <a:srgbClr val="9A6410"/>
          </a:solidFill>
          <a:ln/>
        </p:spPr>
        <p:txBody>
          <a:bodyPr/>
          <a:p/>
        </p:txBody>
      </p:sp>
      <p:sp>
        <p:nvSpPr>
          <p:cNvPr id="10" name="Text 8"/>
          <p:cNvSpPr/>
          <p:nvPr/>
        </p:nvSpPr>
        <p:spPr>
          <a:xfrm>
            <a:off x="7863840" y="189280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MODO DE FALLO</a:t>
            </a:r>
            <a:endParaRPr lang="en-US" sz="900" dirty="0"/>
          </a:p>
        </p:txBody>
      </p:sp>
      <p:sp>
        <p:nvSpPr>
          <p:cNvPr id="11" name="Text 9"/>
          <p:cNvSpPr/>
          <p:nvPr/>
        </p:nvSpPr>
        <p:spPr>
          <a:xfrm>
            <a:off x="7863840" y="214884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Comparar sin mapear da un resultado limpio y falso.</a:t>
            </a:r>
            <a:endParaRPr lang="en-US" sz="1200" dirty="0"/>
          </a:p>
        </p:txBody>
      </p:sp>
      <p:sp>
        <p:nvSpPr>
          <p:cNvPr id="12" name="Shape 10"/>
          <p:cNvSpPr/>
          <p:nvPr/>
        </p:nvSpPr>
        <p:spPr>
          <a:xfrm>
            <a:off x="566928" y="3108960"/>
            <a:ext cx="11018520" cy="1225296"/>
          </a:xfrm>
          <a:prstGeom prst="roundRect">
            <a:avLst>
              <a:gd name="adj" fmla="val 3731"/>
            </a:avLst>
          </a:prstGeom>
          <a:solidFill>
            <a:srgbClr val="F3F5FA"/>
          </a:solidFill>
          <a:ln w="12700">
            <a:solidFill>
              <a:srgbClr val="DCE2F0"/>
            </a:solidFill>
            <a:prstDash val="solid"/>
          </a:ln>
        </p:spPr>
        <p:txBody>
          <a:bodyPr/>
          <a:p/>
        </p:txBody>
      </p:sp>
      <p:sp>
        <p:nvSpPr>
          <p:cNvPr id="13" name="Text 11"/>
          <p:cNvSpPr/>
          <p:nvPr/>
        </p:nvSpPr>
        <p:spPr>
          <a:xfrm>
            <a:off x="841248" y="327355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PRESUPUESTO</a:t>
            </a:r>
            <a:endParaRPr lang="en-US" sz="1000" dirty="0"/>
          </a:p>
        </p:txBody>
      </p:sp>
      <p:sp>
        <p:nvSpPr>
          <p:cNvPr id="14" name="Text 12"/>
          <p:cNvSpPr/>
          <p:nvPr/>
        </p:nvSpPr>
        <p:spPr>
          <a:xfrm>
            <a:off x="841248" y="354787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228 claves dimensionales repetidas, todas en el centro afectado por la reorganización.</a:t>
            </a:r>
            <a:endParaRPr lang="en-US" sz="1300" dirty="0"/>
          </a:p>
        </p:txBody>
      </p:sp>
      <p:sp>
        <p:nvSpPr>
          <p:cNvPr id="15" name="Shape 13"/>
          <p:cNvSpPr/>
          <p:nvPr/>
        </p:nvSpPr>
        <p:spPr>
          <a:xfrm>
            <a:off x="7635240" y="3310128"/>
            <a:ext cx="32004" cy="822960"/>
          </a:xfrm>
          <a:prstGeom prst="rect">
            <a:avLst/>
          </a:prstGeom>
          <a:solidFill>
            <a:srgbClr val="9A6410"/>
          </a:solidFill>
          <a:ln/>
        </p:spPr>
        <p:txBody>
          <a:bodyPr/>
          <a:p/>
        </p:txBody>
      </p:sp>
      <p:sp>
        <p:nvSpPr>
          <p:cNvPr id="16" name="Text 14"/>
          <p:cNvSpPr/>
          <p:nvPr/>
        </p:nvSpPr>
        <p:spPr>
          <a:xfrm>
            <a:off x="7863840" y="331012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MODO DE FALLO</a:t>
            </a:r>
            <a:endParaRPr lang="en-US" sz="900" dirty="0"/>
          </a:p>
        </p:txBody>
      </p:sp>
      <p:sp>
        <p:nvSpPr>
          <p:cNvPr id="17" name="Text 15"/>
          <p:cNvSpPr/>
          <p:nvPr/>
        </p:nvSpPr>
        <p:spPr>
          <a:xfrm>
            <a:off x="7863840" y="356616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Sumar o descartar cambia la varianza al doble.</a:t>
            </a:r>
            <a:endParaRPr lang="en-US" sz="1200" dirty="0"/>
          </a:p>
        </p:txBody>
      </p:sp>
      <p:sp>
        <p:nvSpPr>
          <p:cNvPr id="18" name="Shape 16"/>
          <p:cNvSpPr/>
          <p:nvPr/>
        </p:nvSpPr>
        <p:spPr>
          <a:xfrm>
            <a:off x="566928" y="4526280"/>
            <a:ext cx="11018520" cy="1225296"/>
          </a:xfrm>
          <a:prstGeom prst="roundRect">
            <a:avLst>
              <a:gd name="adj" fmla="val 3731"/>
            </a:avLst>
          </a:prstGeom>
          <a:solidFill>
            <a:srgbClr val="F3F5FA"/>
          </a:solidFill>
          <a:ln w="12700">
            <a:solidFill>
              <a:srgbClr val="DCE2F0"/>
            </a:solidFill>
            <a:prstDash val="solid"/>
          </a:ln>
        </p:spPr>
        <p:txBody>
          <a:bodyPr/>
          <a:p/>
        </p:txBody>
      </p:sp>
      <p:sp>
        <p:nvSpPr>
          <p:cNvPr id="19" name="Text 17"/>
          <p:cNvSpPr/>
          <p:nvPr/>
        </p:nvSpPr>
        <p:spPr>
          <a:xfrm>
            <a:off x="841248" y="4690872"/>
            <a:ext cx="2286000" cy="237744"/>
          </a:xfrm>
          <a:prstGeom prst="rect">
            <a:avLst/>
          </a:prstGeom>
          <a:noFill/>
          <a:ln/>
        </p:spPr>
        <p:txBody>
          <a:bodyPr wrap="square" lIns="0" tIns="0" rIns="0" bIns="0" rtlCol="0" anchor="ctr"/>
          <a:lstStyle/>
          <a:p>
            <a:pPr marL="0" indent="0">
              <a:buNone/>
            </a:pPr>
            <a:r>
              <a:rPr lang="en-US" sz="1000" b="1" kern="0" spc="120" dirty="0">
                <a:solidFill>
                  <a:srgbClr val="1B2A5E"/>
                </a:solidFill>
                <a:latin typeface="Calibri" pitchFamily="34" charset="0"/>
                <a:ea typeface="Calibri" pitchFamily="34" charset="-122"/>
                <a:cs typeface="Calibri" pitchFamily="34" charset="-120"/>
              </a:rPr>
              <a:t>PROVEEDORES</a:t>
            </a:r>
            <a:endParaRPr lang="en-US" sz="1000" dirty="0"/>
          </a:p>
        </p:txBody>
      </p:sp>
      <p:sp>
        <p:nvSpPr>
          <p:cNvPr id="20" name="Text 18"/>
          <p:cNvSpPr/>
          <p:nvPr/>
        </p:nvSpPr>
        <p:spPr>
          <a:xfrm>
            <a:off x="841248" y="4965192"/>
            <a:ext cx="6492240" cy="640080"/>
          </a:xfrm>
          <a:prstGeom prst="rect">
            <a:avLst/>
          </a:prstGeom>
          <a:noFill/>
          <a:ln/>
        </p:spPr>
        <p:txBody>
          <a:bodyPr wrap="square" lIns="0" tIns="0" rIns="0" bIns="0" rtlCol="0" anchor="ctr"/>
          <a:lstStyle/>
          <a:p>
            <a:pPr marL="0" indent="0">
              <a:lnSpc>
                <a:spcPts val="1800"/>
              </a:lnSpc>
              <a:buNone/>
            </a:pPr>
            <a:r>
              <a:rPr lang="en-US" sz="1300" dirty="0">
                <a:solidFill>
                  <a:srgbClr val="10162F"/>
                </a:solidFill>
                <a:latin typeface="Calibri" pitchFamily="34" charset="0"/>
                <a:ea typeface="Calibri" pitchFamily="34" charset="-122"/>
                <a:cs typeface="Calibri" pitchFamily="34" charset="-120"/>
              </a:rPr>
              <a:t>Cuatro identificadores que un humano agruparía. No existe identificador canónico.</a:t>
            </a:r>
            <a:endParaRPr lang="en-US" sz="1300" dirty="0"/>
          </a:p>
        </p:txBody>
      </p:sp>
      <p:sp>
        <p:nvSpPr>
          <p:cNvPr id="21" name="Shape 19"/>
          <p:cNvSpPr/>
          <p:nvPr/>
        </p:nvSpPr>
        <p:spPr>
          <a:xfrm>
            <a:off x="7635240" y="4727448"/>
            <a:ext cx="32004" cy="822960"/>
          </a:xfrm>
          <a:prstGeom prst="rect">
            <a:avLst/>
          </a:prstGeom>
          <a:solidFill>
            <a:srgbClr val="9A6410"/>
          </a:solidFill>
          <a:ln/>
        </p:spPr>
        <p:txBody>
          <a:bodyPr/>
          <a:p/>
        </p:txBody>
      </p:sp>
      <p:sp>
        <p:nvSpPr>
          <p:cNvPr id="22" name="Text 20"/>
          <p:cNvSpPr/>
          <p:nvPr/>
        </p:nvSpPr>
        <p:spPr>
          <a:xfrm>
            <a:off x="7863840" y="4727448"/>
            <a:ext cx="3474720" cy="201168"/>
          </a:xfrm>
          <a:prstGeom prst="rect">
            <a:avLst/>
          </a:prstGeom>
          <a:noFill/>
          <a:ln/>
        </p:spPr>
        <p:txBody>
          <a:bodyPr wrap="square" lIns="0" tIns="0" rIns="0" bIns="0" rtlCol="0" anchor="ctr"/>
          <a:lstStyle/>
          <a:p>
            <a:pPr marL="0" indent="0">
              <a:buNone/>
            </a:pPr>
            <a:r>
              <a:rPr lang="en-US" sz="900" b="1" kern="0" spc="100" dirty="0">
                <a:solidFill>
                  <a:srgbClr val="9A6410"/>
                </a:solidFill>
                <a:latin typeface="Calibri" pitchFamily="34" charset="0"/>
                <a:ea typeface="Calibri" pitchFamily="34" charset="-122"/>
                <a:cs typeface="Calibri" pitchFamily="34" charset="-120"/>
              </a:rPr>
              <a:t>MODO DE FALLO</a:t>
            </a:r>
            <a:endParaRPr lang="en-US" sz="900" dirty="0"/>
          </a:p>
        </p:txBody>
      </p:sp>
      <p:sp>
        <p:nvSpPr>
          <p:cNvPr id="23" name="Text 21"/>
          <p:cNvSpPr/>
          <p:nvPr/>
        </p:nvSpPr>
        <p:spPr>
          <a:xfrm>
            <a:off x="7863840" y="4983480"/>
            <a:ext cx="3520440" cy="603504"/>
          </a:xfrm>
          <a:prstGeom prst="rect">
            <a:avLst/>
          </a:prstGeom>
          <a:noFill/>
          <a:ln/>
        </p:spPr>
        <p:txBody>
          <a:bodyPr wrap="square" lIns="0" tIns="0" rIns="0" bIns="0" rtlCol="0" anchor="ctr"/>
          <a:lstStyle/>
          <a:p>
            <a:pPr marL="0" indent="0">
              <a:lnSpc>
                <a:spcPts val="1600"/>
              </a:lnSpc>
              <a:buNone/>
            </a:pPr>
            <a:r>
              <a:rPr lang="en-US" sz="1200" dirty="0">
                <a:solidFill>
                  <a:srgbClr val="10162F"/>
                </a:solidFill>
                <a:latin typeface="Calibri" pitchFamily="34" charset="0"/>
                <a:ea typeface="Calibri" pitchFamily="34" charset="-122"/>
                <a:cs typeface="Calibri" pitchFamily="34" charset="-120"/>
              </a:rPr>
              <a:t>Sin mapeo autoritativo, fusionar es inferir.</a:t>
            </a:r>
            <a:endParaRPr lang="en-US" sz="1200" dirty="0"/>
          </a:p>
        </p:txBody>
      </p:sp>
      <p:sp>
        <p:nvSpPr>
          <p:cNvPr id="24" name="Text 22"/>
          <p:cNvSpPr/>
          <p:nvPr/>
        </p:nvSpPr>
        <p:spPr>
          <a:xfrm>
            <a:off x="566928" y="5989320"/>
            <a:ext cx="11018520" cy="457200"/>
          </a:xfrm>
          <a:prstGeom prst="rect">
            <a:avLst/>
          </a:prstGeom>
          <a:noFill/>
          <a:ln/>
        </p:spPr>
        <p:txBody>
          <a:bodyPr wrap="square" lIns="0" tIns="0" rIns="0" bIns="0" rtlCol="0" anchor="ctr"/>
          <a:lstStyle/>
          <a:p>
            <a:pPr marL="0" indent="0">
              <a:buNone/>
            </a:pPr>
            <a:r>
              <a:rPr lang="en-US" sz="1250" i="1" dirty="0">
                <a:solidFill>
                  <a:srgbClr val="5C6784"/>
                </a:solidFill>
                <a:latin typeface="Calibri" pitchFamily="34" charset="0"/>
                <a:ea typeface="Calibri" pitchFamily="34" charset="-122"/>
                <a:cs typeface="Calibri" pitchFamily="34" charset="-120"/>
              </a:rPr>
              <a:t>Y un séptimo hallazgo: 864 filas sin identificador de proveedor, todas de nómina. Una unión interna las habría borrado del gasto total sin producir ningún error.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4"/>
        </a:solidFill>
        <a:effectLst/>
      </p:bgPr>
    </p:bg>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5A6899"/>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5A6899"/>
                </a:solidFill>
                <a:latin typeface="Calibri" pitchFamily="34" charset="0"/>
                <a:ea typeface="Calibri" pitchFamily="34" charset="-122"/>
                <a:cs typeface="Calibri" pitchFamily="34" charset="-120"/>
              </a:rPr>
              <a:t>07</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9FB0DC"/>
                </a:solidFill>
                <a:latin typeface="Calibri" pitchFamily="34" charset="0"/>
                <a:ea typeface="Calibri" pitchFamily="34" charset="-122"/>
                <a:cs typeface="Calibri" pitchFamily="34" charset="-120"/>
              </a:rPr>
              <a:t>02 · EL DATASET · PREGUNTA 2</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«¿Cómo se comparó el gasto de viajes entre ejercicios?»</a:t>
            </a:r>
            <a:endParaRPr lang="en-US" sz="2800" dirty="0"/>
          </a:p>
        </p:txBody>
      </p:sp>
      <p:sp>
        <p:nvSpPr>
          <p:cNvPr id="6" name="Shape 4"/>
          <p:cNvSpPr/>
          <p:nvPr/>
        </p:nvSpPr>
        <p:spPr>
          <a:xfrm>
            <a:off x="566928" y="1691640"/>
            <a:ext cx="3547872" cy="2514600"/>
          </a:xfrm>
          <a:prstGeom prst="roundRect">
            <a:avLst>
              <a:gd name="adj" fmla="val 1818"/>
            </a:avLst>
          </a:prstGeom>
          <a:solidFill>
            <a:srgbClr val="1A2450"/>
          </a:solidFill>
          <a:ln w="12700">
            <a:solidFill>
              <a:srgbClr val="2C3A70"/>
            </a:solidFill>
            <a:prstDash val="solid"/>
          </a:ln>
        </p:spPr>
        <p:txBody>
          <a:bodyPr/>
          <a:p/>
        </p:txBody>
      </p:sp>
      <p:sp>
        <p:nvSpPr>
          <p:cNvPr id="7" name="Text 5"/>
          <p:cNvSpPr/>
          <p:nvPr/>
        </p:nvSpPr>
        <p:spPr>
          <a:xfrm>
            <a:off x="841248" y="1874520"/>
            <a:ext cx="3017520" cy="27432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Base reportada</a:t>
            </a:r>
            <a:endParaRPr lang="en-US" sz="1150" dirty="0"/>
          </a:p>
        </p:txBody>
      </p:sp>
      <p:sp>
        <p:nvSpPr>
          <p:cNvPr id="8" name="Text 6"/>
          <p:cNvSpPr/>
          <p:nvPr/>
        </p:nvSpPr>
        <p:spPr>
          <a:xfrm>
            <a:off x="841248" y="2212848"/>
            <a:ext cx="3017520" cy="685800"/>
          </a:xfrm>
          <a:prstGeom prst="rect">
            <a:avLst/>
          </a:prstGeom>
          <a:noFill/>
          <a:ln/>
        </p:spPr>
        <p:txBody>
          <a:bodyPr wrap="square" lIns="0" tIns="0" rIns="0" bIns="0" rtlCol="0" anchor="ctr"/>
          <a:lstStyle/>
          <a:p>
            <a:pPr marL="0" indent="0">
              <a:buNone/>
            </a:pPr>
            <a:r>
              <a:rPr lang="en-US" sz="3400" b="1" dirty="0">
                <a:solidFill>
                  <a:srgbClr val="F09393"/>
                </a:solidFill>
                <a:latin typeface="Cambria" pitchFamily="34" charset="0"/>
                <a:ea typeface="Cambria" pitchFamily="34" charset="-122"/>
                <a:cs typeface="Cambria" pitchFamily="34" charset="-120"/>
              </a:rPr>
              <a:t>−204.258</a:t>
            </a:r>
            <a:endParaRPr lang="en-US" sz="3400" dirty="0"/>
          </a:p>
        </p:txBody>
      </p:sp>
      <p:sp>
        <p:nvSpPr>
          <p:cNvPr id="9" name="Text 7"/>
          <p:cNvSpPr/>
          <p:nvPr/>
        </p:nvSpPr>
        <p:spPr>
          <a:xfrm>
            <a:off x="841248" y="2907792"/>
            <a:ext cx="3017520" cy="201168"/>
          </a:xfrm>
          <a:prstGeom prst="rect">
            <a:avLst/>
          </a:prstGeom>
          <a:noFill/>
          <a:ln/>
        </p:spPr>
        <p:txBody>
          <a:bodyPr wrap="square" lIns="0" tIns="0" rIns="0" bIns="0" rtlCol="0" anchor="ctr"/>
          <a:lstStyle/>
          <a:p>
            <a:pPr marL="0" indent="0">
              <a:buNone/>
            </a:pPr>
            <a:r>
              <a:rPr lang="en-US" sz="1000" dirty="0">
                <a:solidFill>
                  <a:srgbClr val="5A6899"/>
                </a:solidFill>
                <a:latin typeface="Calibri" pitchFamily="34" charset="0"/>
                <a:ea typeface="Calibri" pitchFamily="34" charset="-122"/>
                <a:cs typeface="Calibri" pitchFamily="34" charset="-120"/>
              </a:rPr>
              <a:t>USD</a:t>
            </a:r>
            <a:endParaRPr lang="en-US" sz="1000" dirty="0"/>
          </a:p>
        </p:txBody>
      </p:sp>
      <p:sp>
        <p:nvSpPr>
          <p:cNvPr id="10" name="Text 8"/>
          <p:cNvSpPr/>
          <p:nvPr/>
        </p:nvSpPr>
        <p:spPr>
          <a:xfrm>
            <a:off x="841248" y="3200400"/>
            <a:ext cx="3017520" cy="868680"/>
          </a:xfrm>
          <a:prstGeom prst="rect">
            <a:avLst/>
          </a:prstGeom>
          <a:noFill/>
          <a:ln/>
        </p:spPr>
        <p:txBody>
          <a:bodyPr wrap="square" lIns="0" tIns="0" rIns="0" bIns="0"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Respeta la jerarquía contable vigente en cada periodo. Es lo que produce una agrupación convencional.</a:t>
            </a:r>
            <a:endParaRPr lang="en-US" sz="1150" dirty="0"/>
          </a:p>
        </p:txBody>
      </p:sp>
      <p:sp>
        <p:nvSpPr>
          <p:cNvPr id="11" name="Shape 9"/>
          <p:cNvSpPr/>
          <p:nvPr/>
        </p:nvSpPr>
        <p:spPr>
          <a:xfrm>
            <a:off x="4389120" y="1691640"/>
            <a:ext cx="3547872" cy="2514600"/>
          </a:xfrm>
          <a:prstGeom prst="roundRect">
            <a:avLst>
              <a:gd name="adj" fmla="val 1818"/>
            </a:avLst>
          </a:prstGeom>
          <a:solidFill>
            <a:srgbClr val="1A2450"/>
          </a:solidFill>
          <a:ln w="12700">
            <a:solidFill>
              <a:srgbClr val="2C3A70"/>
            </a:solidFill>
            <a:prstDash val="solid"/>
          </a:ln>
        </p:spPr>
        <p:txBody>
          <a:bodyPr/>
          <a:p/>
        </p:txBody>
      </p:sp>
      <p:sp>
        <p:nvSpPr>
          <p:cNvPr id="12" name="Text 10"/>
          <p:cNvSpPr/>
          <p:nvPr/>
        </p:nvSpPr>
        <p:spPr>
          <a:xfrm>
            <a:off x="4663440" y="1874520"/>
            <a:ext cx="3017520" cy="27432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Comparable · ref. actual</a:t>
            </a:r>
            <a:endParaRPr lang="en-US" sz="1150" dirty="0"/>
          </a:p>
        </p:txBody>
      </p:sp>
      <p:sp>
        <p:nvSpPr>
          <p:cNvPr id="13" name="Text 11"/>
          <p:cNvSpPr/>
          <p:nvPr/>
        </p:nvSpPr>
        <p:spPr>
          <a:xfrm>
            <a:off x="4663440" y="2212848"/>
            <a:ext cx="3017520" cy="685800"/>
          </a:xfrm>
          <a:prstGeom prst="rect">
            <a:avLst/>
          </a:prstGeom>
          <a:noFill/>
          <a:ln/>
        </p:spPr>
        <p:txBody>
          <a:bodyPr wrap="square" lIns="0" tIns="0" rIns="0" bIns="0" rtlCol="0" anchor="ctr"/>
          <a:lstStyle/>
          <a:p>
            <a:pPr marL="0" indent="0">
              <a:buNone/>
            </a:pPr>
            <a:r>
              <a:rPr lang="en-US" sz="3400" b="1" dirty="0">
                <a:solidFill>
                  <a:srgbClr val="84D6AC"/>
                </a:solidFill>
                <a:latin typeface="Cambria" pitchFamily="34" charset="0"/>
                <a:ea typeface="Cambria" pitchFamily="34" charset="-122"/>
                <a:cs typeface="Cambria" pitchFamily="34" charset="-120"/>
              </a:rPr>
              <a:t>+42.212</a:t>
            </a:r>
            <a:endParaRPr lang="en-US" sz="3400" dirty="0"/>
          </a:p>
        </p:txBody>
      </p:sp>
      <p:sp>
        <p:nvSpPr>
          <p:cNvPr id="14" name="Text 12"/>
          <p:cNvSpPr/>
          <p:nvPr/>
        </p:nvSpPr>
        <p:spPr>
          <a:xfrm>
            <a:off x="4663440" y="2907792"/>
            <a:ext cx="3017520" cy="201168"/>
          </a:xfrm>
          <a:prstGeom prst="rect">
            <a:avLst/>
          </a:prstGeom>
          <a:noFill/>
          <a:ln/>
        </p:spPr>
        <p:txBody>
          <a:bodyPr wrap="square" lIns="0" tIns="0" rIns="0" bIns="0" rtlCol="0" anchor="ctr"/>
          <a:lstStyle/>
          <a:p>
            <a:pPr marL="0" indent="0">
              <a:buNone/>
            </a:pPr>
            <a:r>
              <a:rPr lang="en-US" sz="1000" dirty="0">
                <a:solidFill>
                  <a:srgbClr val="5A6899"/>
                </a:solidFill>
                <a:latin typeface="Calibri" pitchFamily="34" charset="0"/>
                <a:ea typeface="Calibri" pitchFamily="34" charset="-122"/>
                <a:cs typeface="Calibri" pitchFamily="34" charset="-120"/>
              </a:rPr>
              <a:t>USD</a:t>
            </a:r>
            <a:endParaRPr lang="en-US" sz="1000" dirty="0"/>
          </a:p>
        </p:txBody>
      </p:sp>
      <p:sp>
        <p:nvSpPr>
          <p:cNvPr id="15" name="Text 13"/>
          <p:cNvSpPr/>
          <p:nvPr/>
        </p:nvSpPr>
        <p:spPr>
          <a:xfrm>
            <a:off x="4663440" y="3200400"/>
            <a:ext cx="3017520" cy="868680"/>
          </a:xfrm>
          <a:prstGeom prst="rect">
            <a:avLst/>
          </a:prstGeom>
          <a:noFill/>
          <a:ln/>
        </p:spPr>
        <p:txBody>
          <a:bodyPr wrap="square" lIns="0" tIns="0" rIns="0" bIns="0"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Misma definición de cuentas en ambos años, tomando la clasificación vigente hoy.</a:t>
            </a:r>
            <a:endParaRPr lang="en-US" sz="1150" dirty="0"/>
          </a:p>
        </p:txBody>
      </p:sp>
      <p:sp>
        <p:nvSpPr>
          <p:cNvPr id="16" name="Shape 14"/>
          <p:cNvSpPr/>
          <p:nvPr/>
        </p:nvSpPr>
        <p:spPr>
          <a:xfrm>
            <a:off x="8211312" y="1691640"/>
            <a:ext cx="3547872" cy="2514600"/>
          </a:xfrm>
          <a:prstGeom prst="roundRect">
            <a:avLst>
              <a:gd name="adj" fmla="val 1818"/>
            </a:avLst>
          </a:prstGeom>
          <a:solidFill>
            <a:srgbClr val="1A2450"/>
          </a:solidFill>
          <a:ln w="12700">
            <a:solidFill>
              <a:srgbClr val="2C3A70"/>
            </a:solidFill>
            <a:prstDash val="solid"/>
          </a:ln>
        </p:spPr>
        <p:txBody>
          <a:bodyPr/>
          <a:p/>
        </p:txBody>
      </p:sp>
      <p:sp>
        <p:nvSpPr>
          <p:cNvPr id="17" name="Text 15"/>
          <p:cNvSpPr/>
          <p:nvPr/>
        </p:nvSpPr>
        <p:spPr>
          <a:xfrm>
            <a:off x="8485632" y="1874520"/>
            <a:ext cx="3017520" cy="27432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Comparable · ref. inicial</a:t>
            </a:r>
            <a:endParaRPr lang="en-US" sz="1150" dirty="0"/>
          </a:p>
        </p:txBody>
      </p:sp>
      <p:sp>
        <p:nvSpPr>
          <p:cNvPr id="18" name="Text 16"/>
          <p:cNvSpPr/>
          <p:nvPr/>
        </p:nvSpPr>
        <p:spPr>
          <a:xfrm>
            <a:off x="8485632" y="2212848"/>
            <a:ext cx="3017520" cy="685800"/>
          </a:xfrm>
          <a:prstGeom prst="rect">
            <a:avLst/>
          </a:prstGeom>
          <a:noFill/>
          <a:ln/>
        </p:spPr>
        <p:txBody>
          <a:bodyPr wrap="square" lIns="0" tIns="0" rIns="0" bIns="0" rtlCol="0" anchor="ctr"/>
          <a:lstStyle/>
          <a:p>
            <a:pPr marL="0" indent="0">
              <a:buNone/>
            </a:pPr>
            <a:r>
              <a:rPr lang="en-US" sz="3400" b="1" dirty="0">
                <a:solidFill>
                  <a:srgbClr val="84D6AC"/>
                </a:solidFill>
                <a:latin typeface="Cambria" pitchFamily="34" charset="0"/>
                <a:ea typeface="Cambria" pitchFamily="34" charset="-122"/>
                <a:cs typeface="Cambria" pitchFamily="34" charset="-120"/>
              </a:rPr>
              <a:t>+86.289</a:t>
            </a:r>
            <a:endParaRPr lang="en-US" sz="3400" dirty="0"/>
          </a:p>
        </p:txBody>
      </p:sp>
      <p:sp>
        <p:nvSpPr>
          <p:cNvPr id="19" name="Text 17"/>
          <p:cNvSpPr/>
          <p:nvPr/>
        </p:nvSpPr>
        <p:spPr>
          <a:xfrm>
            <a:off x="8485632" y="2907792"/>
            <a:ext cx="3017520" cy="201168"/>
          </a:xfrm>
          <a:prstGeom prst="rect">
            <a:avLst/>
          </a:prstGeom>
          <a:noFill/>
          <a:ln/>
        </p:spPr>
        <p:txBody>
          <a:bodyPr wrap="square" lIns="0" tIns="0" rIns="0" bIns="0" rtlCol="0" anchor="ctr"/>
          <a:lstStyle/>
          <a:p>
            <a:pPr marL="0" indent="0">
              <a:buNone/>
            </a:pPr>
            <a:r>
              <a:rPr lang="en-US" sz="1000" dirty="0">
                <a:solidFill>
                  <a:srgbClr val="5A6899"/>
                </a:solidFill>
                <a:latin typeface="Calibri" pitchFamily="34" charset="0"/>
                <a:ea typeface="Calibri" pitchFamily="34" charset="-122"/>
                <a:cs typeface="Calibri" pitchFamily="34" charset="-120"/>
              </a:rPr>
              <a:t>USD</a:t>
            </a:r>
            <a:endParaRPr lang="en-US" sz="1000" dirty="0"/>
          </a:p>
        </p:txBody>
      </p:sp>
      <p:sp>
        <p:nvSpPr>
          <p:cNvPr id="20" name="Text 18"/>
          <p:cNvSpPr/>
          <p:nvPr/>
        </p:nvSpPr>
        <p:spPr>
          <a:xfrm>
            <a:off x="8485632" y="3200400"/>
            <a:ext cx="3017520" cy="868680"/>
          </a:xfrm>
          <a:prstGeom prst="rect">
            <a:avLst/>
          </a:prstGeom>
          <a:noFill/>
          <a:ln/>
        </p:spPr>
        <p:txBody>
          <a:bodyPr wrap="square" lIns="0" tIns="0" rIns="0" bIns="0" rtlCol="0" anchor="ctr"/>
          <a:lstStyle/>
          <a:p>
            <a:pPr marL="0" indent="0">
              <a:lnSpc>
                <a:spcPts val="1600"/>
              </a:lnSpc>
              <a:buNone/>
            </a:pPr>
            <a:r>
              <a:rPr lang="en-US" sz="1150" dirty="0">
                <a:solidFill>
                  <a:srgbClr val="CADCFC"/>
                </a:solidFill>
                <a:latin typeface="Calibri" pitchFamily="34" charset="0"/>
                <a:ea typeface="Calibri" pitchFamily="34" charset="-122"/>
                <a:cs typeface="Calibri" pitchFamily="34" charset="-120"/>
              </a:rPr>
              <a:t>Misma definición, tomando la clasificación vigente al inicio del periodo comparado.</a:t>
            </a:r>
            <a:endParaRPr lang="en-US" sz="1150" dirty="0"/>
          </a:p>
        </p:txBody>
      </p:sp>
      <p:sp>
        <p:nvSpPr>
          <p:cNvPr id="21" name="Text 19"/>
          <p:cNvSpPr/>
          <p:nvPr/>
        </p:nvSpPr>
        <p:spPr>
          <a:xfrm>
            <a:off x="566928" y="4434840"/>
            <a:ext cx="11018520" cy="411480"/>
          </a:xfrm>
          <a:prstGeom prst="rect">
            <a:avLst/>
          </a:prstGeom>
          <a:noFill/>
          <a:ln/>
        </p:spPr>
        <p:txBody>
          <a:bodyPr wrap="square" lIns="0" tIns="0" rIns="0" bIns="0" rtlCol="0" anchor="ctr"/>
          <a:lstStyle/>
          <a:p>
            <a:pPr marL="0" indent="0">
              <a:buNone/>
            </a:pPr>
            <a:r>
              <a:rPr lang="en-US" sz="2100" b="1" i="1" dirty="0">
                <a:solidFill>
                  <a:srgbClr val="FFFFFF"/>
                </a:solidFill>
                <a:latin typeface="Cambria" pitchFamily="34" charset="0"/>
                <a:ea typeface="Cambria" pitchFamily="34" charset="-122"/>
                <a:cs typeface="Cambria" pitchFamily="34" charset="-120"/>
              </a:rPr>
              <a:t>La misma pregunta, los mismos datos, y el signo cambia.</a:t>
            </a:r>
            <a:endParaRPr lang="en-US" sz="2100" dirty="0"/>
          </a:p>
        </p:txBody>
      </p:sp>
      <p:sp>
        <p:nvSpPr>
          <p:cNvPr id="22" name="Text 20"/>
          <p:cNvSpPr/>
          <p:nvPr/>
        </p:nvSpPr>
        <p:spPr>
          <a:xfrm>
            <a:off x="566928" y="4937760"/>
            <a:ext cx="11018520" cy="822960"/>
          </a:xfrm>
          <a:prstGeom prst="rect">
            <a:avLst/>
          </a:prstGeom>
          <a:noFill/>
          <a:ln/>
        </p:spPr>
        <p:txBody>
          <a:bodyPr wrap="square" lIns="0" tIns="0" rIns="0" bIns="0" rtlCol="0" anchor="ctr"/>
          <a:lstStyle/>
          <a:p>
            <a:pPr marL="0" indent="0">
              <a:lnSpc>
                <a:spcPts val="2000"/>
              </a:lnSpc>
              <a:buNone/>
            </a:pPr>
            <a:r>
              <a:rPr lang="en-US" sz="1350" dirty="0">
                <a:solidFill>
                  <a:srgbClr val="CADCFC"/>
                </a:solidFill>
                <a:latin typeface="Calibri" pitchFamily="34" charset="0"/>
                <a:ea typeface="Calibri" pitchFamily="34" charset="-122"/>
                <a:cs typeface="Calibri" pitchFamily="34" charset="-120"/>
              </a:rPr>
              <a:t>El memorando del consejo fija un objetivo de reducir viajes un cuatro por ciento. Un directivo que lea «−14,4%» concluye que el objetivo está ampliamente cumplido. El gasto real subió: los 263.165 USD que aparentemente desaparecieron se reclasificaron a Marketing el 1 de julio.</a:t>
            </a:r>
            <a:endParaRPr lang="en-US" sz="1350" dirty="0"/>
          </a:p>
        </p:txBody>
      </p:sp>
      <p:sp>
        <p:nvSpPr>
          <p:cNvPr id="23" name="Text 21"/>
          <p:cNvSpPr/>
          <p:nvPr/>
        </p:nvSpPr>
        <p:spPr>
          <a:xfrm>
            <a:off x="566928" y="5852160"/>
            <a:ext cx="11018520" cy="365760"/>
          </a:xfrm>
          <a:prstGeom prst="rect">
            <a:avLst/>
          </a:prstGeom>
          <a:noFill/>
          <a:ln/>
        </p:spPr>
        <p:txBody>
          <a:bodyPr wrap="square" lIns="0" tIns="0" rIns="0" bIns="0" rtlCol="0" anchor="ctr"/>
          <a:lstStyle/>
          <a:p>
            <a:pPr marL="0" indent="0">
              <a:buNone/>
            </a:pPr>
            <a:r>
              <a:rPr lang="en-US" sz="1250" i="1" dirty="0">
                <a:solidFill>
                  <a:srgbClr val="9FB0DC"/>
                </a:solidFill>
                <a:latin typeface="Calibri" pitchFamily="34" charset="0"/>
                <a:ea typeface="Calibri" pitchFamily="34" charset="-122"/>
                <a:cs typeface="Calibri" pitchFamily="34" charset="-120"/>
              </a:rPr>
              <a:t>El sistema devuelve las tres bases y cuantifica el puente de reclasificación. Entregar solo una es dar una respuesta engañosa con datos correctos.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08</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LA ARQUITECTURA</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Dónde puse la frontera</a:t>
            </a:r>
            <a:endParaRPr lang="en-US" sz="2800" dirty="0"/>
          </a:p>
        </p:txBody>
      </p:sp>
      <p:sp>
        <p:nvSpPr>
          <p:cNvPr id="6" name="Shape 4"/>
          <p:cNvSpPr/>
          <p:nvPr/>
        </p:nvSpPr>
        <p:spPr>
          <a:xfrm>
            <a:off x="566928" y="1645920"/>
            <a:ext cx="11018520" cy="868680"/>
          </a:xfrm>
          <a:prstGeom prst="roundRect">
            <a:avLst>
              <a:gd name="adj" fmla="val 5263"/>
            </a:avLst>
          </a:prstGeom>
          <a:solidFill>
            <a:srgbClr val="1B2A5E"/>
          </a:solidFill>
          <a:ln w="12700">
            <a:solidFill>
              <a:srgbClr val="1B2A5E"/>
            </a:solidFill>
            <a:prstDash val="solid"/>
          </a:ln>
        </p:spPr>
        <p:txBody>
          <a:bodyPr/>
          <a:p/>
        </p:txBody>
      </p:sp>
      <p:sp>
        <p:nvSpPr>
          <p:cNvPr id="7" name="Text 5"/>
          <p:cNvSpPr/>
          <p:nvPr/>
        </p:nvSpPr>
        <p:spPr>
          <a:xfrm>
            <a:off x="914400" y="1645920"/>
            <a:ext cx="10332720" cy="868680"/>
          </a:xfrm>
          <a:prstGeom prst="rect">
            <a:avLst/>
          </a:prstGeom>
          <a:noFill/>
          <a:ln/>
        </p:spPr>
        <p:txBody>
          <a:bodyPr wrap="square" lIns="0" tIns="0" rIns="0" bIns="0" rtlCol="0" anchor="ctr"/>
          <a:lstStyle/>
          <a:p>
            <a:pPr marL="0" indent="0">
              <a:lnSpc>
                <a:spcPts val="2400"/>
              </a:lnSpc>
              <a:buNone/>
            </a:pPr>
            <a:r>
              <a:rPr lang="en-US" sz="1700" i="1" dirty="0">
                <a:solidFill>
                  <a:srgbClr val="FFFFFF"/>
                </a:solidFill>
                <a:latin typeface="Cambria" pitchFamily="34" charset="0"/>
                <a:ea typeface="Cambria" pitchFamily="34" charset="-122"/>
                <a:cs typeface="Cambria" pitchFamily="34" charset="-120"/>
              </a:rPr>
              <a:t>El sistema es agéntico en la frontera de la interpretación y determinista en la frontera del cálculo financiero.</a:t>
            </a:r>
            <a:endParaRPr lang="en-US" sz="1700" dirty="0"/>
          </a:p>
        </p:txBody>
      </p:sp>
      <p:sp>
        <p:nvSpPr>
          <p:cNvPr id="8" name="Shape 6"/>
          <p:cNvSpPr/>
          <p:nvPr/>
        </p:nvSpPr>
        <p:spPr>
          <a:xfrm>
            <a:off x="566928" y="2788920"/>
            <a:ext cx="5349240" cy="2286000"/>
          </a:xfrm>
          <a:prstGeom prst="roundRect">
            <a:avLst>
              <a:gd name="adj" fmla="val 2000"/>
            </a:avLst>
          </a:prstGeom>
          <a:solidFill>
            <a:srgbClr val="F3F5FA"/>
          </a:solidFill>
          <a:ln w="12700">
            <a:solidFill>
              <a:srgbClr val="DCE2F0"/>
            </a:solidFill>
            <a:prstDash val="solid"/>
          </a:ln>
        </p:spPr>
        <p:txBody>
          <a:bodyPr/>
          <a:p/>
        </p:txBody>
      </p:sp>
      <p:sp>
        <p:nvSpPr>
          <p:cNvPr id="9" name="Text 7"/>
          <p:cNvSpPr/>
          <p:nvPr/>
        </p:nvSpPr>
        <p:spPr>
          <a:xfrm>
            <a:off x="841248" y="2999232"/>
            <a:ext cx="4754880" cy="256032"/>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EL MODELO SÍ HACE</a:t>
            </a:r>
            <a:endParaRPr lang="en-US" sz="1000" dirty="0"/>
          </a:p>
        </p:txBody>
      </p:sp>
      <p:sp>
        <p:nvSpPr>
          <p:cNvPr id="10" name="Text 8"/>
          <p:cNvSpPr/>
          <p:nvPr/>
        </p:nvSpPr>
        <p:spPr>
          <a:xfrm>
            <a:off x="841248" y="3310128"/>
            <a:ext cx="4800600" cy="16459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Clasificar la pregunta en una de ocho intenciones</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Extraer los parámetros que el texto declara</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Declarar su confianza en la clasificación</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Una sola llamada, salida tipada y validada</a:t>
            </a:r>
            <a:endParaRPr lang="en-US" sz="1250" dirty="0"/>
          </a:p>
        </p:txBody>
      </p:sp>
      <p:sp>
        <p:nvSpPr>
          <p:cNvPr id="11" name="Shape 9"/>
          <p:cNvSpPr/>
          <p:nvPr/>
        </p:nvSpPr>
        <p:spPr>
          <a:xfrm>
            <a:off x="6236208" y="2788920"/>
            <a:ext cx="5349240" cy="2286000"/>
          </a:xfrm>
          <a:prstGeom prst="roundRect">
            <a:avLst>
              <a:gd name="adj" fmla="val 2000"/>
            </a:avLst>
          </a:prstGeom>
          <a:solidFill>
            <a:srgbClr val="FBEEEE"/>
          </a:solidFill>
          <a:ln w="12700">
            <a:solidFill>
              <a:srgbClr val="EFD3D3"/>
            </a:solidFill>
            <a:prstDash val="solid"/>
          </a:ln>
        </p:spPr>
        <p:txBody>
          <a:bodyPr/>
          <a:p/>
        </p:txBody>
      </p:sp>
      <p:sp>
        <p:nvSpPr>
          <p:cNvPr id="12" name="Text 10"/>
          <p:cNvSpPr/>
          <p:nvPr/>
        </p:nvSpPr>
        <p:spPr>
          <a:xfrm>
            <a:off x="6510528" y="2999232"/>
            <a:ext cx="4754880" cy="256032"/>
          </a:xfrm>
          <a:prstGeom prst="rect">
            <a:avLst/>
          </a:prstGeom>
          <a:noFill/>
          <a:ln/>
        </p:spPr>
        <p:txBody>
          <a:bodyPr wrap="square" lIns="0" tIns="0" rIns="0" bIns="0" rtlCol="0" anchor="ctr"/>
          <a:lstStyle/>
          <a:p>
            <a:pPr marL="0" indent="0">
              <a:buNone/>
            </a:pPr>
            <a:r>
              <a:rPr lang="en-US" sz="1000" b="1" kern="0" spc="120" dirty="0">
                <a:solidFill>
                  <a:srgbClr val="9E2B2B"/>
                </a:solidFill>
                <a:latin typeface="Calibri" pitchFamily="34" charset="0"/>
                <a:ea typeface="Calibri" pitchFamily="34" charset="-122"/>
                <a:cs typeface="Calibri" pitchFamily="34" charset="-120"/>
              </a:rPr>
              <a:t>EL MODELO NUNCA HACE</a:t>
            </a:r>
            <a:endParaRPr lang="en-US" sz="1000" dirty="0"/>
          </a:p>
        </p:txBody>
      </p:sp>
      <p:sp>
        <p:nvSpPr>
          <p:cNvPr id="13" name="Text 11"/>
          <p:cNvSpPr/>
          <p:nvPr/>
        </p:nvSpPr>
        <p:spPr>
          <a:xfrm>
            <a:off x="6510528" y="3310128"/>
            <a:ext cx="4800600" cy="16459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Sumar, convertir moneda, rankear o comparar umbrales</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Decidir si la evidencia alcanza para responder</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Ver un conjunto de datos o una fila</a:t>
            </a:r>
            <a:endParaRPr lang="en-US" sz="1250" dirty="0"/>
          </a:p>
          <a:p>
            <a:pPr marL="342900" indent="-342900">
              <a:lnSpc>
                <a:spcPts val="1700"/>
              </a:lnSpc>
              <a:spcAft>
                <a:spcPts val="700"/>
              </a:spcAft>
              <a:buSzPct val="100000"/>
              <a:buChar char="•"/>
            </a:pPr>
            <a:r>
              <a:rPr lang="en-US" sz="1250" dirty="0">
                <a:solidFill>
                  <a:srgbClr val="10162F"/>
                </a:solidFill>
                <a:latin typeface="Calibri" pitchFamily="34" charset="0"/>
                <a:ea typeface="Calibri" pitchFamily="34" charset="-122"/>
                <a:cs typeface="Calibri" pitchFamily="34" charset="-120"/>
              </a:rPr>
              <a:t>Añadir un hecho ausente del paquete de evidencia</a:t>
            </a:r>
            <a:endParaRPr lang="en-US" sz="1250" dirty="0"/>
          </a:p>
        </p:txBody>
      </p:sp>
      <p:sp>
        <p:nvSpPr>
          <p:cNvPr id="14" name="Text 12"/>
          <p:cNvSpPr/>
          <p:nvPr/>
        </p:nvSpPr>
        <p:spPr>
          <a:xfrm>
            <a:off x="566928" y="5303520"/>
            <a:ext cx="11018520" cy="777240"/>
          </a:xfrm>
          <a:prstGeom prst="rect">
            <a:avLst/>
          </a:prstGeom>
          <a:noFill/>
          <a:ln/>
        </p:spPr>
        <p:txBody>
          <a:bodyPr wrap="square" lIns="0" tIns="0" rIns="0" bIns="0" rtlCol="0" anchor="ctr"/>
          <a:lstStyle/>
          <a:p>
            <a:pPr marL="0" indent="0">
              <a:lnSpc>
                <a:spcPts val="1900"/>
              </a:lnSpc>
              <a:buNone/>
            </a:pPr>
            <a:r>
              <a:rPr lang="en-US" sz="1250" dirty="0">
                <a:solidFill>
                  <a:srgbClr val="5C6784"/>
                </a:solidFill>
                <a:latin typeface="Calibri" pitchFamily="34" charset="0"/>
                <a:ea typeface="Calibri" pitchFamily="34" charset="-122"/>
                <a:cs typeface="Calibri" pitchFamily="34" charset="-120"/>
              </a:rPr>
              <a:t>Rechacé un agente de bucle abierto: las ocho rutas se conocen de antemano. Un plan fijo por intención da la misma cobertura sin secuencias elegidas en caliente, sin lógica de autocorrección, y con coste y latencia deterministas. Cada plan es una prueba unitaria, no una política aprendida.</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09</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LA ARQUITECTURA</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El recorrido de una pregunta</a:t>
            </a:r>
            <a:endParaRPr lang="en-US" sz="2800" dirty="0"/>
          </a:p>
        </p:txBody>
      </p:sp>
      <p:sp>
        <p:nvSpPr>
          <p:cNvPr id="6" name="Text 4"/>
          <p:cNvSpPr/>
          <p:nvPr/>
        </p:nvSpPr>
        <p:spPr>
          <a:xfrm>
            <a:off x="2194560" y="1572768"/>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Pregunta en lenguaje natural</a:t>
            </a:r>
            <a:endParaRPr lang="en-US" sz="1250" dirty="0"/>
          </a:p>
        </p:txBody>
      </p:sp>
      <p:sp>
        <p:nvSpPr>
          <p:cNvPr id="7" name="Shape 5"/>
          <p:cNvSpPr/>
          <p:nvPr/>
        </p:nvSpPr>
        <p:spPr>
          <a:xfrm>
            <a:off x="2194560" y="1956816"/>
            <a:ext cx="7772400" cy="566928"/>
          </a:xfrm>
          <a:prstGeom prst="roundRect">
            <a:avLst>
              <a:gd name="adj" fmla="val 8065"/>
            </a:avLst>
          </a:prstGeom>
          <a:solidFill>
            <a:srgbClr val="F3F5FA"/>
          </a:solidFill>
          <a:ln w="12700">
            <a:solidFill>
              <a:srgbClr val="DCE2F0"/>
            </a:solidFill>
            <a:prstDash val="solid"/>
          </a:ln>
        </p:spPr>
        <p:txBody>
          <a:bodyPr/>
          <a:p/>
        </p:txBody>
      </p:sp>
      <p:sp>
        <p:nvSpPr>
          <p:cNvPr id="8" name="Shape 6"/>
          <p:cNvSpPr/>
          <p:nvPr/>
        </p:nvSpPr>
        <p:spPr>
          <a:xfrm>
            <a:off x="2194560" y="1956816"/>
            <a:ext cx="36576" cy="566928"/>
          </a:xfrm>
          <a:prstGeom prst="rect">
            <a:avLst/>
          </a:prstGeom>
          <a:solidFill>
            <a:srgbClr val="3E5288"/>
          </a:solidFill>
          <a:ln/>
        </p:spPr>
        <p:txBody>
          <a:bodyPr/>
          <a:p/>
        </p:txBody>
      </p:sp>
      <p:sp>
        <p:nvSpPr>
          <p:cNvPr id="9" name="Text 7"/>
          <p:cNvSpPr/>
          <p:nvPr/>
        </p:nvSpPr>
        <p:spPr>
          <a:xfrm>
            <a:off x="2487168" y="2029968"/>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Intérprete</a:t>
            </a:r>
            <a:endParaRPr lang="en-US" sz="1250" dirty="0"/>
          </a:p>
        </p:txBody>
      </p:sp>
      <p:sp>
        <p:nvSpPr>
          <p:cNvPr id="10" name="Text 8"/>
          <p:cNvSpPr/>
          <p:nvPr/>
        </p:nvSpPr>
        <p:spPr>
          <a:xfrm>
            <a:off x="2487168" y="2249424"/>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Una llamada al modelo · salida estructurada y tipada · no ve datos</a:t>
            </a:r>
            <a:endParaRPr lang="en-US" sz="1050" dirty="0"/>
          </a:p>
        </p:txBody>
      </p:sp>
      <p:sp>
        <p:nvSpPr>
          <p:cNvPr id="11" name="Text 9"/>
          <p:cNvSpPr/>
          <p:nvPr/>
        </p:nvSpPr>
        <p:spPr>
          <a:xfrm>
            <a:off x="2194560" y="2615184"/>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Intención + parámetros + confianza</a:t>
            </a:r>
            <a:endParaRPr lang="en-US" sz="1250" dirty="0"/>
          </a:p>
        </p:txBody>
      </p:sp>
      <p:sp>
        <p:nvSpPr>
          <p:cNvPr id="12" name="Shape 10"/>
          <p:cNvSpPr/>
          <p:nvPr/>
        </p:nvSpPr>
        <p:spPr>
          <a:xfrm>
            <a:off x="2194560" y="2999232"/>
            <a:ext cx="7772400" cy="566928"/>
          </a:xfrm>
          <a:prstGeom prst="roundRect">
            <a:avLst>
              <a:gd name="adj" fmla="val 8065"/>
            </a:avLst>
          </a:prstGeom>
          <a:solidFill>
            <a:srgbClr val="F3F5FA"/>
          </a:solidFill>
          <a:ln w="12700">
            <a:solidFill>
              <a:srgbClr val="DCE2F0"/>
            </a:solidFill>
            <a:prstDash val="solid"/>
          </a:ln>
        </p:spPr>
        <p:txBody>
          <a:bodyPr/>
          <a:p/>
        </p:txBody>
      </p:sp>
      <p:sp>
        <p:nvSpPr>
          <p:cNvPr id="13" name="Shape 11"/>
          <p:cNvSpPr/>
          <p:nvPr/>
        </p:nvSpPr>
        <p:spPr>
          <a:xfrm>
            <a:off x="2194560" y="2999232"/>
            <a:ext cx="36576" cy="566928"/>
          </a:xfrm>
          <a:prstGeom prst="rect">
            <a:avLst/>
          </a:prstGeom>
          <a:solidFill>
            <a:srgbClr val="3E5288"/>
          </a:solidFill>
          <a:ln/>
        </p:spPr>
        <p:txBody>
          <a:bodyPr/>
          <a:p/>
        </p:txBody>
      </p:sp>
      <p:sp>
        <p:nvSpPr>
          <p:cNvPr id="14" name="Text 12"/>
          <p:cNvSpPr/>
          <p:nvPr/>
        </p:nvSpPr>
        <p:spPr>
          <a:xfrm>
            <a:off x="2487168" y="3072384"/>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Registro de planes</a:t>
            </a:r>
            <a:endParaRPr lang="en-US" sz="1250" dirty="0"/>
          </a:p>
        </p:txBody>
      </p:sp>
      <p:sp>
        <p:nvSpPr>
          <p:cNvPr id="15" name="Text 13"/>
          <p:cNvSpPr/>
          <p:nvPr/>
        </p:nvSpPr>
        <p:spPr>
          <a:xfrm>
            <a:off x="2487168" y="3291840"/>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Determinista: intención → flujo de trabajo</a:t>
            </a:r>
            <a:endParaRPr lang="en-US" sz="1050" dirty="0"/>
          </a:p>
        </p:txBody>
      </p:sp>
      <p:sp>
        <p:nvSpPr>
          <p:cNvPr id="16" name="Shape 14"/>
          <p:cNvSpPr/>
          <p:nvPr/>
        </p:nvSpPr>
        <p:spPr>
          <a:xfrm>
            <a:off x="2194560" y="3657600"/>
            <a:ext cx="7772400" cy="566928"/>
          </a:xfrm>
          <a:prstGeom prst="roundRect">
            <a:avLst>
              <a:gd name="adj" fmla="val 8065"/>
            </a:avLst>
          </a:prstGeom>
          <a:solidFill>
            <a:srgbClr val="F3F5FA"/>
          </a:solidFill>
          <a:ln w="12700">
            <a:solidFill>
              <a:srgbClr val="DCE2F0"/>
            </a:solidFill>
            <a:prstDash val="solid"/>
          </a:ln>
        </p:spPr>
        <p:txBody>
          <a:bodyPr/>
          <a:p/>
        </p:txBody>
      </p:sp>
      <p:sp>
        <p:nvSpPr>
          <p:cNvPr id="17" name="Shape 15"/>
          <p:cNvSpPr/>
          <p:nvPr/>
        </p:nvSpPr>
        <p:spPr>
          <a:xfrm>
            <a:off x="2194560" y="3657600"/>
            <a:ext cx="36576" cy="566928"/>
          </a:xfrm>
          <a:prstGeom prst="rect">
            <a:avLst/>
          </a:prstGeom>
          <a:solidFill>
            <a:srgbClr val="3E5288"/>
          </a:solidFill>
          <a:ln/>
        </p:spPr>
        <p:txBody>
          <a:bodyPr/>
          <a:p/>
        </p:txBody>
      </p:sp>
      <p:sp>
        <p:nvSpPr>
          <p:cNvPr id="18" name="Text 16"/>
          <p:cNvSpPr/>
          <p:nvPr/>
        </p:nvSpPr>
        <p:spPr>
          <a:xfrm>
            <a:off x="2487168" y="3730752"/>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Herramientas deterministas</a:t>
            </a:r>
            <a:endParaRPr lang="en-US" sz="1250" dirty="0"/>
          </a:p>
        </p:txBody>
      </p:sp>
      <p:sp>
        <p:nvSpPr>
          <p:cNvPr id="19" name="Text 17"/>
          <p:cNvSpPr/>
          <p:nvPr/>
        </p:nvSpPr>
        <p:spPr>
          <a:xfrm>
            <a:off x="2487168" y="3950208"/>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Ledger · plan contable · divisa · presupuesto · documentos · proveedores · duplicados · política</a:t>
            </a:r>
            <a:endParaRPr lang="en-US" sz="1050" dirty="0"/>
          </a:p>
        </p:txBody>
      </p:sp>
      <p:sp>
        <p:nvSpPr>
          <p:cNvPr id="20" name="Shape 18"/>
          <p:cNvSpPr/>
          <p:nvPr/>
        </p:nvSpPr>
        <p:spPr>
          <a:xfrm>
            <a:off x="2194560" y="4315968"/>
            <a:ext cx="7772400" cy="566928"/>
          </a:xfrm>
          <a:prstGeom prst="roundRect">
            <a:avLst>
              <a:gd name="adj" fmla="val 8065"/>
            </a:avLst>
          </a:prstGeom>
          <a:solidFill>
            <a:srgbClr val="F3F5FA"/>
          </a:solidFill>
          <a:ln w="12700">
            <a:solidFill>
              <a:srgbClr val="DCE2F0"/>
            </a:solidFill>
            <a:prstDash val="solid"/>
          </a:ln>
        </p:spPr>
        <p:txBody>
          <a:bodyPr/>
          <a:p/>
        </p:txBody>
      </p:sp>
      <p:sp>
        <p:nvSpPr>
          <p:cNvPr id="21" name="Shape 19"/>
          <p:cNvSpPr/>
          <p:nvPr/>
        </p:nvSpPr>
        <p:spPr>
          <a:xfrm>
            <a:off x="2194560" y="4315968"/>
            <a:ext cx="36576" cy="566928"/>
          </a:xfrm>
          <a:prstGeom prst="rect">
            <a:avLst/>
          </a:prstGeom>
          <a:solidFill>
            <a:srgbClr val="1B2A5E"/>
          </a:solidFill>
          <a:ln/>
        </p:spPr>
        <p:txBody>
          <a:bodyPr/>
          <a:p/>
        </p:txBody>
      </p:sp>
      <p:sp>
        <p:nvSpPr>
          <p:cNvPr id="22" name="Text 20"/>
          <p:cNvSpPr/>
          <p:nvPr/>
        </p:nvSpPr>
        <p:spPr>
          <a:xfrm>
            <a:off x="2487168" y="4389120"/>
            <a:ext cx="2926080" cy="219456"/>
          </a:xfrm>
          <a:prstGeom prst="rect">
            <a:avLst/>
          </a:prstGeom>
          <a:noFill/>
          <a:ln/>
        </p:spPr>
        <p:txBody>
          <a:bodyPr wrap="square" lIns="0" tIns="0" rIns="0" bIns="0" rtlCol="0" anchor="ctr"/>
          <a:lstStyle/>
          <a:p>
            <a:pPr marL="0" indent="0">
              <a:buNone/>
            </a:pPr>
            <a:r>
              <a:rPr lang="en-US" sz="1250" b="1" dirty="0">
                <a:solidFill>
                  <a:srgbClr val="10162F"/>
                </a:solidFill>
                <a:latin typeface="Calibri" pitchFamily="34" charset="0"/>
                <a:ea typeface="Calibri" pitchFamily="34" charset="-122"/>
                <a:cs typeface="Calibri" pitchFamily="34" charset="-120"/>
              </a:rPr>
              <a:t>Puerta de evidencia</a:t>
            </a:r>
            <a:endParaRPr lang="en-US" sz="1250" dirty="0"/>
          </a:p>
        </p:txBody>
      </p:sp>
      <p:sp>
        <p:nvSpPr>
          <p:cNvPr id="23" name="Text 21"/>
          <p:cNvSpPr/>
          <p:nvPr/>
        </p:nvSpPr>
        <p:spPr>
          <a:xfrm>
            <a:off x="2487168" y="4608576"/>
            <a:ext cx="7223760" cy="228600"/>
          </a:xfrm>
          <a:prstGeom prst="rect">
            <a:avLst/>
          </a:prstGeom>
          <a:noFill/>
          <a:ln/>
        </p:spPr>
        <p:txBody>
          <a:bodyPr wrap="square" lIns="0" tIns="0" rIns="0" bIns="0" rtlCol="0" anchor="ctr"/>
          <a:lstStyle/>
          <a:p>
            <a:pPr marL="0" indent="0">
              <a:buNone/>
            </a:pPr>
            <a:r>
              <a:rPr lang="en-US" sz="1050" dirty="0">
                <a:solidFill>
                  <a:srgbClr val="5C6784"/>
                </a:solidFill>
                <a:latin typeface="Calibri" pitchFamily="34" charset="0"/>
                <a:ea typeface="Calibri" pitchFamily="34" charset="-122"/>
                <a:cs typeface="Calibri" pitchFamily="34" charset="-120"/>
              </a:rPr>
              <a:t>Tabla de reglas · el modelo no participa</a:t>
            </a:r>
            <a:endParaRPr lang="en-US" sz="1050" dirty="0"/>
          </a:p>
        </p:txBody>
      </p:sp>
      <p:sp>
        <p:nvSpPr>
          <p:cNvPr id="24" name="Text 22"/>
          <p:cNvSpPr/>
          <p:nvPr/>
        </p:nvSpPr>
        <p:spPr>
          <a:xfrm>
            <a:off x="2194560" y="4974336"/>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ANSWER · PARTIAL · REFUSED · NEEDS_CLARIFICATION · ERROR</a:t>
            </a:r>
            <a:endParaRPr lang="en-US" sz="1250" dirty="0"/>
          </a:p>
        </p:txBody>
      </p:sp>
      <p:sp>
        <p:nvSpPr>
          <p:cNvPr id="25" name="Text 23"/>
          <p:cNvSpPr/>
          <p:nvPr/>
        </p:nvSpPr>
        <p:spPr>
          <a:xfrm>
            <a:off x="2194560" y="5358384"/>
            <a:ext cx="7772400" cy="292608"/>
          </a:xfrm>
          <a:prstGeom prst="rect">
            <a:avLst/>
          </a:prstGeom>
          <a:noFill/>
          <a:ln/>
        </p:spPr>
        <p:txBody>
          <a:bodyPr wrap="square" lIns="0" tIns="0" rIns="0" bIns="0" rtlCol="0" anchor="ctr"/>
          <a:lstStyle/>
          <a:p>
            <a:pPr marL="0" indent="0" algn="ctr">
              <a:buNone/>
            </a:pPr>
            <a:r>
              <a:rPr lang="en-US" sz="1250" i="1" dirty="0">
                <a:solidFill>
                  <a:srgbClr val="5C6784"/>
                </a:solidFill>
                <a:latin typeface="Calibri" pitchFamily="34" charset="0"/>
                <a:ea typeface="Calibri" pitchFamily="34" charset="-122"/>
                <a:cs typeface="Calibri" pitchFamily="34" charset="-120"/>
              </a:rPr>
              <a:t>Respuesta renderizada + traza de ejecución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LA ARQUITECTURA</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Nueve herramientas, cada una evitando un fallo concreto</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32461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1089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Herramienta</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Responsabilidad</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Modo de fallo que evita</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query_ledger</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Filtrado sobre un campo de fecha configurable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Desplazar el ejercicio con la fecha equivocada</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resolve_account_hierarchy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Unión temporal con el plan contable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Jerarquía errónea tras una reclasificación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convert_to_usd</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Conversión por mes y moneda con cobertura</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Que las filas sin tasa desaparezcan de una suma</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aggregate_usd_by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Agregación con cobertura por grupo</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Que un grupo parezca bajo plan por filas ausentes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query_budget</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Consulta con diagnóstico de claves repetidas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Duplicar o partir el presupuesto de un centro</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normalize_reporting_cost_centre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Transición documentada, preservando origen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Comparar códigos que el memo declara equivalentes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search_documents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Recuperación determinista por sección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Cargar los cuatro documentos por si acaso</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7"/>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detect_alias_clusters</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Detección sin aplicación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Fusionar proveedores por parecido de nombre</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evaluate_te_policy</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Motor de reglas desde configuración</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050" dirty="0">
                          <a:solidFill>
                            <a:srgbClr val="10162F"/>
                          </a:solidFill>
                          <a:latin typeface="Calibri" pitchFamily="34" charset="0"/>
                          <a:ea typeface="Calibri" pitchFamily="34" charset="-122"/>
                          <a:cs typeface="Calibri" pitchFamily="34" charset="-120"/>
                        </a:rPr>
                        <a:t>Convertir una política matizada en un booleano</a:t>
                      </a:r>
                      <a:endParaRPr lang="en-US" sz="105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9"/>
                  </a:ext>
                </a:extLst>
              </a:tr>
            </a:tbl>
          </a:graphicData>
        </a:graphic>
      </p:graphicFrame>
      <p:sp>
        <p:nvSpPr>
          <p:cNvPr id="7" name="Text 4"/>
          <p:cNvSpPr/>
          <p:nvPr/>
        </p:nvSpPr>
        <p:spPr>
          <a:xfrm>
            <a:off x="566928" y="5166360"/>
            <a:ext cx="11018520" cy="457200"/>
          </a:xfrm>
          <a:prstGeom prst="rect">
            <a:avLst/>
          </a:prstGeom>
          <a:noFill/>
          <a:ln/>
        </p:spPr>
        <p:txBody>
          <a:bodyPr wrap="square" lIns="0" tIns="0" rIns="0" bIns="0" rtlCol="0" anchor="ctr"/>
          <a:lstStyle/>
          <a:p>
            <a:pPr marL="0" indent="0">
              <a:buNone/>
            </a:pPr>
            <a:r>
              <a:rPr lang="en-US" sz="1250" i="1" dirty="0">
                <a:solidFill>
                  <a:srgbClr val="5C6784"/>
                </a:solidFill>
                <a:latin typeface="Calibri" pitchFamily="34" charset="0"/>
                <a:ea typeface="Calibri" pitchFamily="34" charset="-122"/>
                <a:cs typeface="Calibri" pitchFamily="34" charset="-120"/>
              </a:rPr>
              <a:t>Funciones puras, probables sin modelo de lenguaje. No están expuestas al modelo: son funciones que un plan determinista invoca en un orden fijo.</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11</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LA ARQUITECTURA</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El contrato de cobertura</a:t>
            </a:r>
            <a:endParaRPr lang="en-US" sz="2800" dirty="0"/>
          </a:p>
        </p:txBody>
      </p:sp>
      <p:sp>
        <p:nvSpPr>
          <p:cNvPr id="6" name="Text 4"/>
          <p:cNvSpPr/>
          <p:nvPr/>
        </p:nvSpPr>
        <p:spPr>
          <a:xfrm>
            <a:off x="566928" y="1627632"/>
            <a:ext cx="5669280" cy="100584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La conversión a dólares no devuelve un número. Devuelve un valor emparejado con su cobertura, sin métodos de conversión implícita: sumar, convertir a número o interpolar en texto produce un error explícito en lugar de un dato que perdió su contexto.</a:t>
            </a:r>
            <a:endParaRPr lang="en-US" sz="1350" dirty="0"/>
          </a:p>
        </p:txBody>
      </p:sp>
      <p:sp>
        <p:nvSpPr>
          <p:cNvPr id="7" name="Shape 5"/>
          <p:cNvSpPr/>
          <p:nvPr/>
        </p:nvSpPr>
        <p:spPr>
          <a:xfrm>
            <a:off x="566928" y="2788920"/>
            <a:ext cx="5669280" cy="2286000"/>
          </a:xfrm>
          <a:prstGeom prst="roundRect">
            <a:avLst>
              <a:gd name="adj" fmla="val 2000"/>
            </a:avLst>
          </a:prstGeom>
          <a:solidFill>
            <a:srgbClr val="F3F5FA"/>
          </a:solidFill>
          <a:ln w="12700">
            <a:solidFill>
              <a:srgbClr val="DCE2F0"/>
            </a:solidFill>
            <a:prstDash val="solid"/>
          </a:ln>
        </p:spPr>
        <p:txBody>
          <a:bodyPr/>
          <a:p/>
        </p:txBody>
      </p:sp>
      <p:sp>
        <p:nvSpPr>
          <p:cNvPr id="8" name="Text 6"/>
          <p:cNvSpPr/>
          <p:nvPr/>
        </p:nvSpPr>
        <p:spPr>
          <a:xfrm>
            <a:off x="841248" y="2999232"/>
            <a:ext cx="5120640" cy="1920240"/>
          </a:xfrm>
          <a:prstGeom prst="rect">
            <a:avLst/>
          </a:prstGeom>
          <a:noFill/>
          <a:ln/>
        </p:spPr>
        <p:txBody>
          <a:bodyPr wrap="square" lIns="0" tIns="0" rIns="0" bIns="0" rtlCol="0" anchor="ctr"/>
          <a:lstStyle/>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class UsdAmount:</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converted_amount_usd: float</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coverage: FxCoverage</a:t>
            </a:r>
            <a:endParaRPr lang="en-US" sz="1100" dirty="0"/>
          </a:p>
          <a:p>
            <a:pPr marL="0" indent="0">
              <a:lnSpc>
                <a:spcPts val="1500"/>
              </a:lnSpc>
              <a:buNone/>
            </a:pP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 sin __float__, __add__, __format__</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 float(x), sum([x, y]), f"{x}"</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 todos fallan con TypeError</a:t>
            </a:r>
            <a:endParaRPr lang="en-US" sz="1100" dirty="0"/>
          </a:p>
          <a:p>
            <a:pPr marL="0" indent="0">
              <a:lnSpc>
                <a:spcPts val="1500"/>
              </a:lnSpc>
              <a:buNone/>
            </a:pP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def require_full_coverage(self):</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if not coverage.is_complete:</a:t>
            </a:r>
            <a:endParaRPr lang="en-US" sz="1100" dirty="0"/>
          </a:p>
          <a:p>
            <a:pPr marL="0" indent="0">
              <a:lnSpc>
                <a:spcPts val="1500"/>
              </a:lnSpc>
              <a:buNone/>
            </a:pPr>
            <a:r>
              <a:rPr lang="en-US" sz="1100" dirty="0">
                <a:solidFill>
                  <a:srgbClr val="10162F"/>
                </a:solidFill>
                <a:latin typeface="Consolas" pitchFamily="34" charset="0"/>
                <a:ea typeface="Consolas" pitchFamily="34" charset="-122"/>
                <a:cs typeface="Consolas" pitchFamily="34" charset="-120"/>
              </a:rPr>
              <a:t>            raise IncompleteFxCoverageError</a:t>
            </a:r>
            <a:endParaRPr lang="en-US" sz="1100" dirty="0"/>
          </a:p>
        </p:txBody>
      </p:sp>
      <p:sp>
        <p:nvSpPr>
          <p:cNvPr id="9" name="Shape 7"/>
          <p:cNvSpPr/>
          <p:nvPr/>
        </p:nvSpPr>
        <p:spPr>
          <a:xfrm>
            <a:off x="6629400" y="1627632"/>
            <a:ext cx="41148" cy="1920240"/>
          </a:xfrm>
          <a:prstGeom prst="rect">
            <a:avLst/>
          </a:prstGeom>
          <a:solidFill>
            <a:srgbClr val="1B2A5E"/>
          </a:solidFill>
          <a:ln/>
        </p:spPr>
        <p:txBody>
          <a:bodyPr/>
          <a:p/>
        </p:txBody>
      </p:sp>
      <p:sp>
        <p:nvSpPr>
          <p:cNvPr id="10" name="Shape 8"/>
          <p:cNvSpPr/>
          <p:nvPr/>
        </p:nvSpPr>
        <p:spPr>
          <a:xfrm>
            <a:off x="6670548" y="1627632"/>
            <a:ext cx="4896612" cy="1920240"/>
          </a:xfrm>
          <a:prstGeom prst="rect">
            <a:avLst/>
          </a:prstGeom>
          <a:solidFill>
            <a:srgbClr val="F3F5FA"/>
          </a:solidFill>
          <a:ln w="12700">
            <a:solidFill>
              <a:srgbClr val="F3F5FA"/>
            </a:solidFill>
            <a:prstDash val="solid"/>
          </a:ln>
        </p:spPr>
        <p:txBody>
          <a:bodyPr/>
          <a:p/>
        </p:txBody>
      </p:sp>
      <p:sp>
        <p:nvSpPr>
          <p:cNvPr id="11" name="Text 9"/>
          <p:cNvSpPr/>
          <p:nvPr/>
        </p:nvSpPr>
        <p:spPr>
          <a:xfrm>
            <a:off x="6903720" y="1755648"/>
            <a:ext cx="438912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Por qué importa la cobertura por grupo</a:t>
            </a:r>
            <a:endParaRPr lang="en-US" sz="1050" dirty="0"/>
          </a:p>
        </p:txBody>
      </p:sp>
      <p:sp>
        <p:nvSpPr>
          <p:cNvPr id="12" name="Text 10"/>
          <p:cNvSpPr/>
          <p:nvPr/>
        </p:nvSpPr>
        <p:spPr>
          <a:xfrm>
            <a:off x="6903720" y="2011680"/>
            <a:ext cx="4389120" cy="140817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Sin ella, un flujo obtendría el total por centro de coste con una agrupación convencional y el contrato se evaporaría exactamente donde más duele.</a:t>
            </a:r>
            <a:endParaRPr lang="en-US" sz="1200" dirty="0"/>
          </a:p>
        </p:txBody>
      </p:sp>
      <p:sp>
        <p:nvSpPr>
          <p:cNvPr id="13" name="Text 11"/>
          <p:cNvSpPr/>
          <p:nvPr/>
        </p:nvSpPr>
        <p:spPr>
          <a:xfrm>
            <a:off x="6629400" y="3794760"/>
            <a:ext cx="4937760" cy="256032"/>
          </a:xfrm>
          <a:prstGeom prst="rect">
            <a:avLst/>
          </a:prstGeom>
          <a:noFill/>
          <a:ln/>
        </p:spPr>
        <p:txBody>
          <a:bodyPr wrap="square" lIns="0" tIns="0" rIns="0" bIns="0" rtlCol="0" anchor="ctr"/>
          <a:lstStyle/>
          <a:p>
            <a:pPr marL="0" indent="0">
              <a:buNone/>
            </a:pPr>
            <a:r>
              <a:rPr lang="en-US" sz="1050" b="1" kern="0" spc="100" dirty="0">
                <a:solidFill>
                  <a:srgbClr val="3E5288"/>
                </a:solidFill>
                <a:latin typeface="Calibri" pitchFamily="34" charset="0"/>
                <a:ea typeface="Calibri" pitchFamily="34" charset="-122"/>
                <a:cs typeface="Calibri" pitchFamily="34" charset="-120"/>
              </a:rPr>
              <a:t>El caso real</a:t>
            </a:r>
            <a:endParaRPr lang="en-US" sz="1050" dirty="0"/>
          </a:p>
        </p:txBody>
      </p:sp>
      <p:sp>
        <p:nvSpPr>
          <p:cNvPr id="14" name="Text 12"/>
          <p:cNvSpPr/>
          <p:nvPr/>
        </p:nvSpPr>
        <p:spPr>
          <a:xfrm>
            <a:off x="6629400" y="4114800"/>
            <a:ext cx="4937760" cy="1371600"/>
          </a:xfrm>
          <a:prstGeom prst="rect">
            <a:avLst/>
          </a:prstGeom>
          <a:noFill/>
          <a:ln/>
        </p:spPr>
        <p:txBody>
          <a:bodyPr wrap="square" lIns="0" tIns="0" rIns="0" bIns="0" rtlCol="0" anchor="ctr"/>
          <a:lstStyle/>
          <a:p>
            <a:pPr marL="0" indent="0">
              <a:lnSpc>
                <a:spcPts val="1900"/>
              </a:lnSpc>
              <a:buNone/>
            </a:pPr>
            <a:r>
              <a:rPr lang="en-US" sz="1300" dirty="0">
                <a:solidFill>
                  <a:srgbClr val="10162F"/>
                </a:solidFill>
                <a:latin typeface="Calibri" pitchFamily="34" charset="0"/>
                <a:ea typeface="Calibri" pitchFamily="34" charset="-122"/>
                <a:cs typeface="Calibri" pitchFamily="34" charset="-120"/>
              </a:rPr>
              <a:t>En el tercer trimestre, tres centros de coste europeos quedan marcados como cobertura incompleta. Sin este contrato habrían aparecido muy por debajo de presupuesto: un ahorro que no existe, producido por 147 filas que se evaporan en una suma sin generar ningún error.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12</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03 · LA ARQUITECTURA</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El estado lo fija una tabla, no un modelo</a:t>
            </a:r>
            <a:endParaRPr lang="en-US" sz="2800" dirty="0"/>
          </a:p>
        </p:txBody>
      </p:sp>
      <p:sp>
        <p:nvSpPr>
          <p:cNvPr id="6" name="Shape 4"/>
          <p:cNvSpPr/>
          <p:nvPr/>
        </p:nvSpPr>
        <p:spPr>
          <a:xfrm>
            <a:off x="566928" y="1627632"/>
            <a:ext cx="1417320" cy="365760"/>
          </a:xfrm>
          <a:prstGeom prst="roundRect">
            <a:avLst>
              <a:gd name="adj" fmla="val 15000"/>
            </a:avLst>
          </a:prstGeom>
          <a:solidFill>
            <a:srgbClr val="EAF4EF"/>
          </a:solidFill>
          <a:ln w="12700">
            <a:solidFill>
              <a:srgbClr val="1C6046"/>
            </a:solidFill>
            <a:prstDash val="solid"/>
          </a:ln>
        </p:spPr>
        <p:txBody>
          <a:bodyPr/>
          <a:p/>
        </p:txBody>
      </p:sp>
      <p:sp>
        <p:nvSpPr>
          <p:cNvPr id="7" name="Text 5"/>
          <p:cNvSpPr/>
          <p:nvPr/>
        </p:nvSpPr>
        <p:spPr>
          <a:xfrm>
            <a:off x="566928" y="1627632"/>
            <a:ext cx="1417320" cy="365760"/>
          </a:xfrm>
          <a:prstGeom prst="rect">
            <a:avLst/>
          </a:prstGeom>
          <a:noFill/>
          <a:ln/>
        </p:spPr>
        <p:txBody>
          <a:bodyPr wrap="square" lIns="0" tIns="0" rIns="0" bIns="0" rtlCol="0" anchor="ctr"/>
          <a:lstStyle/>
          <a:p>
            <a:pPr marL="0" indent="0" algn="ctr">
              <a:buNone/>
            </a:pPr>
            <a:r>
              <a:rPr lang="en-US" sz="1050" b="1" kern="0" spc="80" dirty="0">
                <a:solidFill>
                  <a:srgbClr val="1C6046"/>
                </a:solidFill>
                <a:latin typeface="Calibri" pitchFamily="34" charset="0"/>
                <a:ea typeface="Calibri" pitchFamily="34" charset="-122"/>
                <a:cs typeface="Calibri" pitchFamily="34" charset="-120"/>
              </a:rPr>
              <a:t>ANSWER</a:t>
            </a:r>
            <a:endParaRPr lang="en-US" sz="1050" dirty="0"/>
          </a:p>
        </p:txBody>
      </p:sp>
      <p:sp>
        <p:nvSpPr>
          <p:cNvPr id="8" name="Shape 6"/>
          <p:cNvSpPr/>
          <p:nvPr/>
        </p:nvSpPr>
        <p:spPr>
          <a:xfrm>
            <a:off x="2148840" y="1627632"/>
            <a:ext cx="1417320" cy="365760"/>
          </a:xfrm>
          <a:prstGeom prst="roundRect">
            <a:avLst>
              <a:gd name="adj" fmla="val 15000"/>
            </a:avLst>
          </a:prstGeom>
          <a:solidFill>
            <a:srgbClr val="FDF4E4"/>
          </a:solidFill>
          <a:ln w="12700">
            <a:solidFill>
              <a:srgbClr val="9A6410"/>
            </a:solidFill>
            <a:prstDash val="solid"/>
          </a:ln>
        </p:spPr>
        <p:txBody>
          <a:bodyPr/>
          <a:p/>
        </p:txBody>
      </p:sp>
      <p:sp>
        <p:nvSpPr>
          <p:cNvPr id="9" name="Text 7"/>
          <p:cNvSpPr/>
          <p:nvPr/>
        </p:nvSpPr>
        <p:spPr>
          <a:xfrm>
            <a:off x="2148840" y="1627632"/>
            <a:ext cx="1417320" cy="365760"/>
          </a:xfrm>
          <a:prstGeom prst="rect">
            <a:avLst/>
          </a:prstGeom>
          <a:noFill/>
          <a:ln/>
        </p:spPr>
        <p:txBody>
          <a:bodyPr wrap="square" lIns="0" tIns="0" rIns="0" bIns="0" rtlCol="0" anchor="ctr"/>
          <a:lstStyle/>
          <a:p>
            <a:pPr marL="0" indent="0" algn="ctr">
              <a:buNone/>
            </a:pPr>
            <a:r>
              <a:rPr lang="en-US" sz="1050" b="1" kern="0" spc="80" dirty="0">
                <a:solidFill>
                  <a:srgbClr val="9A6410"/>
                </a:solidFill>
                <a:latin typeface="Calibri" pitchFamily="34" charset="0"/>
                <a:ea typeface="Calibri" pitchFamily="34" charset="-122"/>
                <a:cs typeface="Calibri" pitchFamily="34" charset="-120"/>
              </a:rPr>
              <a:t>PARTIAL</a:t>
            </a:r>
            <a:endParaRPr lang="en-US" sz="1050" dirty="0"/>
          </a:p>
        </p:txBody>
      </p:sp>
      <p:sp>
        <p:nvSpPr>
          <p:cNvPr id="10" name="Shape 8"/>
          <p:cNvSpPr/>
          <p:nvPr/>
        </p:nvSpPr>
        <p:spPr>
          <a:xfrm>
            <a:off x="3730752" y="1627632"/>
            <a:ext cx="1417320" cy="365760"/>
          </a:xfrm>
          <a:prstGeom prst="roundRect">
            <a:avLst>
              <a:gd name="adj" fmla="val 15000"/>
            </a:avLst>
          </a:prstGeom>
          <a:solidFill>
            <a:srgbClr val="FBEEEE"/>
          </a:solidFill>
          <a:ln w="12700">
            <a:solidFill>
              <a:srgbClr val="9E2B2B"/>
            </a:solidFill>
            <a:prstDash val="solid"/>
          </a:ln>
        </p:spPr>
        <p:txBody>
          <a:bodyPr/>
          <a:p/>
        </p:txBody>
      </p:sp>
      <p:sp>
        <p:nvSpPr>
          <p:cNvPr id="11" name="Text 9"/>
          <p:cNvSpPr/>
          <p:nvPr/>
        </p:nvSpPr>
        <p:spPr>
          <a:xfrm>
            <a:off x="3730752" y="1627632"/>
            <a:ext cx="1417320" cy="365760"/>
          </a:xfrm>
          <a:prstGeom prst="rect">
            <a:avLst/>
          </a:prstGeom>
          <a:noFill/>
          <a:ln/>
        </p:spPr>
        <p:txBody>
          <a:bodyPr wrap="square" lIns="0" tIns="0" rIns="0" bIns="0" rtlCol="0" anchor="ctr"/>
          <a:lstStyle/>
          <a:p>
            <a:pPr marL="0" indent="0" algn="ctr">
              <a:buNone/>
            </a:pPr>
            <a:r>
              <a:rPr lang="en-US" sz="1050" b="1" kern="0" spc="80" dirty="0">
                <a:solidFill>
                  <a:srgbClr val="9E2B2B"/>
                </a:solidFill>
                <a:latin typeface="Calibri" pitchFamily="34" charset="0"/>
                <a:ea typeface="Calibri" pitchFamily="34" charset="-122"/>
                <a:cs typeface="Calibri" pitchFamily="34" charset="-120"/>
              </a:rPr>
              <a:t>REFUSED</a:t>
            </a:r>
            <a:endParaRPr lang="en-US" sz="1050" dirty="0"/>
          </a:p>
        </p:txBody>
      </p:sp>
      <p:sp>
        <p:nvSpPr>
          <p:cNvPr id="12" name="Shape 10"/>
          <p:cNvSpPr/>
          <p:nvPr/>
        </p:nvSpPr>
        <p:spPr>
          <a:xfrm>
            <a:off x="5312664" y="1627632"/>
            <a:ext cx="2468880" cy="365760"/>
          </a:xfrm>
          <a:prstGeom prst="roundRect">
            <a:avLst>
              <a:gd name="adj" fmla="val 15000"/>
            </a:avLst>
          </a:prstGeom>
          <a:solidFill>
            <a:srgbClr val="F3F5FA"/>
          </a:solidFill>
          <a:ln w="12700">
            <a:solidFill>
              <a:srgbClr val="1B2A5E"/>
            </a:solidFill>
            <a:prstDash val="solid"/>
          </a:ln>
        </p:spPr>
        <p:txBody>
          <a:bodyPr/>
          <a:p/>
        </p:txBody>
      </p:sp>
      <p:sp>
        <p:nvSpPr>
          <p:cNvPr id="13" name="Text 11"/>
          <p:cNvSpPr/>
          <p:nvPr/>
        </p:nvSpPr>
        <p:spPr>
          <a:xfrm>
            <a:off x="5312664" y="1627632"/>
            <a:ext cx="2468880" cy="365760"/>
          </a:xfrm>
          <a:prstGeom prst="rect">
            <a:avLst/>
          </a:prstGeom>
          <a:noFill/>
          <a:ln/>
        </p:spPr>
        <p:txBody>
          <a:bodyPr wrap="square" lIns="0" tIns="0" rIns="0" bIns="0" rtlCol="0" anchor="ctr"/>
          <a:lstStyle/>
          <a:p>
            <a:pPr marL="0" indent="0" algn="ctr">
              <a:buNone/>
            </a:pPr>
            <a:r>
              <a:rPr lang="en-US" sz="1050" b="1" kern="0" spc="80" dirty="0">
                <a:solidFill>
                  <a:srgbClr val="1B2A5E"/>
                </a:solidFill>
                <a:latin typeface="Calibri" pitchFamily="34" charset="0"/>
                <a:ea typeface="Calibri" pitchFamily="34" charset="-122"/>
                <a:cs typeface="Calibri" pitchFamily="34" charset="-120"/>
              </a:rPr>
              <a:t>NEEDS CLARIFICATION</a:t>
            </a:r>
            <a:endParaRPr lang="en-US" sz="1050" dirty="0"/>
          </a:p>
        </p:txBody>
      </p:sp>
      <p:sp>
        <p:nvSpPr>
          <p:cNvPr id="14" name="Shape 12"/>
          <p:cNvSpPr/>
          <p:nvPr/>
        </p:nvSpPr>
        <p:spPr>
          <a:xfrm>
            <a:off x="7946136" y="1627632"/>
            <a:ext cx="1188720" cy="365760"/>
          </a:xfrm>
          <a:prstGeom prst="roundRect">
            <a:avLst>
              <a:gd name="adj" fmla="val 15000"/>
            </a:avLst>
          </a:prstGeom>
          <a:solidFill>
            <a:srgbClr val="F3F5FA"/>
          </a:solidFill>
          <a:ln w="12700">
            <a:solidFill>
              <a:srgbClr val="5C6784"/>
            </a:solidFill>
            <a:prstDash val="solid"/>
          </a:ln>
        </p:spPr>
        <p:txBody>
          <a:bodyPr/>
          <a:p/>
        </p:txBody>
      </p:sp>
      <p:sp>
        <p:nvSpPr>
          <p:cNvPr id="15" name="Text 13"/>
          <p:cNvSpPr/>
          <p:nvPr/>
        </p:nvSpPr>
        <p:spPr>
          <a:xfrm>
            <a:off x="7946136" y="1627632"/>
            <a:ext cx="1188720" cy="365760"/>
          </a:xfrm>
          <a:prstGeom prst="rect">
            <a:avLst/>
          </a:prstGeom>
          <a:noFill/>
          <a:ln/>
        </p:spPr>
        <p:txBody>
          <a:bodyPr wrap="square" lIns="0" tIns="0" rIns="0" bIns="0" rtlCol="0" anchor="ctr"/>
          <a:lstStyle/>
          <a:p>
            <a:pPr marL="0" indent="0" algn="ctr">
              <a:buNone/>
            </a:pPr>
            <a:r>
              <a:rPr lang="en-US" sz="1050" b="1" kern="0" spc="80" dirty="0">
                <a:solidFill>
                  <a:srgbClr val="5C6784"/>
                </a:solidFill>
                <a:latin typeface="Calibri" pitchFamily="34" charset="0"/>
                <a:ea typeface="Calibri" pitchFamily="34" charset="-122"/>
                <a:cs typeface="Calibri" pitchFamily="34" charset="-120"/>
              </a:rPr>
              <a:t>ERROR</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9144000" cy="914400"/>
        </p:xfrm>
        <a:graphic>
          <a:graphicData uri="http://schemas.openxmlformats.org/drawingml/2006/table">
            <a:tbl>
              <a:tblPr/>
              <a:tblGrid>
                <a:gridCol w="786384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Condición detectada</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Estado forzado</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Falta una tasa de cambio requerida y afecta al total pedido</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PARTIAL o REFUSED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Falta el denominador de un ratio</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REFUSED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Cobertura de filas por debajo del 100% en un total consolidado</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máximo PARTIAL</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Periodo ambiguo con lecturas materialmente distintas</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NEEDS_CLARIFICATION</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Una decisión de agrupación no autoritativa cambiaría el resultado</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máximo PARTIAL</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No hay dato para el periodo pedido</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REFUSED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7" name="Text 14"/>
          <p:cNvSpPr/>
          <p:nvPr/>
        </p:nvSpPr>
        <p:spPr>
          <a:xfrm>
            <a:off x="566928" y="4892040"/>
            <a:ext cx="11018520" cy="640080"/>
          </a:xfrm>
          <a:prstGeom prst="rect">
            <a:avLst/>
          </a:prstGeom>
          <a:noFill/>
          <a:ln/>
        </p:spPr>
        <p:txBody>
          <a:bodyPr wrap="square" lIns="0" tIns="0" rIns="0" bIns="0" rtlCol="0" anchor="ctr"/>
          <a:lstStyle/>
          <a:p>
            <a:pPr marL="0" indent="0">
              <a:lnSpc>
                <a:spcPts val="1900"/>
              </a:lnSpc>
              <a:buNone/>
            </a:pPr>
            <a:r>
              <a:rPr lang="en-US" sz="1250" dirty="0">
                <a:solidFill>
                  <a:srgbClr val="5C6784"/>
                </a:solidFill>
                <a:latin typeface="Calibri" pitchFamily="34" charset="0"/>
                <a:ea typeface="Calibri" pitchFamily="34" charset="-122"/>
                <a:cs typeface="Calibri" pitchFamily="34" charset="-120"/>
              </a:rPr>
              <a:t>Es una función de Python con reglas explícitas. Cada condición que dispara queda registrada en la traza, incluso cuando otra más severa la domina: el consumidor necesita ver todos los motivos de degradación, no solo el ganador.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13</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RESULTADOS · PREGUNTA 3</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«¿Cuál fue el gasto consolidado del Q3 en dólares?»</a:t>
            </a:r>
            <a:endParaRPr lang="en-US" sz="2800" dirty="0"/>
          </a:p>
        </p:txBody>
      </p:sp>
      <p:sp>
        <p:nvSpPr>
          <p:cNvPr id="6" name="Shape 4"/>
          <p:cNvSpPr/>
          <p:nvPr/>
        </p:nvSpPr>
        <p:spPr>
          <a:xfrm>
            <a:off x="566928" y="1627632"/>
            <a:ext cx="1463040" cy="384048"/>
          </a:xfrm>
          <a:prstGeom prst="roundRect">
            <a:avLst>
              <a:gd name="adj" fmla="val 14286"/>
            </a:avLst>
          </a:prstGeom>
          <a:solidFill>
            <a:srgbClr val="FBEEEE"/>
          </a:solidFill>
          <a:ln w="12700">
            <a:solidFill>
              <a:srgbClr val="9E2B2B"/>
            </a:solidFill>
            <a:prstDash val="solid"/>
          </a:ln>
        </p:spPr>
        <p:txBody>
          <a:bodyPr/>
          <a:p/>
        </p:txBody>
      </p:sp>
      <p:sp>
        <p:nvSpPr>
          <p:cNvPr id="7" name="Text 5"/>
          <p:cNvSpPr/>
          <p:nvPr/>
        </p:nvSpPr>
        <p:spPr>
          <a:xfrm>
            <a:off x="566928" y="1627632"/>
            <a:ext cx="1463040" cy="384048"/>
          </a:xfrm>
          <a:prstGeom prst="rect">
            <a:avLst/>
          </a:prstGeom>
          <a:noFill/>
          <a:ln/>
        </p:spPr>
        <p:txBody>
          <a:bodyPr wrap="square" lIns="0" tIns="0" rIns="0" bIns="0" rtlCol="0" anchor="ctr"/>
          <a:lstStyle/>
          <a:p>
            <a:pPr marL="0" indent="0" algn="ctr">
              <a:buNone/>
            </a:pPr>
            <a:r>
              <a:rPr lang="en-US" sz="1100" b="1" dirty="0">
                <a:solidFill>
                  <a:srgbClr val="9E2B2B"/>
                </a:solidFill>
                <a:latin typeface="Calibri" pitchFamily="34" charset="0"/>
                <a:ea typeface="Calibri" pitchFamily="34" charset="-122"/>
                <a:cs typeface="Calibri" pitchFamily="34" charset="-120"/>
              </a:rPr>
              <a:t>REFUSED</a:t>
            </a:r>
            <a:endParaRPr lang="en-US" sz="1100" dirty="0"/>
          </a:p>
        </p:txBody>
      </p:sp>
      <p:sp>
        <p:nvSpPr>
          <p:cNvPr id="8" name="Text 6"/>
          <p:cNvSpPr/>
          <p:nvPr/>
        </p:nvSpPr>
        <p:spPr>
          <a:xfrm>
            <a:off x="2212848" y="1645920"/>
            <a:ext cx="9326880" cy="347472"/>
          </a:xfrm>
          <a:prstGeom prst="rect">
            <a:avLst/>
          </a:prstGeom>
          <a:noFill/>
          <a:ln/>
        </p:spPr>
        <p:txBody>
          <a:bodyPr wrap="square" lIns="0" tIns="0" rIns="0" bIns="0" rtlCol="0" anchor="ctr"/>
          <a:lstStyle/>
          <a:p>
            <a:pPr marL="0" indent="0">
              <a:buNone/>
            </a:pPr>
            <a:r>
              <a:rPr lang="en-US" sz="1350" dirty="0">
                <a:solidFill>
                  <a:srgbClr val="10162F"/>
                </a:solidFill>
                <a:latin typeface="Calibri" pitchFamily="34" charset="0"/>
                <a:ea typeface="Calibri" pitchFamily="34" charset="-122"/>
                <a:cs typeface="Calibri" pitchFamily="34" charset="-120"/>
              </a:rPr>
              <a:t>No existe respuesta honesta: falta la tasa del euro para septiembre de 2024.</a:t>
            </a:r>
            <a:endParaRPr lang="en-US" sz="1350" dirty="0"/>
          </a:p>
        </p:txBody>
      </p:sp>
      <p:sp>
        <p:nvSpPr>
          <p:cNvPr id="9" name="Shape 7"/>
          <p:cNvSpPr/>
          <p:nvPr/>
        </p:nvSpPr>
        <p:spPr>
          <a:xfrm>
            <a:off x="566928" y="2212848"/>
            <a:ext cx="3547872" cy="1481328"/>
          </a:xfrm>
          <a:prstGeom prst="roundRect">
            <a:avLst>
              <a:gd name="adj" fmla="val 3086"/>
            </a:avLst>
          </a:prstGeom>
          <a:solidFill>
            <a:srgbClr val="F3F5FA"/>
          </a:solidFill>
          <a:ln w="12700">
            <a:solidFill>
              <a:srgbClr val="DCE2F0"/>
            </a:solidFill>
            <a:prstDash val="solid"/>
          </a:ln>
        </p:spPr>
        <p:txBody>
          <a:bodyPr/>
          <a:p/>
        </p:txBody>
      </p:sp>
      <p:sp>
        <p:nvSpPr>
          <p:cNvPr id="10" name="Text 8"/>
          <p:cNvSpPr/>
          <p:nvPr/>
        </p:nvSpPr>
        <p:spPr>
          <a:xfrm>
            <a:off x="786384" y="2395728"/>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COBERTURA</a:t>
            </a:r>
            <a:endParaRPr lang="en-US" sz="900" dirty="0"/>
          </a:p>
        </p:txBody>
      </p:sp>
      <p:sp>
        <p:nvSpPr>
          <p:cNvPr id="11" name="Text 9"/>
          <p:cNvSpPr/>
          <p:nvPr/>
        </p:nvSpPr>
        <p:spPr>
          <a:xfrm>
            <a:off x="786384" y="2633472"/>
            <a:ext cx="3108960" cy="566928"/>
          </a:xfrm>
          <a:prstGeom prst="rect">
            <a:avLst/>
          </a:prstGeom>
          <a:noFill/>
          <a:ln/>
        </p:spPr>
        <p:txBody>
          <a:bodyPr wrap="square" lIns="0" tIns="0" rIns="0" bIns="0" rtlCol="0" anchor="ctr"/>
          <a:lstStyle/>
          <a:p>
            <a:pPr marL="0" indent="0">
              <a:buNone/>
            </a:pPr>
            <a:r>
              <a:rPr lang="en-US" sz="2600" b="1" dirty="0">
                <a:solidFill>
                  <a:srgbClr val="1B2A5E"/>
                </a:solidFill>
                <a:latin typeface="Cambria" pitchFamily="34" charset="0"/>
                <a:ea typeface="Cambria" pitchFamily="34" charset="-122"/>
                <a:cs typeface="Cambria" pitchFamily="34" charset="-120"/>
              </a:rPr>
              <a:t>89,1%</a:t>
            </a:r>
            <a:endParaRPr lang="en-US" sz="2600" dirty="0"/>
          </a:p>
        </p:txBody>
      </p:sp>
      <p:sp>
        <p:nvSpPr>
          <p:cNvPr id="12" name="Text 10"/>
          <p:cNvSpPr/>
          <p:nvPr/>
        </p:nvSpPr>
        <p:spPr>
          <a:xfrm>
            <a:off x="786384" y="3200400"/>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1.201 de 1.348 filas convertibles</a:t>
            </a:r>
            <a:endParaRPr lang="en-US" sz="1000" dirty="0"/>
          </a:p>
        </p:txBody>
      </p:sp>
      <p:sp>
        <p:nvSpPr>
          <p:cNvPr id="13" name="Shape 11"/>
          <p:cNvSpPr/>
          <p:nvPr/>
        </p:nvSpPr>
        <p:spPr>
          <a:xfrm>
            <a:off x="4306824" y="2212848"/>
            <a:ext cx="3547872" cy="1481328"/>
          </a:xfrm>
          <a:prstGeom prst="roundRect">
            <a:avLst>
              <a:gd name="adj" fmla="val 3086"/>
            </a:avLst>
          </a:prstGeom>
          <a:solidFill>
            <a:srgbClr val="F3F5FA"/>
          </a:solidFill>
          <a:ln w="12700">
            <a:solidFill>
              <a:srgbClr val="DCE2F0"/>
            </a:solidFill>
            <a:prstDash val="solid"/>
          </a:ln>
        </p:spPr>
        <p:txBody>
          <a:bodyPr/>
          <a:p/>
        </p:txBody>
      </p:sp>
      <p:sp>
        <p:nvSpPr>
          <p:cNvPr id="14" name="Text 12"/>
          <p:cNvSpPr/>
          <p:nvPr/>
        </p:nvSpPr>
        <p:spPr>
          <a:xfrm>
            <a:off x="4526280" y="2395728"/>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SIN CONVERTIR</a:t>
            </a:r>
            <a:endParaRPr lang="en-US" sz="900" dirty="0"/>
          </a:p>
        </p:txBody>
      </p:sp>
      <p:sp>
        <p:nvSpPr>
          <p:cNvPr id="15" name="Text 13"/>
          <p:cNvSpPr/>
          <p:nvPr/>
        </p:nvSpPr>
        <p:spPr>
          <a:xfrm>
            <a:off x="4526280" y="2633472"/>
            <a:ext cx="3108960" cy="566928"/>
          </a:xfrm>
          <a:prstGeom prst="rect">
            <a:avLst/>
          </a:prstGeom>
          <a:noFill/>
          <a:ln/>
        </p:spPr>
        <p:txBody>
          <a:bodyPr wrap="square" lIns="0" tIns="0" rIns="0" bIns="0" rtlCol="0" anchor="ctr"/>
          <a:lstStyle/>
          <a:p>
            <a:pPr marL="0" indent="0">
              <a:buNone/>
            </a:pPr>
            <a:r>
              <a:rPr lang="en-US" sz="2600" b="1" dirty="0">
                <a:solidFill>
                  <a:srgbClr val="9A6410"/>
                </a:solidFill>
                <a:latin typeface="Cambria" pitchFamily="34" charset="0"/>
                <a:ea typeface="Cambria" pitchFamily="34" charset="-122"/>
                <a:cs typeface="Cambria" pitchFamily="34" charset="-120"/>
              </a:rPr>
              <a:t>1.231.309</a:t>
            </a:r>
            <a:endParaRPr lang="en-US" sz="2600" dirty="0"/>
          </a:p>
        </p:txBody>
      </p:sp>
      <p:sp>
        <p:nvSpPr>
          <p:cNvPr id="16" name="Text 14"/>
          <p:cNvSpPr/>
          <p:nvPr/>
        </p:nvSpPr>
        <p:spPr>
          <a:xfrm>
            <a:off x="4526280" y="3200400"/>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EUR en 147 filas, cuantificados</a:t>
            </a:r>
            <a:endParaRPr lang="en-US" sz="1000" dirty="0"/>
          </a:p>
        </p:txBody>
      </p:sp>
      <p:sp>
        <p:nvSpPr>
          <p:cNvPr id="17" name="Shape 15"/>
          <p:cNvSpPr/>
          <p:nvPr/>
        </p:nvSpPr>
        <p:spPr>
          <a:xfrm>
            <a:off x="8037576" y="2212848"/>
            <a:ext cx="3547872" cy="1481328"/>
          </a:xfrm>
          <a:prstGeom prst="roundRect">
            <a:avLst>
              <a:gd name="adj" fmla="val 3086"/>
            </a:avLst>
          </a:prstGeom>
          <a:solidFill>
            <a:srgbClr val="F3F5FA"/>
          </a:solidFill>
          <a:ln w="12700">
            <a:solidFill>
              <a:srgbClr val="DCE2F0"/>
            </a:solidFill>
            <a:prstDash val="solid"/>
          </a:ln>
        </p:spPr>
        <p:txBody>
          <a:bodyPr/>
          <a:p/>
        </p:txBody>
      </p:sp>
      <p:sp>
        <p:nvSpPr>
          <p:cNvPr id="18" name="Text 16"/>
          <p:cNvSpPr/>
          <p:nvPr/>
        </p:nvSpPr>
        <p:spPr>
          <a:xfrm>
            <a:off x="8257032" y="2395728"/>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TOTAL EXACTO</a:t>
            </a:r>
            <a:endParaRPr lang="en-US" sz="900" dirty="0"/>
          </a:p>
        </p:txBody>
      </p:sp>
      <p:sp>
        <p:nvSpPr>
          <p:cNvPr id="19" name="Text 17"/>
          <p:cNvSpPr/>
          <p:nvPr/>
        </p:nvSpPr>
        <p:spPr>
          <a:xfrm>
            <a:off x="8257032" y="2633472"/>
            <a:ext cx="3108960" cy="566928"/>
          </a:xfrm>
          <a:prstGeom prst="rect">
            <a:avLst/>
          </a:prstGeom>
          <a:noFill/>
          <a:ln/>
        </p:spPr>
        <p:txBody>
          <a:bodyPr wrap="square" lIns="0" tIns="0" rIns="0" bIns="0" rtlCol="0" anchor="ctr"/>
          <a:lstStyle/>
          <a:p>
            <a:pPr marL="0" indent="0">
              <a:buNone/>
            </a:pPr>
            <a:r>
              <a:rPr lang="en-US" sz="2600" b="1" dirty="0">
                <a:solidFill>
                  <a:srgbClr val="9E2B2B"/>
                </a:solidFill>
                <a:latin typeface="Cambria" pitchFamily="34" charset="0"/>
                <a:ea typeface="Cambria" pitchFamily="34" charset="-122"/>
                <a:cs typeface="Cambria" pitchFamily="34" charset="-120"/>
              </a:rPr>
              <a:t>—</a:t>
            </a:r>
            <a:endParaRPr lang="en-US" sz="2600" dirty="0"/>
          </a:p>
        </p:txBody>
      </p:sp>
      <p:sp>
        <p:nvSpPr>
          <p:cNvPr id="20" name="Text 18"/>
          <p:cNvSpPr/>
          <p:nvPr/>
        </p:nvSpPr>
        <p:spPr>
          <a:xfrm>
            <a:off x="8257032" y="3200400"/>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No defendible con esta evidencia</a:t>
            </a:r>
            <a:endParaRPr lang="en-US" sz="1000" dirty="0"/>
          </a:p>
        </p:txBody>
      </p:sp>
      <p:sp>
        <p:nvSpPr>
          <p:cNvPr id="21" name="Shape 19"/>
          <p:cNvSpPr/>
          <p:nvPr/>
        </p:nvSpPr>
        <p:spPr>
          <a:xfrm>
            <a:off x="566928" y="3886200"/>
            <a:ext cx="11018520" cy="1371600"/>
          </a:xfrm>
          <a:prstGeom prst="roundRect">
            <a:avLst>
              <a:gd name="adj" fmla="val 3333"/>
            </a:avLst>
          </a:prstGeom>
          <a:solidFill>
            <a:srgbClr val="F3F5FA"/>
          </a:solidFill>
          <a:ln w="12700">
            <a:solidFill>
              <a:srgbClr val="DCE2F0"/>
            </a:solidFill>
            <a:prstDash val="solid"/>
          </a:ln>
        </p:spPr>
        <p:txBody>
          <a:bodyPr/>
          <a:p/>
        </p:txBody>
      </p:sp>
      <p:sp>
        <p:nvSpPr>
          <p:cNvPr id="22" name="Text 20"/>
          <p:cNvSpPr/>
          <p:nvPr/>
        </p:nvSpPr>
        <p:spPr>
          <a:xfrm>
            <a:off x="868680" y="4069080"/>
            <a:ext cx="10424160" cy="256032"/>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Y SIN EMBARGO, ENTREGA TODO LO QUE SÍ SE PUDO ESTABLECER</a:t>
            </a:r>
            <a:endParaRPr lang="en-US" sz="1000" dirty="0"/>
          </a:p>
        </p:txBody>
      </p:sp>
      <p:sp>
        <p:nvSpPr>
          <p:cNvPr id="23" name="Text 21"/>
          <p:cNvSpPr/>
          <p:nvPr/>
        </p:nvSpPr>
        <p:spPr>
          <a:xfrm>
            <a:off x="868680" y="4389120"/>
            <a:ext cx="10424160" cy="320040"/>
          </a:xfrm>
          <a:prstGeom prst="rect">
            <a:avLst/>
          </a:prstGeom>
          <a:noFill/>
          <a:ln/>
        </p:spPr>
        <p:txBody>
          <a:bodyPr wrap="square" lIns="0" tIns="0" rIns="0" bIns="0" rtlCol="0" anchor="ctr"/>
          <a:lstStyle/>
          <a:p>
            <a:pPr marL="0" indent="0">
              <a:buNone/>
            </a:pPr>
            <a:r>
              <a:rPr lang="en-US" sz="1550" b="1" dirty="0">
                <a:solidFill>
                  <a:srgbClr val="10162F"/>
                </a:solidFill>
                <a:latin typeface="Cambria" pitchFamily="34" charset="0"/>
                <a:ea typeface="Cambria" pitchFamily="34" charset="-122"/>
                <a:cs typeface="Cambria" pitchFamily="34" charset="-120"/>
              </a:rPr>
              <a:t>Total computable 10.003.880 USD  ·  MI-US 4.879.539  ·  MI-NL 3.134.109  ·  MI-CA 1.990.231</a:t>
            </a:r>
            <a:endParaRPr lang="en-US" sz="1550" dirty="0"/>
          </a:p>
        </p:txBody>
      </p:sp>
      <p:sp>
        <p:nvSpPr>
          <p:cNvPr id="24" name="Text 22"/>
          <p:cNvSpPr/>
          <p:nvPr/>
        </p:nvSpPr>
        <p:spPr>
          <a:xfrm>
            <a:off x="868680" y="4754880"/>
            <a:ext cx="10424160" cy="365760"/>
          </a:xfrm>
          <a:prstGeom prst="rect">
            <a:avLst/>
          </a:prstGeom>
          <a:noFill/>
          <a:ln/>
        </p:spPr>
        <p:txBody>
          <a:bodyPr wrap="square" lIns="0" tIns="0" rIns="0" bIns="0" rtlCol="0" anchor="ctr"/>
          <a:lstStyle/>
          <a:p>
            <a:pPr marL="0" indent="0">
              <a:buNone/>
            </a:pPr>
            <a:r>
              <a:rPr lang="en-US" sz="1250" dirty="0">
                <a:solidFill>
                  <a:srgbClr val="5C6784"/>
                </a:solidFill>
                <a:latin typeface="Calibri" pitchFamily="34" charset="0"/>
                <a:ea typeface="Calibri" pitchFamily="34" charset="-122"/>
                <a:cs typeface="Calibri" pitchFamily="34" charset="-120"/>
              </a:rPr>
              <a:t>Nunca interpola, nunca usa el mes anterior, nunca estima. El analista se lleva el 89% del cuadro y sabe con precisión qué falta, cuánto vale y por qué.</a:t>
            </a:r>
            <a:endParaRPr lang="en-US" sz="1250" dirty="0"/>
          </a:p>
        </p:txBody>
      </p:sp>
      <p:sp>
        <p:nvSpPr>
          <p:cNvPr id="25" name="Text 23"/>
          <p:cNvSpPr/>
          <p:nvPr/>
        </p:nvSpPr>
        <p:spPr>
          <a:xfrm>
            <a:off x="566928" y="5486400"/>
            <a:ext cx="11018520" cy="411480"/>
          </a:xfrm>
          <a:prstGeom prst="rect">
            <a:avLst/>
          </a:prstGeom>
          <a:noFill/>
          <a:ln/>
        </p:spPr>
        <p:txBody>
          <a:bodyPr wrap="square" lIns="0" tIns="0" rIns="0" bIns="0" rtlCol="0" anchor="ctr"/>
          <a:lstStyle/>
          <a:p>
            <a:pPr marL="0" indent="0">
              <a:buNone/>
            </a:pPr>
            <a:r>
              <a:rPr lang="en-US" sz="1700" b="1" i="1" dirty="0">
                <a:solidFill>
                  <a:srgbClr val="10162F"/>
                </a:solidFill>
                <a:latin typeface="Cambria" pitchFamily="34" charset="0"/>
                <a:ea typeface="Cambria" pitchFamily="34" charset="-122"/>
                <a:cs typeface="Cambria" pitchFamily="34" charset="-120"/>
              </a:rPr>
              <a:t>Un rechazo que descarta lo que sí se pudo establecer cuesta más que uno que lo reporta.</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RESULTADOS · PREGUNTA 6</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192 hallazgos, no 27.900</a:t>
            </a:r>
            <a:endParaRPr lang="en-US" sz="2800" dirty="0"/>
          </a:p>
        </p:txBody>
      </p:sp>
      <p:sp>
        <p:nvSpPr>
          <p:cNvPr id="6" name="Text 4"/>
          <p:cNvSpPr/>
          <p:nvPr/>
        </p:nvSpPr>
        <p:spPr>
          <a:xfrm>
            <a:off x="566928" y="1627632"/>
            <a:ext cx="11018520" cy="68580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El motor de política produce unas 27.900 evaluaciones, pero esa cifra es el producto de reglas por transacciones. Presentarla como incumplimientos sería exactamente el tipo de número plausible y equivocado que el sistema existe para evitar.</a:t>
            </a:r>
            <a:endParaRPr lang="en-US" sz="1350" dirty="0"/>
          </a:p>
        </p:txBody>
      </p:sp>
      <p:sp>
        <p:nvSpPr>
          <p:cNvPr id="7" name="Shape 5"/>
          <p:cNvSpPr/>
          <p:nvPr/>
        </p:nvSpPr>
        <p:spPr>
          <a:xfrm>
            <a:off x="566928" y="2450592"/>
            <a:ext cx="3547872" cy="1481328"/>
          </a:xfrm>
          <a:prstGeom prst="roundRect">
            <a:avLst>
              <a:gd name="adj" fmla="val 3086"/>
            </a:avLst>
          </a:prstGeom>
          <a:solidFill>
            <a:srgbClr val="F3F5FA"/>
          </a:solidFill>
          <a:ln w="12700">
            <a:solidFill>
              <a:srgbClr val="DCE2F0"/>
            </a:solidFill>
            <a:prstDash val="solid"/>
          </a:ln>
        </p:spPr>
        <p:txBody>
          <a:bodyPr/>
          <a:p/>
        </p:txBody>
      </p:sp>
      <p:sp>
        <p:nvSpPr>
          <p:cNvPr id="8" name="Text 6"/>
          <p:cNvSpPr/>
          <p:nvPr/>
        </p:nvSpPr>
        <p:spPr>
          <a:xfrm>
            <a:off x="786384" y="2633472"/>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COINCIDENCIAS CONFIRMADAS</a:t>
            </a:r>
            <a:endParaRPr lang="en-US" sz="900" dirty="0"/>
          </a:p>
        </p:txBody>
      </p:sp>
      <p:sp>
        <p:nvSpPr>
          <p:cNvPr id="9" name="Text 7"/>
          <p:cNvSpPr/>
          <p:nvPr/>
        </p:nvSpPr>
        <p:spPr>
          <a:xfrm>
            <a:off x="786384" y="2871216"/>
            <a:ext cx="3108960" cy="566928"/>
          </a:xfrm>
          <a:prstGeom prst="rect">
            <a:avLst/>
          </a:prstGeom>
          <a:noFill/>
          <a:ln/>
        </p:spPr>
        <p:txBody>
          <a:bodyPr wrap="square" lIns="0" tIns="0" rIns="0" bIns="0" rtlCol="0" anchor="ctr"/>
          <a:lstStyle/>
          <a:p>
            <a:pPr marL="0" indent="0">
              <a:buNone/>
            </a:pPr>
            <a:r>
              <a:rPr lang="en-US" sz="2600" b="1" dirty="0">
                <a:solidFill>
                  <a:srgbClr val="9E2B2B"/>
                </a:solidFill>
                <a:latin typeface="Cambria" pitchFamily="34" charset="0"/>
                <a:ea typeface="Cambria" pitchFamily="34" charset="-122"/>
                <a:cs typeface="Cambria" pitchFamily="34" charset="-120"/>
              </a:rPr>
              <a:t>192</a:t>
            </a:r>
            <a:endParaRPr lang="en-US" sz="2600" dirty="0"/>
          </a:p>
        </p:txBody>
      </p:sp>
      <p:sp>
        <p:nvSpPr>
          <p:cNvPr id="10" name="Text 8"/>
          <p:cNvSpPr/>
          <p:nvPr/>
        </p:nvSpPr>
        <p:spPr>
          <a:xfrm>
            <a:off x="786384" y="3438144"/>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La regla se incumple tal como está escrita</a:t>
            </a:r>
            <a:endParaRPr lang="en-US" sz="1000" dirty="0"/>
          </a:p>
        </p:txBody>
      </p:sp>
      <p:sp>
        <p:nvSpPr>
          <p:cNvPr id="11" name="Shape 9"/>
          <p:cNvSpPr/>
          <p:nvPr/>
        </p:nvSpPr>
        <p:spPr>
          <a:xfrm>
            <a:off x="4306824" y="2450592"/>
            <a:ext cx="3547872" cy="1481328"/>
          </a:xfrm>
          <a:prstGeom prst="roundRect">
            <a:avLst>
              <a:gd name="adj" fmla="val 3086"/>
            </a:avLst>
          </a:prstGeom>
          <a:solidFill>
            <a:srgbClr val="F3F5FA"/>
          </a:solidFill>
          <a:ln w="12700">
            <a:solidFill>
              <a:srgbClr val="DCE2F0"/>
            </a:solidFill>
            <a:prstDash val="solid"/>
          </a:ln>
        </p:spPr>
        <p:txBody>
          <a:bodyPr/>
          <a:p/>
        </p:txBody>
      </p:sp>
      <p:sp>
        <p:nvSpPr>
          <p:cNvPr id="12" name="Text 10"/>
          <p:cNvSpPr/>
          <p:nvPr/>
        </p:nvSpPr>
        <p:spPr>
          <a:xfrm>
            <a:off x="4526280" y="2633472"/>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INCUMPLIMIENTOS POSIBLES</a:t>
            </a:r>
            <a:endParaRPr lang="en-US" sz="900" dirty="0"/>
          </a:p>
        </p:txBody>
      </p:sp>
      <p:sp>
        <p:nvSpPr>
          <p:cNvPr id="13" name="Text 11"/>
          <p:cNvSpPr/>
          <p:nvPr/>
        </p:nvSpPr>
        <p:spPr>
          <a:xfrm>
            <a:off x="4526280" y="2871216"/>
            <a:ext cx="3108960" cy="566928"/>
          </a:xfrm>
          <a:prstGeom prst="rect">
            <a:avLst/>
          </a:prstGeom>
          <a:noFill/>
          <a:ln/>
        </p:spPr>
        <p:txBody>
          <a:bodyPr wrap="square" lIns="0" tIns="0" rIns="0" bIns="0" rtlCol="0" anchor="ctr"/>
          <a:lstStyle/>
          <a:p>
            <a:pPr marL="0" indent="0">
              <a:buNone/>
            </a:pPr>
            <a:r>
              <a:rPr lang="en-US" sz="2600" b="1" dirty="0">
                <a:solidFill>
                  <a:srgbClr val="9A6410"/>
                </a:solidFill>
                <a:latin typeface="Cambria" pitchFamily="34" charset="0"/>
                <a:ea typeface="Cambria" pitchFamily="34" charset="-122"/>
                <a:cs typeface="Cambria" pitchFamily="34" charset="-120"/>
              </a:rPr>
              <a:t>7</a:t>
            </a:r>
            <a:endParaRPr lang="en-US" sz="2600" dirty="0"/>
          </a:p>
        </p:txBody>
      </p:sp>
      <p:sp>
        <p:nvSpPr>
          <p:cNvPr id="14" name="Text 12"/>
          <p:cNvSpPr/>
          <p:nvPr/>
        </p:nvSpPr>
        <p:spPr>
          <a:xfrm>
            <a:off x="4526280" y="3438144"/>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Falta un elemento para confirmarlo</a:t>
            </a:r>
            <a:endParaRPr lang="en-US" sz="1000" dirty="0"/>
          </a:p>
        </p:txBody>
      </p:sp>
      <p:sp>
        <p:nvSpPr>
          <p:cNvPr id="15" name="Shape 13"/>
          <p:cNvSpPr/>
          <p:nvPr/>
        </p:nvSpPr>
        <p:spPr>
          <a:xfrm>
            <a:off x="8037576" y="2450592"/>
            <a:ext cx="3547872" cy="1481328"/>
          </a:xfrm>
          <a:prstGeom prst="roundRect">
            <a:avLst>
              <a:gd name="adj" fmla="val 3086"/>
            </a:avLst>
          </a:prstGeom>
          <a:solidFill>
            <a:srgbClr val="F3F5FA"/>
          </a:solidFill>
          <a:ln w="12700">
            <a:solidFill>
              <a:srgbClr val="DCE2F0"/>
            </a:solidFill>
            <a:prstDash val="solid"/>
          </a:ln>
        </p:spPr>
        <p:txBody>
          <a:bodyPr/>
          <a:p/>
        </p:txBody>
      </p:sp>
      <p:sp>
        <p:nvSpPr>
          <p:cNvPr id="16" name="Text 14"/>
          <p:cNvSpPr/>
          <p:nvPr/>
        </p:nvSpPr>
        <p:spPr>
          <a:xfrm>
            <a:off x="8257032" y="2633472"/>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NO EVALUABLES</a:t>
            </a:r>
            <a:endParaRPr lang="en-US" sz="900" dirty="0"/>
          </a:p>
        </p:txBody>
      </p:sp>
      <p:sp>
        <p:nvSpPr>
          <p:cNvPr id="17" name="Text 15"/>
          <p:cNvSpPr/>
          <p:nvPr/>
        </p:nvSpPr>
        <p:spPr>
          <a:xfrm>
            <a:off x="8257032" y="2871216"/>
            <a:ext cx="3108960" cy="566928"/>
          </a:xfrm>
          <a:prstGeom prst="rect">
            <a:avLst/>
          </a:prstGeom>
          <a:noFill/>
          <a:ln/>
        </p:spPr>
        <p:txBody>
          <a:bodyPr wrap="square" lIns="0" tIns="0" rIns="0" bIns="0" rtlCol="0" anchor="ctr"/>
          <a:lstStyle/>
          <a:p>
            <a:pPr marL="0" indent="0">
              <a:buNone/>
            </a:pPr>
            <a:r>
              <a:rPr lang="en-US" sz="2600" b="1" dirty="0">
                <a:solidFill>
                  <a:srgbClr val="5C6784"/>
                </a:solidFill>
                <a:latin typeface="Cambria" pitchFamily="34" charset="0"/>
                <a:ea typeface="Cambria" pitchFamily="34" charset="-122"/>
                <a:cs typeface="Cambria" pitchFamily="34" charset="-120"/>
              </a:rPr>
              <a:t>1.314</a:t>
            </a:r>
            <a:endParaRPr lang="en-US" sz="2600" dirty="0"/>
          </a:p>
        </p:txBody>
      </p:sp>
      <p:sp>
        <p:nvSpPr>
          <p:cNvPr id="18" name="Text 16"/>
          <p:cNvSpPr/>
          <p:nvPr/>
        </p:nvSpPr>
        <p:spPr>
          <a:xfrm>
            <a:off x="8257032" y="3438144"/>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El ledger no contiene la evidencia exigida</a:t>
            </a:r>
            <a:endParaRPr lang="en-US" sz="1000" dirty="0"/>
          </a:p>
        </p:txBody>
      </p:sp>
      <p:sp>
        <p:nvSpPr>
          <p:cNvPr id="19" name="Shape 17"/>
          <p:cNvSpPr/>
          <p:nvPr/>
        </p:nvSpPr>
        <p:spPr>
          <a:xfrm>
            <a:off x="566928" y="4160520"/>
            <a:ext cx="41148" cy="1463040"/>
          </a:xfrm>
          <a:prstGeom prst="rect">
            <a:avLst/>
          </a:prstGeom>
          <a:solidFill>
            <a:srgbClr val="1B2A5E"/>
          </a:solidFill>
          <a:ln/>
        </p:spPr>
        <p:txBody>
          <a:bodyPr/>
          <a:p/>
        </p:txBody>
      </p:sp>
      <p:sp>
        <p:nvSpPr>
          <p:cNvPr id="20" name="Shape 18"/>
          <p:cNvSpPr/>
          <p:nvPr/>
        </p:nvSpPr>
        <p:spPr>
          <a:xfrm>
            <a:off x="608076" y="4160520"/>
            <a:ext cx="10977372" cy="1463040"/>
          </a:xfrm>
          <a:prstGeom prst="rect">
            <a:avLst/>
          </a:prstGeom>
          <a:solidFill>
            <a:srgbClr val="F3F5FA"/>
          </a:solidFill>
          <a:ln w="12700">
            <a:solidFill>
              <a:srgbClr val="F3F5FA"/>
            </a:solidFill>
            <a:prstDash val="solid"/>
          </a:ln>
        </p:spPr>
        <p:txBody>
          <a:bodyPr/>
          <a:p/>
        </p:txBody>
      </p:sp>
      <p:sp>
        <p:nvSpPr>
          <p:cNvPr id="21" name="Text 19"/>
          <p:cNvSpPr/>
          <p:nvPr/>
        </p:nvSpPr>
        <p:spPr>
          <a:xfrm>
            <a:off x="841248" y="4288536"/>
            <a:ext cx="1046988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Lo verificable y lo que nunca lo será</a:t>
            </a:r>
            <a:endParaRPr lang="en-US" sz="1050" dirty="0"/>
          </a:p>
        </p:txBody>
      </p:sp>
      <p:sp>
        <p:nvSpPr>
          <p:cNvPr id="22" name="Text 20"/>
          <p:cNvSpPr/>
          <p:nvPr/>
        </p:nvSpPr>
        <p:spPr>
          <a:xfrm>
            <a:off x="841248" y="4544568"/>
            <a:ext cx="10469880" cy="95097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La pre-aprobación por importe es comprobable contra la referencia registrada. El tope de alojamiento solo puede ser incumplimiento potencial, porque es exclusivo de impuestos y el ledger no los separa. La duración de un vuelo y el registro de asistentes no existen en ningún esquema: esas reglas concluyen insuficiencia de evidencia y nunca otra cosa. El sistema detecta candidatos; no determina culpabilidad.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15</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RESULTADOS · PREGUNTA 5</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Cuando el memo no coincide con los números</a:t>
            </a:r>
            <a:endParaRPr lang="en-US" sz="2800" dirty="0"/>
          </a:p>
        </p:txBody>
      </p:sp>
      <p:sp>
        <p:nvSpPr>
          <p:cNvPr id="6" name="Text 4"/>
          <p:cNvSpPr/>
          <p:nvPr/>
        </p:nvSpPr>
        <p:spPr>
          <a:xfrm>
            <a:off x="566928" y="1627632"/>
            <a:ext cx="11018520" cy="64008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El flujo establece el orden causal de forma explícita: los números primero, la narrativa después. Se calcula la varianza por centro, se identifica el peor, se descompone por cuenta, y solo entonces se busca explicación documental.</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395728"/>
          <a:ext cx="914400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Cuenta</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Varianza del trimestre</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Peso en la desviación</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Flete de salida</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+159.486 USD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El principal impulsor</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Flete de entrada</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+101.611 USD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Segundo impulsor</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Flete urgente</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+14.770 USD</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200" dirty="0">
                          <a:solidFill>
                            <a:srgbClr val="10162F"/>
                          </a:solidFill>
                          <a:latin typeface="Calibri" pitchFamily="34" charset="0"/>
                          <a:ea typeface="Calibri" pitchFamily="34" charset="-122"/>
                          <a:cs typeface="Calibri" pitchFamily="34" charset="-120"/>
                        </a:rPr>
                        <a:t>Marginal frente a los dos anteriores</a:t>
                      </a:r>
                      <a:endParaRPr lang="en-US" sz="12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bl>
          </a:graphicData>
        </a:graphic>
      </p:graphicFrame>
      <p:sp>
        <p:nvSpPr>
          <p:cNvPr id="8" name="Shape 5"/>
          <p:cNvSpPr/>
          <p:nvPr/>
        </p:nvSpPr>
        <p:spPr>
          <a:xfrm>
            <a:off x="566928" y="3977640"/>
            <a:ext cx="41148" cy="1600200"/>
          </a:xfrm>
          <a:prstGeom prst="rect">
            <a:avLst/>
          </a:prstGeom>
          <a:solidFill>
            <a:srgbClr val="9A6410"/>
          </a:solidFill>
          <a:ln/>
        </p:spPr>
        <p:txBody>
          <a:bodyPr/>
          <a:p/>
        </p:txBody>
      </p:sp>
      <p:sp>
        <p:nvSpPr>
          <p:cNvPr id="9" name="Shape 6"/>
          <p:cNvSpPr/>
          <p:nvPr/>
        </p:nvSpPr>
        <p:spPr>
          <a:xfrm>
            <a:off x="608076" y="3977640"/>
            <a:ext cx="10977372" cy="1600200"/>
          </a:xfrm>
          <a:prstGeom prst="rect">
            <a:avLst/>
          </a:prstGeom>
          <a:solidFill>
            <a:srgbClr val="FDF4E4"/>
          </a:solidFill>
          <a:ln w="12700">
            <a:solidFill>
              <a:srgbClr val="FDF4E4"/>
            </a:solidFill>
            <a:prstDash val="solid"/>
          </a:ln>
        </p:spPr>
        <p:txBody>
          <a:bodyPr/>
          <a:p/>
        </p:txBody>
      </p:sp>
      <p:sp>
        <p:nvSpPr>
          <p:cNvPr id="10" name="Text 7"/>
          <p:cNvSpPr/>
          <p:nvPr/>
        </p:nvSpPr>
        <p:spPr>
          <a:xfrm>
            <a:off x="841248" y="4105656"/>
            <a:ext cx="10469880" cy="237744"/>
          </a:xfrm>
          <a:prstGeom prst="rect">
            <a:avLst/>
          </a:prstGeom>
          <a:noFill/>
          <a:ln/>
        </p:spPr>
        <p:txBody>
          <a:bodyPr wrap="square" lIns="0" tIns="0" rIns="0" bIns="0" rtlCol="0" anchor="ctr"/>
          <a:lstStyle/>
          <a:p>
            <a:pPr marL="0" indent="0">
              <a:buNone/>
            </a:pPr>
            <a:r>
              <a:rPr lang="en-US" sz="1050" b="1" dirty="0">
                <a:solidFill>
                  <a:srgbClr val="9A6410"/>
                </a:solidFill>
                <a:latin typeface="Calibri" pitchFamily="34" charset="0"/>
                <a:ea typeface="Calibri" pitchFamily="34" charset="-122"/>
                <a:cs typeface="Calibri" pitchFamily="34" charset="-120"/>
              </a:rPr>
              <a:t>El memorando del consejo atribuye el sobrecoste al flete urgente</a:t>
            </a:r>
            <a:endParaRPr lang="en-US" sz="1050" dirty="0"/>
          </a:p>
        </p:txBody>
      </p:sp>
      <p:sp>
        <p:nvSpPr>
          <p:cNvPr id="11" name="Text 8"/>
          <p:cNvSpPr/>
          <p:nvPr/>
        </p:nvSpPr>
        <p:spPr>
          <a:xfrm>
            <a:off x="841248" y="4361688"/>
            <a:ext cx="10469880" cy="108813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Los datos dicen otra cosa: el flete urgente representa una fracción menor de la desviación, mientras que el ordinario de salida y entrada explican la mayor parte. El sistema no repite la narrativa. Informa que la coincidencia de términos es parcial, nombra la cuenta que realmente mueve la cifra, y no incorpora la sección del memo como fuente de una afirmación que no sustenta.</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16</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04 · RESULTADOS</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Las ocho preguntas y lo que el sistema hace con cada una</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38404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Pregunta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Estado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Fundamento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Gasto operativo del Q2 por centro de coste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NEEDS_CLARIFICATION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Dos ejercicios difieren un 5,6%, por encima de la tolerancia declarada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Viajes entre ejercicios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Tres bases con el puente de reclasificación cuantificado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Gasto consolidado del Q3 en dólares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REFUSED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Falta una tasa requerida; entrega componentes computables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Diez mayores proveedores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Dos rankings; la agrupación candidata altera el top diez</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Peores centros contra presupuesto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Cobertura de conversión incompleta en varios centros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Incumplimientos de política de viajes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ANSWER</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192 confirmadas, 7 posibles, 1.314 no evaluables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Coste de personal por empleado equivalente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REFUSED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El denominador no existe en ningún esquema declarado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7"/>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Pagos duplicados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ANSWER</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Cuatro candidatos de alta confianza, como candidatos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 4"/>
          <p:cNvSpPr/>
          <p:nvPr/>
        </p:nvSpPr>
        <p:spPr>
          <a:xfrm>
            <a:off x="566928" y="4956048"/>
            <a:ext cx="11018520" cy="685800"/>
          </a:xfrm>
          <a:prstGeom prst="rect">
            <a:avLst/>
          </a:prstGeom>
          <a:noFill/>
          <a:ln/>
        </p:spPr>
        <p:txBody>
          <a:bodyPr wrap="square" lIns="0" tIns="0" rIns="0" bIns="0" rtlCol="0" anchor="ctr"/>
          <a:lstStyle/>
          <a:p>
            <a:pPr marL="0" indent="0">
              <a:lnSpc>
                <a:spcPts val="1900"/>
              </a:lnSpc>
              <a:buNone/>
            </a:pPr>
            <a:r>
              <a:rPr lang="en-US" sz="1250" dirty="0">
                <a:solidFill>
                  <a:srgbClr val="5C6784"/>
                </a:solidFill>
                <a:latin typeface="Calibri" pitchFamily="34" charset="0"/>
                <a:ea typeface="Calibri" pitchFamily="34" charset="-122"/>
                <a:cs typeface="Calibri" pitchFamily="34" charset="-120"/>
              </a:rPr>
              <a:t>Los dos rechazos son de naturaleza distinta. El de coste por empleado es ESTRUCTURAL: ningún esquema declara plantilla, y se sostiene contra cualquier dataset. El del Q3 es CONTINGENTE: depende de que falte una tasa, y con tabla completa la respuesta correcta sería afirmativa.</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17</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05 · VERIFICACIÓN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Cómo sé que funciona</a:t>
            </a:r>
            <a:endParaRPr lang="en-US" sz="2800" dirty="0"/>
          </a:p>
        </p:txBody>
      </p:sp>
      <p:sp>
        <p:nvSpPr>
          <p:cNvPr id="6" name="Shape 4"/>
          <p:cNvSpPr/>
          <p:nvPr/>
        </p:nvSpPr>
        <p:spPr>
          <a:xfrm>
            <a:off x="566928" y="1645920"/>
            <a:ext cx="3547872" cy="1481328"/>
          </a:xfrm>
          <a:prstGeom prst="roundRect">
            <a:avLst>
              <a:gd name="adj" fmla="val 3086"/>
            </a:avLst>
          </a:prstGeom>
          <a:solidFill>
            <a:srgbClr val="F3F5FA"/>
          </a:solidFill>
          <a:ln w="12700">
            <a:solidFill>
              <a:srgbClr val="DCE2F0"/>
            </a:solidFill>
            <a:prstDash val="solid"/>
          </a:ln>
        </p:spPr>
        <p:txBody>
          <a:bodyPr/>
          <a:p/>
        </p:txBody>
      </p:sp>
      <p:sp>
        <p:nvSpPr>
          <p:cNvPr id="7" name="Text 5"/>
          <p:cNvSpPr/>
          <p:nvPr/>
        </p:nvSpPr>
        <p:spPr>
          <a:xfrm>
            <a:off x="786384" y="1828800"/>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PRUEBAS UNITARIAS</a:t>
            </a:r>
            <a:endParaRPr lang="en-US" sz="900" dirty="0"/>
          </a:p>
        </p:txBody>
      </p:sp>
      <p:sp>
        <p:nvSpPr>
          <p:cNvPr id="8" name="Text 6"/>
          <p:cNvSpPr/>
          <p:nvPr/>
        </p:nvSpPr>
        <p:spPr>
          <a:xfrm>
            <a:off x="786384" y="2066544"/>
            <a:ext cx="3108960" cy="566928"/>
          </a:xfrm>
          <a:prstGeom prst="rect">
            <a:avLst/>
          </a:prstGeom>
          <a:noFill/>
          <a:ln/>
        </p:spPr>
        <p:txBody>
          <a:bodyPr wrap="square" lIns="0" tIns="0" rIns="0" bIns="0" rtlCol="0" anchor="ctr"/>
          <a:lstStyle/>
          <a:p>
            <a:pPr marL="0" indent="0">
              <a:buNone/>
            </a:pPr>
            <a:r>
              <a:rPr lang="en-US" sz="2600" b="1" dirty="0">
                <a:solidFill>
                  <a:srgbClr val="1B2A5E"/>
                </a:solidFill>
                <a:latin typeface="Cambria" pitchFamily="34" charset="0"/>
                <a:ea typeface="Cambria" pitchFamily="34" charset="-122"/>
                <a:cs typeface="Cambria" pitchFamily="34" charset="-120"/>
              </a:rPr>
              <a:t>340</a:t>
            </a:r>
            <a:endParaRPr lang="en-US" sz="2600" dirty="0"/>
          </a:p>
        </p:txBody>
      </p:sp>
      <p:sp>
        <p:nvSpPr>
          <p:cNvPr id="9" name="Text 7"/>
          <p:cNvSpPr/>
          <p:nvPr/>
        </p:nvSpPr>
        <p:spPr>
          <a:xfrm>
            <a:off x="786384" y="2633472"/>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Capa determinista completa, sin credencial de modelo</a:t>
            </a:r>
            <a:endParaRPr lang="en-US" sz="1000" dirty="0"/>
          </a:p>
        </p:txBody>
      </p:sp>
      <p:sp>
        <p:nvSpPr>
          <p:cNvPr id="10" name="Shape 8"/>
          <p:cNvSpPr/>
          <p:nvPr/>
        </p:nvSpPr>
        <p:spPr>
          <a:xfrm>
            <a:off x="4306824" y="1645920"/>
            <a:ext cx="3547872" cy="1481328"/>
          </a:xfrm>
          <a:prstGeom prst="roundRect">
            <a:avLst>
              <a:gd name="adj" fmla="val 3086"/>
            </a:avLst>
          </a:prstGeom>
          <a:solidFill>
            <a:srgbClr val="F3F5FA"/>
          </a:solidFill>
          <a:ln w="12700">
            <a:solidFill>
              <a:srgbClr val="DCE2F0"/>
            </a:solidFill>
            <a:prstDash val="solid"/>
          </a:ln>
        </p:spPr>
        <p:txBody>
          <a:bodyPr/>
          <a:p/>
        </p:txBody>
      </p:sp>
      <p:sp>
        <p:nvSpPr>
          <p:cNvPr id="11" name="Text 9"/>
          <p:cNvSpPr/>
          <p:nvPr/>
        </p:nvSpPr>
        <p:spPr>
          <a:xfrm>
            <a:off x="4526280" y="1828800"/>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CASOS DE EVALUACIÓN</a:t>
            </a:r>
            <a:endParaRPr lang="en-US" sz="900" dirty="0"/>
          </a:p>
        </p:txBody>
      </p:sp>
      <p:sp>
        <p:nvSpPr>
          <p:cNvPr id="12" name="Text 10"/>
          <p:cNvSpPr/>
          <p:nvPr/>
        </p:nvSpPr>
        <p:spPr>
          <a:xfrm>
            <a:off x="4526280" y="2066544"/>
            <a:ext cx="3108960" cy="566928"/>
          </a:xfrm>
          <a:prstGeom prst="rect">
            <a:avLst/>
          </a:prstGeom>
          <a:noFill/>
          <a:ln/>
        </p:spPr>
        <p:txBody>
          <a:bodyPr wrap="square" lIns="0" tIns="0" rIns="0" bIns="0" rtlCol="0" anchor="ctr"/>
          <a:lstStyle/>
          <a:p>
            <a:pPr marL="0" indent="0">
              <a:buNone/>
            </a:pPr>
            <a:r>
              <a:rPr lang="en-US" sz="2600" b="1" dirty="0">
                <a:solidFill>
                  <a:srgbClr val="1B2A5E"/>
                </a:solidFill>
                <a:latin typeface="Cambria" pitchFamily="34" charset="0"/>
                <a:ea typeface="Cambria" pitchFamily="34" charset="-122"/>
                <a:cs typeface="Cambria" pitchFamily="34" charset="-120"/>
              </a:rPr>
              <a:t>16 / 16</a:t>
            </a:r>
            <a:endParaRPr lang="en-US" sz="2600" dirty="0"/>
          </a:p>
        </p:txBody>
      </p:sp>
      <p:sp>
        <p:nvSpPr>
          <p:cNvPr id="13" name="Text 11"/>
          <p:cNvSpPr/>
          <p:nvPr/>
        </p:nvSpPr>
        <p:spPr>
          <a:xfrm>
            <a:off x="4526280" y="2633472"/>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Ocho deterministas y ocho contra el orquestador real</a:t>
            </a:r>
            <a:endParaRPr lang="en-US" sz="1000" dirty="0"/>
          </a:p>
        </p:txBody>
      </p:sp>
      <p:sp>
        <p:nvSpPr>
          <p:cNvPr id="14" name="Shape 12"/>
          <p:cNvSpPr/>
          <p:nvPr/>
        </p:nvSpPr>
        <p:spPr>
          <a:xfrm>
            <a:off x="8037576" y="1645920"/>
            <a:ext cx="3547872" cy="1481328"/>
          </a:xfrm>
          <a:prstGeom prst="roundRect">
            <a:avLst>
              <a:gd name="adj" fmla="val 3086"/>
            </a:avLst>
          </a:prstGeom>
          <a:solidFill>
            <a:srgbClr val="F3F5FA"/>
          </a:solidFill>
          <a:ln w="12700">
            <a:solidFill>
              <a:srgbClr val="DCE2F0"/>
            </a:solidFill>
            <a:prstDash val="solid"/>
          </a:ln>
        </p:spPr>
        <p:txBody>
          <a:bodyPr/>
          <a:p/>
        </p:txBody>
      </p:sp>
      <p:sp>
        <p:nvSpPr>
          <p:cNvPr id="15" name="Text 13"/>
          <p:cNvSpPr/>
          <p:nvPr/>
        </p:nvSpPr>
        <p:spPr>
          <a:xfrm>
            <a:off x="8257032" y="1828800"/>
            <a:ext cx="3108960" cy="219456"/>
          </a:xfrm>
          <a:prstGeom prst="rect">
            <a:avLst/>
          </a:prstGeom>
          <a:noFill/>
          <a:ln/>
        </p:spPr>
        <p:txBody>
          <a:bodyPr wrap="square" lIns="0" tIns="0" rIns="0" bIns="0" rtlCol="0" anchor="ctr"/>
          <a:lstStyle/>
          <a:p>
            <a:pPr marL="0" indent="0">
              <a:buNone/>
            </a:pPr>
            <a:r>
              <a:rPr lang="en-US" sz="900" b="1" kern="0" spc="120" dirty="0">
                <a:solidFill>
                  <a:srgbClr val="5C6784"/>
                </a:solidFill>
                <a:latin typeface="Calibri" pitchFamily="34" charset="0"/>
                <a:ea typeface="Calibri" pitchFamily="34" charset="-122"/>
                <a:cs typeface="Calibri" pitchFamily="34" charset="-120"/>
              </a:rPr>
              <a:t>DIVERGENCIAS NUMÉRICAS</a:t>
            </a:r>
            <a:endParaRPr lang="en-US" sz="900" dirty="0"/>
          </a:p>
        </p:txBody>
      </p:sp>
      <p:sp>
        <p:nvSpPr>
          <p:cNvPr id="16" name="Text 14"/>
          <p:cNvSpPr/>
          <p:nvPr/>
        </p:nvSpPr>
        <p:spPr>
          <a:xfrm>
            <a:off x="8257032" y="2066544"/>
            <a:ext cx="3108960" cy="566928"/>
          </a:xfrm>
          <a:prstGeom prst="rect">
            <a:avLst/>
          </a:prstGeom>
          <a:noFill/>
          <a:ln/>
        </p:spPr>
        <p:txBody>
          <a:bodyPr wrap="square" lIns="0" tIns="0" rIns="0" bIns="0" rtlCol="0" anchor="ctr"/>
          <a:lstStyle/>
          <a:p>
            <a:pPr marL="0" indent="0">
              <a:buNone/>
            </a:pPr>
            <a:r>
              <a:rPr lang="en-US" sz="2600" b="1" dirty="0">
                <a:solidFill>
                  <a:srgbClr val="1C6046"/>
                </a:solidFill>
                <a:latin typeface="Cambria" pitchFamily="34" charset="0"/>
                <a:ea typeface="Cambria" pitchFamily="34" charset="-122"/>
                <a:cs typeface="Cambria" pitchFamily="34" charset="-120"/>
              </a:rPr>
              <a:t>0</a:t>
            </a:r>
            <a:endParaRPr lang="en-US" sz="2600" dirty="0"/>
          </a:p>
        </p:txBody>
      </p:sp>
      <p:sp>
        <p:nvSpPr>
          <p:cNvPr id="17" name="Text 15"/>
          <p:cNvSpPr/>
          <p:nvPr/>
        </p:nvSpPr>
        <p:spPr>
          <a:xfrm>
            <a:off x="8257032" y="2633472"/>
            <a:ext cx="3108960" cy="402336"/>
          </a:xfrm>
          <a:prstGeom prst="rect">
            <a:avLst/>
          </a:prstGeom>
          <a:noFill/>
          <a:ln/>
        </p:spPr>
        <p:txBody>
          <a:bodyPr wrap="square" lIns="0" tIns="0" rIns="0" bIns="0" rtlCol="0" anchor="ctr"/>
          <a:lstStyle/>
          <a:p>
            <a:pPr marL="0" indent="0">
              <a:lnSpc>
                <a:spcPts val="1300"/>
              </a:lnSpc>
              <a:buNone/>
            </a:pPr>
            <a:r>
              <a:rPr lang="en-US" sz="1000" dirty="0">
                <a:solidFill>
                  <a:srgbClr val="5C6784"/>
                </a:solidFill>
                <a:latin typeface="Calibri" pitchFamily="34" charset="0"/>
                <a:ea typeface="Calibri" pitchFamily="34" charset="-122"/>
                <a:cs typeface="Calibri" pitchFamily="34" charset="-120"/>
              </a:rPr>
              <a:t>Entre tres modelos de 8B a 120B parámetros</a:t>
            </a:r>
            <a:endParaRPr lang="en-US" sz="1000" dirty="0"/>
          </a:p>
        </p:txBody>
      </p:sp>
      <p:sp>
        <p:nvSpPr>
          <p:cNvPr id="18" name="Shape 16"/>
          <p:cNvSpPr/>
          <p:nvPr/>
        </p:nvSpPr>
        <p:spPr>
          <a:xfrm>
            <a:off x="566928" y="3310128"/>
            <a:ext cx="11018520" cy="2148840"/>
          </a:xfrm>
          <a:prstGeom prst="roundRect">
            <a:avLst>
              <a:gd name="adj" fmla="val 2128"/>
            </a:avLst>
          </a:prstGeom>
          <a:solidFill>
            <a:srgbClr val="F3F5FA"/>
          </a:solidFill>
          <a:ln w="12700">
            <a:solidFill>
              <a:srgbClr val="DCE2F0"/>
            </a:solidFill>
            <a:prstDash val="solid"/>
          </a:ln>
        </p:spPr>
        <p:txBody>
          <a:bodyPr/>
          <a:p/>
        </p:txBody>
      </p:sp>
      <p:sp>
        <p:nvSpPr>
          <p:cNvPr id="19" name="Text 17"/>
          <p:cNvSpPr/>
          <p:nvPr/>
        </p:nvSpPr>
        <p:spPr>
          <a:xfrm>
            <a:off x="868680" y="3493008"/>
            <a:ext cx="10424160" cy="256032"/>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EL EVAL NO FIJA EL ESTADO ESPERADO: COMPRUEBA UNA PRECONDICIÓN PRIMERO</a:t>
            </a:r>
            <a:endParaRPr lang="en-US" sz="1000" dirty="0"/>
          </a:p>
        </p:txBody>
      </p:sp>
      <p:sp>
        <p:nvSpPr>
          <p:cNvPr id="20" name="Text 18"/>
          <p:cNvSpPr/>
          <p:nvPr/>
        </p:nvSpPr>
        <p:spPr>
          <a:xfrm>
            <a:off x="868680" y="3822192"/>
            <a:ext cx="10424160" cy="914400"/>
          </a:xfrm>
          <a:prstGeom prst="rect">
            <a:avLst/>
          </a:prstGeom>
          <a:noFill/>
          <a:ln/>
        </p:spPr>
        <p:txBody>
          <a:bodyPr wrap="square" lIns="0" tIns="0" rIns="0" bIns="0" rtlCol="0" anchor="ctr"/>
          <a:lstStyle/>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[q3_consolidated_spend] precondition missing_fx_rate_in_period → True</a:t>
            </a:r>
            <a:endParaRPr lang="en-US" sz="1150" dirty="0"/>
          </a:p>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    detalle: falta la tasa EUR para 2024-09 (147 filas afectadas)</a:t>
            </a:r>
            <a:endParaRPr lang="en-US" sz="1150" dirty="0"/>
          </a:p>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    rama: if_true (expected_status=REFUSED)</a:t>
            </a:r>
            <a:endParaRPr lang="en-US" sz="1150" dirty="0"/>
          </a:p>
          <a:p>
            <a:pPr marL="0" indent="0">
              <a:lnSpc>
                <a:spcPts val="1700"/>
              </a:lnSpc>
              <a:buNone/>
            </a:pPr>
            <a:r>
              <a:rPr lang="en-US" sz="1150" dirty="0">
                <a:solidFill>
                  <a:srgbClr val="10162F"/>
                </a:solidFill>
                <a:latin typeface="Consolas" pitchFamily="34" charset="0"/>
                <a:ea typeface="Consolas" pitchFamily="34" charset="-122"/>
                <a:cs typeface="Consolas" pitchFamily="34" charset="-120"/>
              </a:rPr>
              <a:t>[q3_consolidated_spend] PASS</a:t>
            </a:r>
            <a:endParaRPr lang="en-US" sz="1150" dirty="0"/>
          </a:p>
        </p:txBody>
      </p:sp>
      <p:sp>
        <p:nvSpPr>
          <p:cNvPr id="21" name="Text 19"/>
          <p:cNvSpPr/>
          <p:nvPr/>
        </p:nvSpPr>
        <p:spPr>
          <a:xfrm>
            <a:off x="868680" y="4800600"/>
            <a:ext cx="10424160" cy="54864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Van a correr esto contra un segundo dataset con números distintos. Si ese dataset tiene la tabla de tasas completa, la respuesta correcta pasa a ser afirmativa y el eval pasa igual. Además la rama de rechazo exige que los componentes computables estén presentes: una regresión que dejara el rechazo mudo fallaría.</a:t>
            </a:r>
            <a:endParaRPr lang="en-US" sz="1200" dirty="0"/>
          </a:p>
        </p:txBody>
      </p:sp>
      <p:sp>
        <p:nvSpPr>
          <p:cNvPr id="22" name="Text 20"/>
          <p:cNvSpPr/>
          <p:nvPr/>
        </p:nvSpPr>
        <p:spPr>
          <a:xfrm>
            <a:off x="566928" y="5669280"/>
            <a:ext cx="11018520" cy="365760"/>
          </a:xfrm>
          <a:prstGeom prst="rect">
            <a:avLst/>
          </a:prstGeom>
          <a:noFill/>
          <a:ln/>
        </p:spPr>
        <p:txBody>
          <a:bodyPr wrap="square" lIns="0" tIns="0" rIns="0" bIns="0" rtlCol="0" anchor="ctr"/>
          <a:lstStyle/>
          <a:p>
            <a:pPr marL="0" indent="0">
              <a:buNone/>
            </a:pPr>
            <a:r>
              <a:rPr lang="en-US" sz="1700" b="1" i="1" dirty="0">
                <a:solidFill>
                  <a:srgbClr val="10162F"/>
                </a:solidFill>
                <a:latin typeface="Cambria" pitchFamily="34" charset="0"/>
                <a:ea typeface="Cambria" pitchFamily="34" charset="-122"/>
                <a:cs typeface="Cambria" pitchFamily="34" charset="-120"/>
              </a:rPr>
              <a:t>El rechazo se gana, no se declara.</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024"/>
        </a:solidFill>
        <a:effectLst/>
      </p:bgPr>
    </p:bg>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5A6899"/>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5A6899"/>
                </a:solidFill>
                <a:latin typeface="Calibri" pitchFamily="34" charset="0"/>
                <a:ea typeface="Calibri" pitchFamily="34" charset="-122"/>
                <a:cs typeface="Calibri" pitchFamily="34" charset="-120"/>
              </a:rPr>
              <a:t>18</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9FB0DC"/>
                </a:solidFill>
                <a:latin typeface="Calibri" pitchFamily="34" charset="0"/>
                <a:ea typeface="Calibri" pitchFamily="34" charset="-122"/>
                <a:cs typeface="Calibri" pitchFamily="34" charset="-120"/>
              </a:rPr>
              <a:t>05 · VERIFICACIÓN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Un modelo pequeño alucinó. Las cifras no se movieron.</a:t>
            </a:r>
            <a:endParaRPr lang="en-US" sz="2800" dirty="0"/>
          </a:p>
        </p:txBody>
      </p:sp>
      <p:sp>
        <p:nvSpPr>
          <p:cNvPr id="6" name="Text 4"/>
          <p:cNvSpPr/>
          <p:nvPr/>
        </p:nvSpPr>
        <p:spPr>
          <a:xfrm>
            <a:off x="566928" y="1600200"/>
            <a:ext cx="1101852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Corrí las ocho preguntas, parafraseadas para no calibrar contra el enunciado literal, contra tres modelos de tamaños muy distintos.</a:t>
            </a:r>
            <a:endParaRPr lang="en-US" sz="1400" dirty="0"/>
          </a:p>
        </p:txBody>
      </p:sp>
      <p:sp>
        <p:nvSpPr>
          <p:cNvPr id="7" name="Shape 5"/>
          <p:cNvSpPr/>
          <p:nvPr/>
        </p:nvSpPr>
        <p:spPr>
          <a:xfrm>
            <a:off x="566928" y="2121408"/>
            <a:ext cx="3547872" cy="868680"/>
          </a:xfrm>
          <a:prstGeom prst="roundRect">
            <a:avLst>
              <a:gd name="adj" fmla="val 5263"/>
            </a:avLst>
          </a:prstGeom>
          <a:solidFill>
            <a:srgbClr val="1A2450"/>
          </a:solidFill>
          <a:ln w="12700">
            <a:solidFill>
              <a:srgbClr val="2C3A70"/>
            </a:solidFill>
            <a:prstDash val="solid"/>
          </a:ln>
        </p:spPr>
        <p:txBody>
          <a:bodyPr/>
          <a:p/>
        </p:txBody>
      </p:sp>
      <p:sp>
        <p:nvSpPr>
          <p:cNvPr id="8" name="Text 6"/>
          <p:cNvSpPr/>
          <p:nvPr/>
        </p:nvSpPr>
        <p:spPr>
          <a:xfrm>
            <a:off x="841248" y="2249424"/>
            <a:ext cx="3017520" cy="34747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Llama 8B</a:t>
            </a:r>
            <a:endParaRPr lang="en-US" sz="1900" dirty="0"/>
          </a:p>
        </p:txBody>
      </p:sp>
      <p:sp>
        <p:nvSpPr>
          <p:cNvPr id="9" name="Text 7"/>
          <p:cNvSpPr/>
          <p:nvPr/>
        </p:nvSpPr>
        <p:spPr>
          <a:xfrm>
            <a:off x="841248" y="2615184"/>
            <a:ext cx="3017520" cy="256032"/>
          </a:xfrm>
          <a:prstGeom prst="rect">
            <a:avLst/>
          </a:prstGeom>
          <a:noFill/>
          <a:ln/>
        </p:spPr>
        <p:txBody>
          <a:bodyPr wrap="square" lIns="0" tIns="0" rIns="0" bIns="0" rtlCol="0" anchor="ctr"/>
          <a:lstStyle/>
          <a:p>
            <a:pPr marL="0" indent="0">
              <a:buNone/>
            </a:pPr>
            <a:r>
              <a:rPr lang="en-US" sz="1100" dirty="0">
                <a:solidFill>
                  <a:srgbClr val="5A6899"/>
                </a:solidFill>
                <a:latin typeface="Calibri" pitchFamily="34" charset="0"/>
                <a:ea typeface="Calibri" pitchFamily="34" charset="-122"/>
                <a:cs typeface="Calibri" pitchFamily="34" charset="-120"/>
              </a:rPr>
              <a:t>el pequeño</a:t>
            </a:r>
            <a:endParaRPr lang="en-US" sz="1100" dirty="0"/>
          </a:p>
        </p:txBody>
      </p:sp>
      <p:sp>
        <p:nvSpPr>
          <p:cNvPr id="10" name="Shape 8"/>
          <p:cNvSpPr/>
          <p:nvPr/>
        </p:nvSpPr>
        <p:spPr>
          <a:xfrm>
            <a:off x="4389120" y="2121408"/>
            <a:ext cx="3547872" cy="868680"/>
          </a:xfrm>
          <a:prstGeom prst="roundRect">
            <a:avLst>
              <a:gd name="adj" fmla="val 5263"/>
            </a:avLst>
          </a:prstGeom>
          <a:solidFill>
            <a:srgbClr val="1A2450"/>
          </a:solidFill>
          <a:ln w="12700">
            <a:solidFill>
              <a:srgbClr val="2C3A70"/>
            </a:solidFill>
            <a:prstDash val="solid"/>
          </a:ln>
        </p:spPr>
        <p:txBody>
          <a:bodyPr/>
          <a:p/>
        </p:txBody>
      </p:sp>
      <p:sp>
        <p:nvSpPr>
          <p:cNvPr id="11" name="Text 9"/>
          <p:cNvSpPr/>
          <p:nvPr/>
        </p:nvSpPr>
        <p:spPr>
          <a:xfrm>
            <a:off x="4663440" y="2249424"/>
            <a:ext cx="3017520" cy="34747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Llama 70B</a:t>
            </a:r>
            <a:endParaRPr lang="en-US" sz="1900" dirty="0"/>
          </a:p>
        </p:txBody>
      </p:sp>
      <p:sp>
        <p:nvSpPr>
          <p:cNvPr id="12" name="Text 10"/>
          <p:cNvSpPr/>
          <p:nvPr/>
        </p:nvSpPr>
        <p:spPr>
          <a:xfrm>
            <a:off x="4663440" y="2615184"/>
            <a:ext cx="3017520" cy="256032"/>
          </a:xfrm>
          <a:prstGeom prst="rect">
            <a:avLst/>
          </a:prstGeom>
          <a:noFill/>
          <a:ln/>
        </p:spPr>
        <p:txBody>
          <a:bodyPr wrap="square" lIns="0" tIns="0" rIns="0" bIns="0" rtlCol="0" anchor="ctr"/>
          <a:lstStyle/>
          <a:p>
            <a:pPr marL="0" indent="0">
              <a:buNone/>
            </a:pPr>
            <a:r>
              <a:rPr lang="en-US" sz="1100" dirty="0">
                <a:solidFill>
                  <a:srgbClr val="5A6899"/>
                </a:solidFill>
                <a:latin typeface="Calibri" pitchFamily="34" charset="0"/>
                <a:ea typeface="Calibri" pitchFamily="34" charset="-122"/>
                <a:cs typeface="Calibri" pitchFamily="34" charset="-120"/>
              </a:rPr>
              <a:t>el intermedio</a:t>
            </a:r>
            <a:endParaRPr lang="en-US" sz="1100" dirty="0"/>
          </a:p>
        </p:txBody>
      </p:sp>
      <p:sp>
        <p:nvSpPr>
          <p:cNvPr id="13" name="Shape 11"/>
          <p:cNvSpPr/>
          <p:nvPr/>
        </p:nvSpPr>
        <p:spPr>
          <a:xfrm>
            <a:off x="8211312" y="2121408"/>
            <a:ext cx="3547872" cy="868680"/>
          </a:xfrm>
          <a:prstGeom prst="roundRect">
            <a:avLst>
              <a:gd name="adj" fmla="val 5263"/>
            </a:avLst>
          </a:prstGeom>
          <a:solidFill>
            <a:srgbClr val="1A2450"/>
          </a:solidFill>
          <a:ln w="12700">
            <a:solidFill>
              <a:srgbClr val="2C3A70"/>
            </a:solidFill>
            <a:prstDash val="solid"/>
          </a:ln>
        </p:spPr>
        <p:txBody>
          <a:bodyPr/>
          <a:p/>
        </p:txBody>
      </p:sp>
      <p:sp>
        <p:nvSpPr>
          <p:cNvPr id="14" name="Text 12"/>
          <p:cNvSpPr/>
          <p:nvPr/>
        </p:nvSpPr>
        <p:spPr>
          <a:xfrm>
            <a:off x="8485632" y="2249424"/>
            <a:ext cx="3017520" cy="34747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Llama 120B</a:t>
            </a:r>
            <a:endParaRPr lang="en-US" sz="1900" dirty="0"/>
          </a:p>
        </p:txBody>
      </p:sp>
      <p:sp>
        <p:nvSpPr>
          <p:cNvPr id="15" name="Text 13"/>
          <p:cNvSpPr/>
          <p:nvPr/>
        </p:nvSpPr>
        <p:spPr>
          <a:xfrm>
            <a:off x="8485632" y="2615184"/>
            <a:ext cx="3017520" cy="256032"/>
          </a:xfrm>
          <a:prstGeom prst="rect">
            <a:avLst/>
          </a:prstGeom>
          <a:noFill/>
          <a:ln/>
        </p:spPr>
        <p:txBody>
          <a:bodyPr wrap="square" lIns="0" tIns="0" rIns="0" bIns="0" rtlCol="0" anchor="ctr"/>
          <a:lstStyle/>
          <a:p>
            <a:pPr marL="0" indent="0">
              <a:buNone/>
            </a:pPr>
            <a:r>
              <a:rPr lang="en-US" sz="1100" dirty="0">
                <a:solidFill>
                  <a:srgbClr val="5A6899"/>
                </a:solidFill>
                <a:latin typeface="Calibri" pitchFamily="34" charset="0"/>
                <a:ea typeface="Calibri" pitchFamily="34" charset="-122"/>
                <a:cs typeface="Calibri" pitchFamily="34" charset="-120"/>
              </a:rPr>
              <a:t>el grande</a:t>
            </a:r>
            <a:endParaRPr lang="en-US" sz="1100" dirty="0"/>
          </a:p>
        </p:txBody>
      </p:sp>
      <p:sp>
        <p:nvSpPr>
          <p:cNvPr id="16" name="Shape 14"/>
          <p:cNvSpPr/>
          <p:nvPr/>
        </p:nvSpPr>
        <p:spPr>
          <a:xfrm>
            <a:off x="566928" y="3218688"/>
            <a:ext cx="11018520" cy="1097280"/>
          </a:xfrm>
          <a:prstGeom prst="roundRect">
            <a:avLst>
              <a:gd name="adj" fmla="val 4167"/>
            </a:avLst>
          </a:prstGeom>
          <a:solidFill>
            <a:srgbClr val="2A1A1A"/>
          </a:solidFill>
          <a:ln w="12700">
            <a:solidFill>
              <a:srgbClr val="5E3232"/>
            </a:solidFill>
            <a:prstDash val="solid"/>
          </a:ln>
        </p:spPr>
        <p:txBody>
          <a:bodyPr/>
          <a:p/>
        </p:txBody>
      </p:sp>
      <p:sp>
        <p:nvSpPr>
          <p:cNvPr id="17" name="Text 15"/>
          <p:cNvSpPr/>
          <p:nvPr/>
        </p:nvSpPr>
        <p:spPr>
          <a:xfrm>
            <a:off x="868680" y="3383280"/>
            <a:ext cx="10424160" cy="237744"/>
          </a:xfrm>
          <a:prstGeom prst="rect">
            <a:avLst/>
          </a:prstGeom>
          <a:noFill/>
          <a:ln/>
        </p:spPr>
        <p:txBody>
          <a:bodyPr wrap="square" lIns="0" tIns="0" rIns="0" bIns="0" rtlCol="0" anchor="ctr"/>
          <a:lstStyle/>
          <a:p>
            <a:pPr marL="0" indent="0">
              <a:buNone/>
            </a:pPr>
            <a:r>
              <a:rPr lang="en-US" sz="1000" b="1" kern="0" spc="120" dirty="0">
                <a:solidFill>
                  <a:srgbClr val="F09393"/>
                </a:solidFill>
                <a:latin typeface="Calibri" pitchFamily="34" charset="0"/>
                <a:ea typeface="Calibri" pitchFamily="34" charset="-122"/>
                <a:cs typeface="Calibri" pitchFamily="34" charset="-120"/>
              </a:rPr>
              <a:t>EL MODELO DE 8B FALLÓ</a:t>
            </a:r>
            <a:endParaRPr lang="en-US" sz="1000" dirty="0"/>
          </a:p>
        </p:txBody>
      </p:sp>
      <p:sp>
        <p:nvSpPr>
          <p:cNvPr id="18" name="Text 16"/>
          <p:cNvSpPr/>
          <p:nvPr/>
        </p:nvSpPr>
        <p:spPr>
          <a:xfrm>
            <a:off x="868680" y="3675888"/>
            <a:ext cx="10424160" cy="548640"/>
          </a:xfrm>
          <a:prstGeom prst="rect">
            <a:avLst/>
          </a:prstGeom>
          <a:noFill/>
          <a:ln/>
        </p:spPr>
        <p:txBody>
          <a:bodyPr wrap="square" lIns="0" tIns="0" rIns="0" bIns="0" rtlCol="0" anchor="ctr"/>
          <a:lstStyle/>
          <a:p>
            <a:pPr marL="0" indent="0">
              <a:lnSpc>
                <a:spcPts val="1800"/>
              </a:lnSpc>
              <a:buNone/>
            </a:pPr>
            <a:r>
              <a:rPr lang="en-US" sz="1300" dirty="0">
                <a:solidFill>
                  <a:srgbClr val="CADCFC"/>
                </a:solidFill>
                <a:latin typeface="Calibri" pitchFamily="34" charset="0"/>
                <a:ea typeface="Calibri" pitchFamily="34" charset="-122"/>
                <a:cs typeface="Calibri" pitchFamily="34" charset="-120"/>
              </a:rPr>
              <a:t>Ante «este año contra el anterior» inventó los años literales 2024 y 2023 en vez de dejarlos sin fijar. El sistema lo detectó como extracción incorrecta, lo marcó y lo excluyó de la comparación.</a:t>
            </a:r>
            <a:endParaRPr lang="en-US" sz="1300" dirty="0"/>
          </a:p>
        </p:txBody>
      </p:sp>
      <p:sp>
        <p:nvSpPr>
          <p:cNvPr id="19" name="Text 17"/>
          <p:cNvSpPr/>
          <p:nvPr/>
        </p:nvSpPr>
        <p:spPr>
          <a:xfrm>
            <a:off x="566928" y="4526280"/>
            <a:ext cx="11018520" cy="438912"/>
          </a:xfrm>
          <a:prstGeom prst="rect">
            <a:avLst/>
          </a:prstGeom>
          <a:noFill/>
          <a:ln/>
        </p:spPr>
        <p:txBody>
          <a:bodyPr wrap="square" lIns="0" tIns="0" rIns="0" bIns="0" rtlCol="0" anchor="ctr"/>
          <a:lstStyle/>
          <a:p>
            <a:pPr marL="0" indent="0">
              <a:buNone/>
            </a:pPr>
            <a:r>
              <a:rPr lang="en-US" sz="2100" b="1" i="1" dirty="0">
                <a:solidFill>
                  <a:srgbClr val="84D6AC"/>
                </a:solidFill>
                <a:latin typeface="Cambria" pitchFamily="34" charset="0"/>
                <a:ea typeface="Cambria" pitchFamily="34" charset="-122"/>
                <a:cs typeface="Cambria" pitchFamily="34" charset="-120"/>
              </a:rPr>
              <a:t>Nunca llegó a producir una cifra, porque ningún modelo produce cifras.</a:t>
            </a:r>
            <a:endParaRPr lang="en-US" sz="2100" dirty="0"/>
          </a:p>
        </p:txBody>
      </p:sp>
      <p:sp>
        <p:nvSpPr>
          <p:cNvPr id="20" name="Text 18"/>
          <p:cNvSpPr/>
          <p:nvPr/>
        </p:nvSpPr>
        <p:spPr>
          <a:xfrm>
            <a:off x="566928" y="5074920"/>
            <a:ext cx="11018520" cy="914400"/>
          </a:xfrm>
          <a:prstGeom prst="rect">
            <a:avLst/>
          </a:prstGeom>
          <a:noFill/>
          <a:ln/>
        </p:spPr>
        <p:txBody>
          <a:bodyPr wrap="square" lIns="0" tIns="0" rIns="0" bIns="0" rtlCol="0" anchor="ctr"/>
          <a:lstStyle/>
          <a:p>
            <a:pPr marL="0" indent="0">
              <a:lnSpc>
                <a:spcPts val="2000"/>
              </a:lnSpc>
              <a:buNone/>
            </a:pPr>
            <a:r>
              <a:rPr lang="en-US" sz="1350" dirty="0">
                <a:solidFill>
                  <a:srgbClr val="CADCFC"/>
                </a:solidFill>
                <a:latin typeface="Calibri" pitchFamily="34" charset="0"/>
                <a:ea typeface="Calibri" pitchFamily="34" charset="-122"/>
                <a:cs typeface="Calibri" pitchFamily="34" charset="-120"/>
              </a:rPr>
              <a:t>Cero divergencias numéricas entre los tres modelos en las ocho preguntas. Una alucinación real de un modelo pequeño quedó confinada en la capa de interpretación, que es exactamente donde la arquitectura la sitúa. Consecuencia práctica: en producción, elegir modelo es una decisión de coste y latencia, no de corrección.</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19</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05 · VERIFICACIÓN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Sin credencial, el sistema sigue respondiendo</a:t>
            </a:r>
            <a:endParaRPr lang="en-US" sz="2800" dirty="0"/>
          </a:p>
        </p:txBody>
      </p:sp>
      <p:sp>
        <p:nvSpPr>
          <p:cNvPr id="6" name="Text 4"/>
          <p:cNvSpPr/>
          <p:nvPr/>
        </p:nvSpPr>
        <p:spPr>
          <a:xfrm>
            <a:off x="566928" y="1627632"/>
            <a:ext cx="11018520" cy="640080"/>
          </a:xfrm>
          <a:prstGeom prst="rect">
            <a:avLst/>
          </a:prstGeom>
          <a:noFill/>
          <a:ln/>
        </p:spPr>
        <p:txBody>
          <a:bodyPr wrap="square" lIns="0" tIns="0" rIns="0" bIns="0" rtlCol="0" anchor="ctr"/>
          <a:lstStyle/>
          <a:p>
            <a:pPr marL="0" indent="0">
              <a:lnSpc>
                <a:spcPts val="2000"/>
              </a:lnSpc>
              <a:buNone/>
            </a:pPr>
            <a:r>
              <a:rPr lang="en-US" sz="1350" dirty="0">
                <a:solidFill>
                  <a:srgbClr val="10162F"/>
                </a:solidFill>
                <a:latin typeface="Calibri" pitchFamily="34" charset="0"/>
                <a:ea typeface="Calibri" pitchFamily="34" charset="-122"/>
                <a:cs typeface="Calibri" pitchFamily="34" charset="-120"/>
              </a:rPr>
              <a:t>Si el modelo solo interpreta, retirarlo degrada la comprensión del lenguaje pero no la corrección de las cifras. Esto no es una afirmación de diseño: está cubierto por una prueba y es demostrable en vivo.</a:t>
            </a:r>
            <a:endParaRPr lang="en-US" sz="1350" dirty="0"/>
          </a:p>
        </p:txBody>
      </p:sp>
      <p:sp>
        <p:nvSpPr>
          <p:cNvPr id="7" name="Shape 5"/>
          <p:cNvSpPr/>
          <p:nvPr/>
        </p:nvSpPr>
        <p:spPr>
          <a:xfrm>
            <a:off x="566928" y="2395728"/>
            <a:ext cx="5394960" cy="2011680"/>
          </a:xfrm>
          <a:prstGeom prst="roundRect">
            <a:avLst>
              <a:gd name="adj" fmla="val 2273"/>
            </a:avLst>
          </a:prstGeom>
          <a:solidFill>
            <a:srgbClr val="F3F5FA"/>
          </a:solidFill>
          <a:ln w="12700">
            <a:solidFill>
              <a:srgbClr val="DCE2F0"/>
            </a:solidFill>
            <a:prstDash val="solid"/>
          </a:ln>
        </p:spPr>
        <p:txBody>
          <a:bodyPr/>
          <a:p/>
        </p:txBody>
      </p:sp>
      <p:sp>
        <p:nvSpPr>
          <p:cNvPr id="8" name="Text 6"/>
          <p:cNvSpPr/>
          <p:nvPr/>
        </p:nvSpPr>
        <p:spPr>
          <a:xfrm>
            <a:off x="841248" y="2578608"/>
            <a:ext cx="4846320" cy="237744"/>
          </a:xfrm>
          <a:prstGeom prst="rect">
            <a:avLst/>
          </a:prstGeom>
          <a:noFill/>
          <a:ln/>
        </p:spPr>
        <p:txBody>
          <a:bodyPr wrap="square" lIns="0" tIns="0" rIns="0" bIns="0" rtlCol="0" anchor="ctr"/>
          <a:lstStyle/>
          <a:p>
            <a:pPr marL="0" indent="0">
              <a:buNone/>
            </a:pPr>
            <a:r>
              <a:rPr lang="en-US" sz="1000" b="1" kern="0" spc="120" dirty="0">
                <a:solidFill>
                  <a:srgbClr val="3E5288"/>
                </a:solidFill>
                <a:latin typeface="Calibri" pitchFamily="34" charset="0"/>
                <a:ea typeface="Calibri" pitchFamily="34" charset="-122"/>
                <a:cs typeface="Calibri" pitchFamily="34" charset="-120"/>
              </a:rPr>
              <a:t>LA DEMOSTRACIÓN</a:t>
            </a:r>
            <a:endParaRPr lang="en-US" sz="1000" dirty="0"/>
          </a:p>
        </p:txBody>
      </p:sp>
      <p:sp>
        <p:nvSpPr>
          <p:cNvPr id="9" name="Text 7"/>
          <p:cNvSpPr/>
          <p:nvPr/>
        </p:nvSpPr>
        <p:spPr>
          <a:xfrm>
            <a:off x="841248" y="2871216"/>
            <a:ext cx="4846320" cy="1371600"/>
          </a:xfrm>
          <a:prstGeom prst="rect">
            <a:avLst/>
          </a:prstGeom>
          <a:noFill/>
          <a:ln/>
        </p:spPr>
        <p:txBody>
          <a:bodyPr wrap="square" lIns="0" tIns="0" rIns="0" bIns="0" rtlCol="0" anchor="ctr"/>
          <a:lstStyle/>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Rename-Item .env .env.backup</a:t>
            </a: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streamlit run src/.../ui/app.py</a:t>
            </a:r>
            <a:endParaRPr lang="en-US" sz="1100" dirty="0"/>
          </a:p>
          <a:p>
            <a:pPr marL="0" indent="0">
              <a:lnSpc>
                <a:spcPts val="1600"/>
              </a:lnSpc>
              <a:buNone/>
            </a:pP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 las ocho preguntas siguen</a:t>
            </a: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 respondiéndose con el intérprete</a:t>
            </a:r>
            <a:endParaRPr lang="en-US" sz="1100" dirty="0"/>
          </a:p>
          <a:p>
            <a:pPr marL="0" indent="0">
              <a:lnSpc>
                <a:spcPts val="1600"/>
              </a:lnSpc>
              <a:buNone/>
            </a:pPr>
            <a:r>
              <a:rPr lang="en-US" sz="1100" dirty="0">
                <a:solidFill>
                  <a:srgbClr val="10162F"/>
                </a:solidFill>
                <a:latin typeface="Consolas" pitchFamily="34" charset="0"/>
                <a:ea typeface="Consolas" pitchFamily="34" charset="-122"/>
                <a:cs typeface="Consolas" pitchFamily="34" charset="-120"/>
              </a:rPr>
              <a:t># determinista por palabras clave</a:t>
            </a:r>
            <a:endParaRPr lang="en-US" sz="1100" dirty="0"/>
          </a:p>
        </p:txBody>
      </p:sp>
      <p:sp>
        <p:nvSpPr>
          <p:cNvPr id="10" name="Text 8"/>
          <p:cNvSpPr/>
          <p:nvPr/>
        </p:nvSpPr>
        <p:spPr>
          <a:xfrm>
            <a:off x="6172200" y="2395728"/>
            <a:ext cx="5394960" cy="256032"/>
          </a:xfrm>
          <a:prstGeom prst="rect">
            <a:avLst/>
          </a:prstGeom>
          <a:noFill/>
          <a:ln/>
        </p:spPr>
        <p:txBody>
          <a:bodyPr wrap="square" lIns="0" tIns="0" rIns="0" bIns="0" rtlCol="0" anchor="ctr"/>
          <a:lstStyle/>
          <a:p>
            <a:pPr marL="0" indent="0">
              <a:buNone/>
            </a:pPr>
            <a:r>
              <a:rPr lang="en-US" sz="1300" b="1" dirty="0">
                <a:solidFill>
                  <a:srgbClr val="10162F"/>
                </a:solidFill>
                <a:latin typeface="Calibri" pitchFamily="34" charset="0"/>
                <a:ea typeface="Calibri" pitchFamily="34" charset="-122"/>
                <a:cs typeface="Calibri" pitchFamily="34" charset="-120"/>
              </a:rPr>
              <a:t>El intérprete de respaldo</a:t>
            </a:r>
            <a:endParaRPr lang="en-US" sz="1300" dirty="0"/>
          </a:p>
        </p:txBody>
      </p:sp>
      <p:sp>
        <p:nvSpPr>
          <p:cNvPr id="11" name="Text 9"/>
          <p:cNvSpPr/>
          <p:nvPr/>
        </p:nvSpPr>
        <p:spPr>
          <a:xfrm>
            <a:off x="6172200" y="2660904"/>
            <a:ext cx="5394960" cy="402336"/>
          </a:xfrm>
          <a:prstGeom prst="rect">
            <a:avLst/>
          </a:prstGeom>
          <a:noFill/>
          <a:ln/>
        </p:spPr>
        <p:txBody>
          <a:bodyPr wrap="square" lIns="0" tIns="0" rIns="0" bIns="0" rtlCol="0" anchor="ctr"/>
          <a:lstStyle/>
          <a:p>
            <a:pPr marL="0" indent="0">
              <a:lnSpc>
                <a:spcPts val="1600"/>
              </a:lnSpc>
              <a:buNone/>
            </a:pPr>
            <a:r>
              <a:rPr lang="en-US" sz="1200" dirty="0">
                <a:solidFill>
                  <a:srgbClr val="5C6784"/>
                </a:solidFill>
                <a:latin typeface="Calibri" pitchFamily="34" charset="0"/>
                <a:ea typeface="Calibri" pitchFamily="34" charset="-122"/>
                <a:cs typeface="Calibri" pitchFamily="34" charset="-120"/>
              </a:rPr>
              <a:t>Calibrado contra paráfrasis escritas a mano, nunca contra las frases literales del enunciado.</a:t>
            </a:r>
            <a:endParaRPr lang="en-US" sz="1200" dirty="0"/>
          </a:p>
        </p:txBody>
      </p:sp>
      <p:sp>
        <p:nvSpPr>
          <p:cNvPr id="12" name="Text 10"/>
          <p:cNvSpPr/>
          <p:nvPr/>
        </p:nvSpPr>
        <p:spPr>
          <a:xfrm>
            <a:off x="6172200" y="3108960"/>
            <a:ext cx="5394960" cy="256032"/>
          </a:xfrm>
          <a:prstGeom prst="rect">
            <a:avLst/>
          </a:prstGeom>
          <a:noFill/>
          <a:ln/>
        </p:spPr>
        <p:txBody>
          <a:bodyPr wrap="square" lIns="0" tIns="0" rIns="0" bIns="0" rtlCol="0" anchor="ctr"/>
          <a:lstStyle/>
          <a:p>
            <a:pPr marL="0" indent="0">
              <a:buNone/>
            </a:pPr>
            <a:r>
              <a:rPr lang="en-US" sz="1300" b="1" dirty="0">
                <a:solidFill>
                  <a:srgbClr val="10162F"/>
                </a:solidFill>
                <a:latin typeface="Calibri" pitchFamily="34" charset="0"/>
                <a:ea typeface="Calibri" pitchFamily="34" charset="-122"/>
                <a:cs typeface="Calibri" pitchFamily="34" charset="-120"/>
              </a:rPr>
              <a:t>No adivina</a:t>
            </a:r>
            <a:endParaRPr lang="en-US" sz="1300" dirty="0"/>
          </a:p>
        </p:txBody>
      </p:sp>
      <p:sp>
        <p:nvSpPr>
          <p:cNvPr id="13" name="Text 11"/>
          <p:cNvSpPr/>
          <p:nvPr/>
        </p:nvSpPr>
        <p:spPr>
          <a:xfrm>
            <a:off x="6172200" y="3374136"/>
            <a:ext cx="5394960" cy="402336"/>
          </a:xfrm>
          <a:prstGeom prst="rect">
            <a:avLst/>
          </a:prstGeom>
          <a:noFill/>
          <a:ln/>
        </p:spPr>
        <p:txBody>
          <a:bodyPr wrap="square" lIns="0" tIns="0" rIns="0" bIns="0" rtlCol="0" anchor="ctr"/>
          <a:lstStyle/>
          <a:p>
            <a:pPr marL="0" indent="0">
              <a:lnSpc>
                <a:spcPts val="1600"/>
              </a:lnSpc>
              <a:buNone/>
            </a:pPr>
            <a:r>
              <a:rPr lang="en-US" sz="1200" dirty="0">
                <a:solidFill>
                  <a:srgbClr val="5C6784"/>
                </a:solidFill>
                <a:latin typeface="Calibri" pitchFamily="34" charset="0"/>
                <a:ea typeface="Calibri" pitchFamily="34" charset="-122"/>
                <a:cs typeface="Calibri" pitchFamily="34" charset="-120"/>
              </a:rPr>
              <a:t>Ante una pregunta fuera del catálogo devuelve intención desconocida y pide aclaración.</a:t>
            </a:r>
            <a:endParaRPr lang="en-US" sz="1200" dirty="0"/>
          </a:p>
        </p:txBody>
      </p:sp>
      <p:sp>
        <p:nvSpPr>
          <p:cNvPr id="14" name="Text 12"/>
          <p:cNvSpPr/>
          <p:nvPr/>
        </p:nvSpPr>
        <p:spPr>
          <a:xfrm>
            <a:off x="6172200" y="3822192"/>
            <a:ext cx="5394960" cy="256032"/>
          </a:xfrm>
          <a:prstGeom prst="rect">
            <a:avLst/>
          </a:prstGeom>
          <a:noFill/>
          <a:ln/>
        </p:spPr>
        <p:txBody>
          <a:bodyPr wrap="square" lIns="0" tIns="0" rIns="0" bIns="0" rtlCol="0" anchor="ctr"/>
          <a:lstStyle/>
          <a:p>
            <a:pPr marL="0" indent="0">
              <a:buNone/>
            </a:pPr>
            <a:r>
              <a:rPr lang="en-US" sz="1300" b="1" dirty="0">
                <a:solidFill>
                  <a:srgbClr val="10162F"/>
                </a:solidFill>
                <a:latin typeface="Calibri" pitchFamily="34" charset="0"/>
                <a:ea typeface="Calibri" pitchFamily="34" charset="-122"/>
                <a:cs typeface="Calibri" pitchFamily="34" charset="-120"/>
              </a:rPr>
              <a:t>Lo declara</a:t>
            </a:r>
            <a:endParaRPr lang="en-US" sz="1300" dirty="0"/>
          </a:p>
        </p:txBody>
      </p:sp>
      <p:sp>
        <p:nvSpPr>
          <p:cNvPr id="15" name="Text 13"/>
          <p:cNvSpPr/>
          <p:nvPr/>
        </p:nvSpPr>
        <p:spPr>
          <a:xfrm>
            <a:off x="6172200" y="4087368"/>
            <a:ext cx="5394960" cy="402336"/>
          </a:xfrm>
          <a:prstGeom prst="rect">
            <a:avLst/>
          </a:prstGeom>
          <a:noFill/>
          <a:ln/>
        </p:spPr>
        <p:txBody>
          <a:bodyPr wrap="square" lIns="0" tIns="0" rIns="0" bIns="0" rtlCol="0" anchor="ctr"/>
          <a:lstStyle/>
          <a:p>
            <a:pPr marL="0" indent="0">
              <a:lnSpc>
                <a:spcPts val="1600"/>
              </a:lnSpc>
              <a:buNone/>
            </a:pPr>
            <a:r>
              <a:rPr lang="en-US" sz="1200" dirty="0">
                <a:solidFill>
                  <a:srgbClr val="5C6784"/>
                </a:solidFill>
                <a:latin typeface="Calibri" pitchFamily="34" charset="0"/>
                <a:ea typeface="Calibri" pitchFamily="34" charset="-122"/>
                <a:cs typeface="Calibri" pitchFamily="34" charset="-120"/>
              </a:rPr>
              <a:t>El uso del respaldo aparece como asunción explícita en cada respuesta.</a:t>
            </a:r>
            <a:endParaRPr lang="en-US" sz="1200" dirty="0"/>
          </a:p>
        </p:txBody>
      </p:sp>
      <p:sp>
        <p:nvSpPr>
          <p:cNvPr id="16" name="Shape 14"/>
          <p:cNvSpPr/>
          <p:nvPr/>
        </p:nvSpPr>
        <p:spPr>
          <a:xfrm>
            <a:off x="566928" y="4709160"/>
            <a:ext cx="41148" cy="960120"/>
          </a:xfrm>
          <a:prstGeom prst="rect">
            <a:avLst/>
          </a:prstGeom>
          <a:solidFill>
            <a:srgbClr val="1B2A5E"/>
          </a:solidFill>
          <a:ln/>
        </p:spPr>
        <p:txBody>
          <a:bodyPr/>
          <a:p/>
        </p:txBody>
      </p:sp>
      <p:sp>
        <p:nvSpPr>
          <p:cNvPr id="17" name="Shape 15"/>
          <p:cNvSpPr/>
          <p:nvPr/>
        </p:nvSpPr>
        <p:spPr>
          <a:xfrm>
            <a:off x="608076" y="4709160"/>
            <a:ext cx="10977372" cy="960120"/>
          </a:xfrm>
          <a:prstGeom prst="rect">
            <a:avLst/>
          </a:prstGeom>
          <a:solidFill>
            <a:srgbClr val="F3F5FA"/>
          </a:solidFill>
          <a:ln w="12700">
            <a:solidFill>
              <a:srgbClr val="F3F5FA"/>
            </a:solidFill>
            <a:prstDash val="solid"/>
          </a:ln>
        </p:spPr>
        <p:txBody>
          <a:bodyPr/>
          <a:p/>
        </p:txBody>
      </p:sp>
      <p:sp>
        <p:nvSpPr>
          <p:cNvPr id="18" name="Text 16"/>
          <p:cNvSpPr/>
          <p:nvPr/>
        </p:nvSpPr>
        <p:spPr>
          <a:xfrm>
            <a:off x="841248" y="4837176"/>
            <a:ext cx="1046988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Por qué esto importa para producción</a:t>
            </a:r>
            <a:endParaRPr lang="en-US" sz="1050" dirty="0"/>
          </a:p>
        </p:txBody>
      </p:sp>
      <p:sp>
        <p:nvSpPr>
          <p:cNvPr id="19" name="Text 17"/>
          <p:cNvSpPr/>
          <p:nvPr/>
        </p:nvSpPr>
        <p:spPr>
          <a:xfrm>
            <a:off x="841248" y="5093208"/>
            <a:ext cx="10469880" cy="44805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El sistema no queda cautivo de un proveedor. La capa que puede caer es la que interpreta el lenguaje, y su caída degrada la comodidad de uso, no la validez de las cifras.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20</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06 · PRODUCCIÓN</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Qué cambiaría, y qué no</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Aspecto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Prototipo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Entorno productivo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1B2A5E"/>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Origen de datos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Archivos locales validados contra esquema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Fuente gobernada con versionado y linaje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Convenciones contables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Constantes y configuración del proyecto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Dato versionado con vigencia y documento de respaldo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Trazabilidad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JSON en disco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Almacenamiento persistente con retención e identidad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Credenciales</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Archivo de entorno local</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Almacén de secretos con rotación</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Control de coste</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Techos por pregunta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Presupuesto por usuario y unidad, con alerta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3F5FA"/>
                    </a:solidFill>
                  </a:tcPr>
                </a:tc>
                <a:extLst>
                  <a:ext uri="{0D108BD9-81ED-4DB2-BD59-A6C34878D82A}">
                    <a16:rowId xmlns:a16="http://schemas.microsoft.com/office/drawing/2014/main" val="10005"/>
                  </a:ext>
                </a:extLst>
              </a:tr>
              <a:tr h="310896">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Observabilidad</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No implementada</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tc>
                  <a:txBody>
                    <a:bodyPr/>
                    <a:lstStyle/>
                    <a:p>
                      <a:pPr marL="0" indent="0">
                        <a:buNone/>
                      </a:pPr>
                      <a:r>
                        <a:rPr lang="en-US" sz="1100" dirty="0">
                          <a:solidFill>
                            <a:srgbClr val="10162F"/>
                          </a:solidFill>
                          <a:latin typeface="Calibri" pitchFamily="34" charset="0"/>
                          <a:ea typeface="Calibri" pitchFamily="34" charset="-122"/>
                          <a:cs typeface="Calibri" pitchFamily="34" charset="-120"/>
                        </a:rPr>
                        <a:t>Distribución de estados en el tiempo</a:t>
                      </a:r>
                      <a:endParaRPr lang="en-US" sz="1100" dirty="0">
                        <a:latin typeface="Calibri" charset="0"/>
                        <a:ea typeface="Calibri" charset="0"/>
                        <a:cs typeface="Calibri" charset="0"/>
                      </a:endParaRPr>
                    </a:p>
                  </a:txBody>
                  <a:tcPr anchor="ctr">
                    <a:lnL w="12700" cap="flat" cmpd="sng" algn="ctr">
                      <a:solidFill>
                        <a:srgbClr val="DCE2F0"/>
                      </a:solidFill>
                      <a:prstDash val="solid"/>
                      <a:round/>
                      <a:headEnd type="none" w="med" len="med"/>
                      <a:tailEnd type="none" w="med" len="med"/>
                    </a:lnL>
                    <a:lnR w="12700" cap="flat" cmpd="sng" algn="ctr">
                      <a:solidFill>
                        <a:srgbClr val="DCE2F0"/>
                      </a:solidFill>
                      <a:prstDash val="solid"/>
                      <a:round/>
                      <a:headEnd type="none" w="med" len="med"/>
                      <a:tailEnd type="none" w="med" len="med"/>
                    </a:lnR>
                    <a:lnT w="12700" cap="flat" cmpd="sng" algn="ctr">
                      <a:solidFill>
                        <a:srgbClr val="DCE2F0"/>
                      </a:solidFill>
                      <a:prstDash val="solid"/>
                      <a:round/>
                      <a:headEnd type="none" w="med" len="med"/>
                      <a:tailEnd type="none" w="med" len="med"/>
                    </a:lnT>
                    <a:lnB w="12700" cap="flat" cmpd="sng" algn="ctr">
                      <a:solidFill>
                        <a:srgbClr val="DCE2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566928" y="4041648"/>
            <a:ext cx="41148" cy="1051560"/>
          </a:xfrm>
          <a:prstGeom prst="rect">
            <a:avLst/>
          </a:prstGeom>
          <a:solidFill>
            <a:srgbClr val="1B2A5E"/>
          </a:solidFill>
          <a:ln/>
        </p:spPr>
        <p:txBody>
          <a:bodyPr/>
          <a:p/>
        </p:txBody>
      </p:sp>
      <p:sp>
        <p:nvSpPr>
          <p:cNvPr id="8" name="Shape 5"/>
          <p:cNvSpPr/>
          <p:nvPr/>
        </p:nvSpPr>
        <p:spPr>
          <a:xfrm>
            <a:off x="608076" y="4041648"/>
            <a:ext cx="10977372" cy="1051560"/>
          </a:xfrm>
          <a:prstGeom prst="rect">
            <a:avLst/>
          </a:prstGeom>
          <a:solidFill>
            <a:srgbClr val="F3F5FA"/>
          </a:solidFill>
          <a:ln w="12700">
            <a:solidFill>
              <a:srgbClr val="F3F5FA"/>
            </a:solidFill>
            <a:prstDash val="solid"/>
          </a:ln>
        </p:spPr>
        <p:txBody>
          <a:bodyPr/>
          <a:p/>
        </p:txBody>
      </p:sp>
      <p:sp>
        <p:nvSpPr>
          <p:cNvPr id="9" name="Text 6"/>
          <p:cNvSpPr/>
          <p:nvPr/>
        </p:nvSpPr>
        <p:spPr>
          <a:xfrm>
            <a:off x="841248" y="4169664"/>
            <a:ext cx="10469880" cy="237744"/>
          </a:xfrm>
          <a:prstGeom prst="rect">
            <a:avLst/>
          </a:prstGeom>
          <a:noFill/>
          <a:ln/>
        </p:spPr>
        <p:txBody>
          <a:bodyPr wrap="square" lIns="0" tIns="0" rIns="0" bIns="0" rtlCol="0" anchor="ctr"/>
          <a:lstStyle/>
          <a:p>
            <a:pPr marL="0" indent="0">
              <a:buNone/>
            </a:pPr>
            <a:r>
              <a:rPr lang="en-US" sz="1050" b="1" dirty="0">
                <a:solidFill>
                  <a:srgbClr val="1B2A5E"/>
                </a:solidFill>
                <a:latin typeface="Calibri" pitchFamily="34" charset="0"/>
                <a:ea typeface="Calibri" pitchFamily="34" charset="-122"/>
                <a:cs typeface="Calibri" pitchFamily="34" charset="-120"/>
              </a:rPr>
              <a:t>El catálogo de convenciones es la pieza que más valor aporta</a:t>
            </a:r>
            <a:endParaRPr lang="en-US" sz="1050" dirty="0"/>
          </a:p>
        </p:txBody>
      </p:sp>
      <p:sp>
        <p:nvSpPr>
          <p:cNvPr id="10" name="Text 7"/>
          <p:cNvSpPr/>
          <p:nvPr/>
        </p:nvSpPr>
        <p:spPr>
          <a:xfrm>
            <a:off x="841248" y="4425696"/>
            <a:ext cx="10469880" cy="539496"/>
          </a:xfrm>
          <a:prstGeom prst="rect">
            <a:avLst/>
          </a:prstGeom>
          <a:noFill/>
          <a:ln/>
        </p:spPr>
        <p:txBody>
          <a:bodyPr wrap="square" lIns="0" tIns="0" rIns="0" bIns="0" rtlCol="0" anchor="t"/>
          <a:lstStyle/>
          <a:p>
            <a:pPr marL="0" indent="0">
              <a:lnSpc>
                <a:spcPts val="1650"/>
              </a:lnSpc>
              <a:buNone/>
            </a:pPr>
            <a:r>
              <a:rPr lang="en-US" sz="1200" dirty="0">
                <a:solidFill>
                  <a:srgbClr val="10162F"/>
                </a:solidFill>
                <a:latin typeface="Calibri" pitchFamily="34" charset="0"/>
                <a:ea typeface="Calibri" pitchFamily="34" charset="-122"/>
                <a:cs typeface="Calibri" pitchFamily="34" charset="-120"/>
              </a:rPr>
              <a:t>Una cuenta cambió de jerarquía y un centro de coste cambió de código. Ambos cambios estaban documentados en un memorando que ningún sistema leía, y ambos habrían roto los informes en silencio.</a:t>
            </a:r>
            <a:endParaRPr lang="en-US" sz="1200" dirty="0"/>
          </a:p>
        </p:txBody>
      </p:sp>
      <p:sp>
        <p:nvSpPr>
          <p:cNvPr id="11" name="Text 8"/>
          <p:cNvSpPr/>
          <p:nvPr/>
        </p:nvSpPr>
        <p:spPr>
          <a:xfrm>
            <a:off x="566928" y="5285232"/>
            <a:ext cx="11018520" cy="731520"/>
          </a:xfrm>
          <a:prstGeom prst="rect">
            <a:avLst/>
          </a:prstGeom>
          <a:noFill/>
          <a:ln/>
        </p:spPr>
        <p:txBody>
          <a:bodyPr wrap="square" lIns="0" tIns="0" rIns="0" bIns="0" rtlCol="0" anchor="ctr"/>
          <a:lstStyle/>
          <a:p>
            <a:pPr marL="0" indent="0">
              <a:lnSpc>
                <a:spcPts val="1900"/>
              </a:lnSpc>
              <a:buNone/>
            </a:pPr>
            <a:r>
              <a:rPr lang="en-US" sz="1300" b="1" dirty="0">
                <a:solidFill>
                  <a:srgbClr val="10162F"/>
                </a:solidFill>
                <a:latin typeface="Calibri" pitchFamily="34" charset="0"/>
                <a:ea typeface="Calibri" pitchFamily="34" charset="-122"/>
                <a:cs typeface="Calibri" pitchFamily="34" charset="-120"/>
              </a:rPr>
              <a:t>Lo que NO cambiaría: las herramientas, la puerta de evidencia y los flujos son código puro, sin estado compartido ni entrada/salida propia. Por eso el paso a producción es un ejercicio de infraestructura y gobierno de datos, no una reescritura de la lógica financiera.</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8A93AD"/>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8A93AD"/>
                </a:solidFill>
                <a:latin typeface="Calibri" pitchFamily="34" charset="0"/>
                <a:ea typeface="Calibri" pitchFamily="34" charset="-122"/>
                <a:cs typeface="Calibri" pitchFamily="34" charset="-120"/>
              </a:rPr>
              <a:t>21</a:t>
            </a:r>
            <a:endParaRPr lang="en-US" sz="900" dirty="0"/>
          </a:p>
        </p:txBody>
      </p:sp>
      <p:sp>
        <p:nvSpPr>
          <p:cNvPr id="4" name="Text 2"/>
          <p:cNvSpPr/>
          <p:nvPr/>
        </p:nvSpPr>
        <p:spPr>
          <a:xfrm>
            <a:off x="566928" y="566928"/>
            <a:ext cx="10972800" cy="237744"/>
          </a:xfrm>
          <a:prstGeom prst="rect">
            <a:avLst/>
          </a:prstGeom>
          <a:noFill/>
          <a:ln/>
        </p:spPr>
        <p:txBody>
          <a:bodyPr wrap="square" lIns="0" tIns="0" rIns="0" bIns="0" rtlCol="0" anchor="ctr"/>
          <a:lstStyle/>
          <a:p>
            <a:pPr marL="0" indent="0">
              <a:buNone/>
            </a:pPr>
            <a:r>
              <a:rPr lang="en-US" sz="1100" b="1" kern="0" spc="200" dirty="0">
                <a:solidFill>
                  <a:srgbClr val="3E5288"/>
                </a:solidFill>
                <a:latin typeface="Calibri" pitchFamily="34" charset="0"/>
                <a:ea typeface="Calibri" pitchFamily="34" charset="-122"/>
                <a:cs typeface="Calibri" pitchFamily="34" charset="-120"/>
              </a:rPr>
              <a:t>HONESTIDAD</a:t>
            </a:r>
            <a:endParaRPr lang="en-US" sz="1100" dirty="0"/>
          </a:p>
        </p:txBody>
      </p:sp>
      <p:sp>
        <p:nvSpPr>
          <p:cNvPr id="5" name="Text 3"/>
          <p:cNvSpPr/>
          <p:nvPr/>
        </p:nvSpPr>
        <p:spPr>
          <a:xfrm>
            <a:off x="566928" y="859536"/>
            <a:ext cx="10972800" cy="566928"/>
          </a:xfrm>
          <a:prstGeom prst="rect">
            <a:avLst/>
          </a:prstGeom>
          <a:noFill/>
          <a:ln/>
        </p:spPr>
        <p:txBody>
          <a:bodyPr wrap="square" lIns="0" tIns="0" rIns="0" bIns="0" rtlCol="0" anchor="ctr"/>
          <a:lstStyle/>
          <a:p>
            <a:pPr marL="0" indent="0">
              <a:buNone/>
            </a:pPr>
            <a:r>
              <a:rPr lang="en-US" sz="2800" b="1" dirty="0">
                <a:solidFill>
                  <a:srgbClr val="10162F"/>
                </a:solidFill>
                <a:latin typeface="Cambria" pitchFamily="34" charset="0"/>
                <a:ea typeface="Cambria" pitchFamily="34" charset="-122"/>
                <a:cs typeface="Cambria" pitchFamily="34" charset="-120"/>
              </a:rPr>
              <a:t>Lo que no hace, y por qué</a:t>
            </a:r>
            <a:endParaRPr lang="en-US" sz="2800" dirty="0"/>
          </a:p>
        </p:txBody>
      </p:sp>
      <p:sp>
        <p:nvSpPr>
          <p:cNvPr id="6" name="Shape 4"/>
          <p:cNvSpPr/>
          <p:nvPr/>
        </p:nvSpPr>
        <p:spPr>
          <a:xfrm>
            <a:off x="566928" y="1691640"/>
            <a:ext cx="32004" cy="914400"/>
          </a:xfrm>
          <a:prstGeom prst="rect">
            <a:avLst/>
          </a:prstGeom>
          <a:solidFill>
            <a:srgbClr val="3E5288"/>
          </a:solidFill>
          <a:ln/>
        </p:spPr>
        <p:txBody>
          <a:bodyPr/>
          <a:p/>
        </p:txBody>
      </p:sp>
      <p:sp>
        <p:nvSpPr>
          <p:cNvPr id="7" name="Text 5"/>
          <p:cNvSpPr/>
          <p:nvPr/>
        </p:nvSpPr>
        <p:spPr>
          <a:xfrm>
            <a:off x="841248" y="169164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Identidad canónica de proveedor</a:t>
            </a:r>
            <a:endParaRPr lang="en-US" sz="1300" dirty="0"/>
          </a:p>
        </p:txBody>
      </p:sp>
      <p:sp>
        <p:nvSpPr>
          <p:cNvPr id="8" name="Text 6"/>
          <p:cNvSpPr/>
          <p:nvPr/>
        </p:nvSpPr>
        <p:spPr>
          <a:xfrm>
            <a:off x="4206240" y="169164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Detecto agrupaciones y mido su impacto, pero no las aplico: no existe mapeo autoritativo en los datos. Y la normalización mecánica no ve abreviaturas ni traducciones, así que el riesgo real es mayor que lo que devuelvo.</a:t>
            </a:r>
            <a:endParaRPr lang="en-US" sz="1200" dirty="0"/>
          </a:p>
        </p:txBody>
      </p:sp>
      <p:sp>
        <p:nvSpPr>
          <p:cNvPr id="9" name="Shape 7"/>
          <p:cNvSpPr/>
          <p:nvPr/>
        </p:nvSpPr>
        <p:spPr>
          <a:xfrm>
            <a:off x="566928" y="2788920"/>
            <a:ext cx="32004" cy="914400"/>
          </a:xfrm>
          <a:prstGeom prst="rect">
            <a:avLst/>
          </a:prstGeom>
          <a:solidFill>
            <a:srgbClr val="3E5288"/>
          </a:solidFill>
          <a:ln/>
        </p:spPr>
        <p:txBody>
          <a:bodyPr/>
          <a:p/>
        </p:txBody>
      </p:sp>
      <p:sp>
        <p:nvSpPr>
          <p:cNvPr id="10" name="Text 8"/>
          <p:cNvSpPr/>
          <p:nvPr/>
        </p:nvSpPr>
        <p:spPr>
          <a:xfrm>
            <a:off x="841248" y="278892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Verificabilidad de la política</a:t>
            </a:r>
            <a:endParaRPr lang="en-US" sz="1300" dirty="0"/>
          </a:p>
        </p:txBody>
      </p:sp>
      <p:sp>
        <p:nvSpPr>
          <p:cNvPr id="11" name="Text 9"/>
          <p:cNvSpPr/>
          <p:nvPr/>
        </p:nvSpPr>
        <p:spPr>
          <a:xfrm>
            <a:off x="4206240" y="278892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El ledger no tiene duración de vuelo ni registro de asistentes. Varias reglas solo pueden concluir insuficiencia de evidencia.</a:t>
            </a:r>
            <a:endParaRPr lang="en-US" sz="1200" dirty="0"/>
          </a:p>
        </p:txBody>
      </p:sp>
      <p:sp>
        <p:nvSpPr>
          <p:cNvPr id="12" name="Shape 10"/>
          <p:cNvSpPr/>
          <p:nvPr/>
        </p:nvSpPr>
        <p:spPr>
          <a:xfrm>
            <a:off x="566928" y="3886200"/>
            <a:ext cx="32004" cy="914400"/>
          </a:xfrm>
          <a:prstGeom prst="rect">
            <a:avLst/>
          </a:prstGeom>
          <a:solidFill>
            <a:srgbClr val="3E5288"/>
          </a:solidFill>
          <a:ln/>
        </p:spPr>
        <p:txBody>
          <a:bodyPr/>
          <a:p/>
        </p:txBody>
      </p:sp>
      <p:sp>
        <p:nvSpPr>
          <p:cNvPr id="13" name="Text 11"/>
          <p:cNvSpPr/>
          <p:nvPr/>
        </p:nvSpPr>
        <p:spPr>
          <a:xfrm>
            <a:off x="841248" y="388620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Asiento frente a pago</a:t>
            </a:r>
            <a:endParaRPr lang="en-US" sz="1300" dirty="0"/>
          </a:p>
        </p:txBody>
      </p:sp>
      <p:sp>
        <p:nvSpPr>
          <p:cNvPr id="14" name="Text 12"/>
          <p:cNvSpPr/>
          <p:nvPr/>
        </p:nvSpPr>
        <p:spPr>
          <a:xfrm>
            <a:off x="4206240" y="388620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Detecto asientos duplicados. Probar un pago duplicado exige evidencia de tesorería que no está en el dataset.</a:t>
            </a:r>
            <a:endParaRPr lang="en-US" sz="1200" dirty="0"/>
          </a:p>
        </p:txBody>
      </p:sp>
      <p:sp>
        <p:nvSpPr>
          <p:cNvPr id="15" name="Shape 13"/>
          <p:cNvSpPr/>
          <p:nvPr/>
        </p:nvSpPr>
        <p:spPr>
          <a:xfrm>
            <a:off x="566928" y="4983480"/>
            <a:ext cx="32004" cy="914400"/>
          </a:xfrm>
          <a:prstGeom prst="rect">
            <a:avLst/>
          </a:prstGeom>
          <a:solidFill>
            <a:srgbClr val="3E5288"/>
          </a:solidFill>
          <a:ln/>
        </p:spPr>
        <p:txBody>
          <a:bodyPr/>
          <a:p/>
        </p:txBody>
      </p:sp>
      <p:sp>
        <p:nvSpPr>
          <p:cNvPr id="16" name="Text 14"/>
          <p:cNvSpPr/>
          <p:nvPr/>
        </p:nvSpPr>
        <p:spPr>
          <a:xfrm>
            <a:off x="841248" y="4983480"/>
            <a:ext cx="3200400" cy="502920"/>
          </a:xfrm>
          <a:prstGeom prst="rect">
            <a:avLst/>
          </a:prstGeom>
          <a:noFill/>
          <a:ln/>
        </p:spPr>
        <p:txBody>
          <a:bodyPr wrap="square" lIns="0" tIns="0" rIns="0" bIns="0" rtlCol="0" anchor="ctr"/>
          <a:lstStyle/>
          <a:p>
            <a:pPr marL="0" indent="0">
              <a:lnSpc>
                <a:spcPts val="1700"/>
              </a:lnSpc>
              <a:buNone/>
            </a:pPr>
            <a:r>
              <a:rPr lang="en-US" sz="1300" b="1" dirty="0">
                <a:solidFill>
                  <a:srgbClr val="10162F"/>
                </a:solidFill>
                <a:latin typeface="Calibri" pitchFamily="34" charset="0"/>
                <a:ea typeface="Calibri" pitchFamily="34" charset="-122"/>
                <a:cs typeface="Calibri" pitchFamily="34" charset="-120"/>
              </a:rPr>
              <a:t>Alcance de intenciones</a:t>
            </a:r>
            <a:endParaRPr lang="en-US" sz="1300" dirty="0"/>
          </a:p>
        </p:txBody>
      </p:sp>
      <p:sp>
        <p:nvSpPr>
          <p:cNvPr id="17" name="Text 15"/>
          <p:cNvSpPr/>
          <p:nvPr/>
        </p:nvSpPr>
        <p:spPr>
          <a:xfrm>
            <a:off x="4206240" y="4983480"/>
            <a:ext cx="7360920" cy="914400"/>
          </a:xfrm>
          <a:prstGeom prst="rect">
            <a:avLst/>
          </a:prstGeom>
          <a:noFill/>
          <a:ln/>
        </p:spPr>
        <p:txBody>
          <a:bodyPr wrap="square" lIns="0" tIns="0" rIns="0" bIns="0" rtlCol="0" anchor="ctr"/>
          <a:lstStyle/>
          <a:p>
            <a:pPr marL="0" indent="0">
              <a:lnSpc>
                <a:spcPts val="1700"/>
              </a:lnSpc>
              <a:buNone/>
            </a:pPr>
            <a:r>
              <a:rPr lang="en-US" sz="1200" dirty="0">
                <a:solidFill>
                  <a:srgbClr val="5C6784"/>
                </a:solidFill>
                <a:latin typeface="Calibri" pitchFamily="34" charset="0"/>
                <a:ea typeface="Calibri" pitchFamily="34" charset="-122"/>
                <a:cs typeface="Calibri" pitchFamily="34" charset="-120"/>
              </a:rPr>
              <a:t>Cubro ocho. Una pregunta fuera del catálogo pide aclaración en lugar de aproximarse a la más parecida.</a:t>
            </a:r>
            <a:endParaRPr lang="en-US" sz="1200" dirty="0"/>
          </a:p>
        </p:txBody>
      </p:sp>
      <p:sp>
        <p:nvSpPr>
          <p:cNvPr id="18" name="Text 16"/>
          <p:cNvSpPr/>
          <p:nvPr/>
        </p:nvSpPr>
        <p:spPr>
          <a:xfrm>
            <a:off x="566928" y="6035040"/>
            <a:ext cx="11018520" cy="365760"/>
          </a:xfrm>
          <a:prstGeom prst="rect">
            <a:avLst/>
          </a:prstGeom>
          <a:noFill/>
          <a:ln/>
        </p:spPr>
        <p:txBody>
          <a:bodyPr wrap="square" lIns="0" tIns="0" rIns="0" bIns="0" rtlCol="0" anchor="ctr"/>
          <a:lstStyle/>
          <a:p>
            <a:pPr marL="0" indent="0">
              <a:buNone/>
            </a:pPr>
            <a:r>
              <a:rPr lang="en-US" sz="1250" b="1" i="1" dirty="0">
                <a:solidFill>
                  <a:srgbClr val="3E5288"/>
                </a:solidFill>
                <a:latin typeface="Calibri" pitchFamily="34" charset="0"/>
                <a:ea typeface="Calibri" pitchFamily="34" charset="-122"/>
                <a:cs typeface="Calibri" pitchFamily="34" charset="-120"/>
              </a:rPr>
              <a:t>Ninguna de estas se debe a falta de tiempo. Todas son decisiones sobre qué se puede afirmar con la evidencia disponible.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024"/>
        </a:solidFill>
        <a:effectLst/>
      </p:bgPr>
    </p:bg>
    <p:spTree>
      <p:nvGrpSpPr>
        <p:cNvPr id="1" name=""/>
        <p:cNvGrpSpPr/>
        <p:nvPr/>
      </p:nvGrpSpPr>
      <p:grpSpPr>
        <a:xfrm>
          <a:off x="0" y="0"/>
          <a:ext cx="0" cy="0"/>
          <a:chOff x="0" y="0"/>
          <a:chExt cx="0" cy="0"/>
        </a:xfrm>
      </p:grpSpPr>
      <p:sp>
        <p:nvSpPr>
          <p:cNvPr id="2" name="Text 0"/>
          <p:cNvSpPr/>
          <p:nvPr/>
        </p:nvSpPr>
        <p:spPr>
          <a:xfrm>
            <a:off x="566928" y="256032"/>
            <a:ext cx="5486400" cy="201168"/>
          </a:xfrm>
          <a:prstGeom prst="rect">
            <a:avLst/>
          </a:prstGeom>
          <a:noFill/>
          <a:ln/>
        </p:spPr>
        <p:txBody>
          <a:bodyPr wrap="square" lIns="0" tIns="0" rIns="0" bIns="0" rtlCol="0" anchor="ctr"/>
          <a:lstStyle/>
          <a:p>
            <a:pPr marL="0" indent="0">
              <a:buNone/>
            </a:pPr>
            <a:r>
              <a:rPr lang="en-US" sz="900" b="1" kern="0" spc="150" dirty="0">
                <a:solidFill>
                  <a:srgbClr val="5A6899"/>
                </a:solidFill>
                <a:latin typeface="Calibri" pitchFamily="34" charset="0"/>
                <a:ea typeface="Calibri" pitchFamily="34" charset="-122"/>
                <a:cs typeface="Calibri" pitchFamily="34" charset="-120"/>
              </a:rPr>
              <a:t>MERIDIAN FINANCE ANALYST ASSISTANT</a:t>
            </a:r>
            <a:endParaRPr lang="en-US" sz="900" dirty="0"/>
          </a:p>
        </p:txBody>
      </p:sp>
      <p:sp>
        <p:nvSpPr>
          <p:cNvPr id="3" name="Text 1"/>
          <p:cNvSpPr/>
          <p:nvPr/>
        </p:nvSpPr>
        <p:spPr>
          <a:xfrm>
            <a:off x="10881360" y="256032"/>
            <a:ext cx="731520" cy="201168"/>
          </a:xfrm>
          <a:prstGeom prst="rect">
            <a:avLst/>
          </a:prstGeom>
          <a:noFill/>
          <a:ln/>
        </p:spPr>
        <p:txBody>
          <a:bodyPr wrap="square" lIns="0" tIns="0" rIns="0" bIns="0" rtlCol="0" anchor="ctr"/>
          <a:lstStyle/>
          <a:p>
            <a:pPr marL="0" indent="0" algn="r">
              <a:buNone/>
            </a:pPr>
            <a:r>
              <a:rPr lang="en-US" sz="900" dirty="0">
                <a:solidFill>
                  <a:srgbClr val="5A6899"/>
                </a:solidFill>
                <a:latin typeface="Calibri" pitchFamily="34" charset="0"/>
                <a:ea typeface="Calibri" pitchFamily="34" charset="-122"/>
                <a:cs typeface="Calibri" pitchFamily="34" charset="-120"/>
              </a:rPr>
              <a:t>22</a:t>
            </a:r>
            <a:endParaRPr lang="en-US" sz="900" dirty="0"/>
          </a:p>
        </p:txBody>
      </p:sp>
      <p:sp>
        <p:nvSpPr>
          <p:cNvPr id="4" name="Text 2"/>
          <p:cNvSpPr/>
          <p:nvPr/>
        </p:nvSpPr>
        <p:spPr>
          <a:xfrm>
            <a:off x="566928" y="1188720"/>
            <a:ext cx="109728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Lo que quiero que se lleven</a:t>
            </a:r>
            <a:endParaRPr lang="en-US" sz="3000" dirty="0"/>
          </a:p>
        </p:txBody>
      </p:sp>
      <p:sp>
        <p:nvSpPr>
          <p:cNvPr id="5" name="Text 3"/>
          <p:cNvSpPr/>
          <p:nvPr/>
        </p:nvSpPr>
        <p:spPr>
          <a:xfrm>
            <a:off x="566928" y="214884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01</a:t>
            </a:r>
            <a:endParaRPr lang="en-US" sz="2200" dirty="0"/>
          </a:p>
        </p:txBody>
      </p:sp>
      <p:sp>
        <p:nvSpPr>
          <p:cNvPr id="6" name="Text 4"/>
          <p:cNvSpPr/>
          <p:nvPr/>
        </p:nvSpPr>
        <p:spPr>
          <a:xfrm>
            <a:off x="1508760" y="216712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El problema no era construir el agente más listo</a:t>
            </a:r>
            <a:endParaRPr lang="en-US" sz="1500" dirty="0"/>
          </a:p>
        </p:txBody>
      </p:sp>
      <p:sp>
        <p:nvSpPr>
          <p:cNvPr id="7" name="Text 5"/>
          <p:cNvSpPr/>
          <p:nvPr/>
        </p:nvSpPr>
        <p:spPr>
          <a:xfrm>
            <a:off x="1508760" y="247802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Era reconocer que dos de las ocho preguntas no tienen respuesta honesta, y diseñar el sistema para eso.</a:t>
            </a:r>
            <a:endParaRPr lang="en-US" sz="1250" dirty="0"/>
          </a:p>
        </p:txBody>
      </p:sp>
      <p:sp>
        <p:nvSpPr>
          <p:cNvPr id="8" name="Text 6"/>
          <p:cNvSpPr/>
          <p:nvPr/>
        </p:nvSpPr>
        <p:spPr>
          <a:xfrm>
            <a:off x="566928" y="310896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02</a:t>
            </a:r>
            <a:endParaRPr lang="en-US" sz="2200" dirty="0"/>
          </a:p>
        </p:txBody>
      </p:sp>
      <p:sp>
        <p:nvSpPr>
          <p:cNvPr id="9" name="Text 7"/>
          <p:cNvSpPr/>
          <p:nvPr/>
        </p:nvSpPr>
        <p:spPr>
          <a:xfrm>
            <a:off x="1508760" y="312724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Las cifras no dependen del modelo</a:t>
            </a:r>
            <a:endParaRPr lang="en-US" sz="1500" dirty="0"/>
          </a:p>
        </p:txBody>
      </p:sp>
      <p:sp>
        <p:nvSpPr>
          <p:cNvPr id="10" name="Text 8"/>
          <p:cNvSpPr/>
          <p:nvPr/>
        </p:nvSpPr>
        <p:spPr>
          <a:xfrm>
            <a:off x="1508760" y="343814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Tres modelos, cero divergencias. Sin credencial, el sistema sigue respondiendo las ocho.</a:t>
            </a:r>
            <a:endParaRPr lang="en-US" sz="1250" dirty="0"/>
          </a:p>
        </p:txBody>
      </p:sp>
      <p:sp>
        <p:nvSpPr>
          <p:cNvPr id="11" name="Text 9"/>
          <p:cNvSpPr/>
          <p:nvPr/>
        </p:nvSpPr>
        <p:spPr>
          <a:xfrm>
            <a:off x="566928" y="406908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03</a:t>
            </a:r>
            <a:endParaRPr lang="en-US" sz="2200" dirty="0"/>
          </a:p>
        </p:txBody>
      </p:sp>
      <p:sp>
        <p:nvSpPr>
          <p:cNvPr id="12" name="Text 10"/>
          <p:cNvSpPr/>
          <p:nvPr/>
        </p:nvSpPr>
        <p:spPr>
          <a:xfrm>
            <a:off x="1508760" y="408736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Un rechazo bien hecho es producto, no fallo</a:t>
            </a:r>
            <a:endParaRPr lang="en-US" sz="1500" dirty="0"/>
          </a:p>
        </p:txBody>
      </p:sp>
      <p:sp>
        <p:nvSpPr>
          <p:cNvPr id="13" name="Text 11"/>
          <p:cNvSpPr/>
          <p:nvPr/>
        </p:nvSpPr>
        <p:spPr>
          <a:xfrm>
            <a:off x="1508760" y="439826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El Q3 rechaza el total exacto y entrega el 89% del cuadro con lo que falta cuantificado.</a:t>
            </a:r>
            <a:endParaRPr lang="en-US" sz="1250" dirty="0"/>
          </a:p>
        </p:txBody>
      </p:sp>
      <p:sp>
        <p:nvSpPr>
          <p:cNvPr id="14" name="Text 12"/>
          <p:cNvSpPr/>
          <p:nvPr/>
        </p:nvSpPr>
        <p:spPr>
          <a:xfrm>
            <a:off x="566928" y="5029200"/>
            <a:ext cx="777240" cy="457200"/>
          </a:xfrm>
          <a:prstGeom prst="rect">
            <a:avLst/>
          </a:prstGeom>
          <a:noFill/>
          <a:ln/>
        </p:spPr>
        <p:txBody>
          <a:bodyPr wrap="square" lIns="0" tIns="0" rIns="0" bIns="0" rtlCol="0" anchor="ctr"/>
          <a:lstStyle/>
          <a:p>
            <a:pPr marL="0" indent="0">
              <a:buNone/>
            </a:pPr>
            <a:r>
              <a:rPr lang="en-US" sz="2200" b="1" dirty="0">
                <a:solidFill>
                  <a:srgbClr val="3B4A85"/>
                </a:solidFill>
                <a:latin typeface="Cambria" pitchFamily="34" charset="0"/>
                <a:ea typeface="Cambria" pitchFamily="34" charset="-122"/>
                <a:cs typeface="Cambria" pitchFamily="34" charset="-120"/>
              </a:rPr>
              <a:t>04</a:t>
            </a:r>
            <a:endParaRPr lang="en-US" sz="2200" dirty="0"/>
          </a:p>
        </p:txBody>
      </p:sp>
      <p:sp>
        <p:nvSpPr>
          <p:cNvPr id="15" name="Text 13"/>
          <p:cNvSpPr/>
          <p:nvPr/>
        </p:nvSpPr>
        <p:spPr>
          <a:xfrm>
            <a:off x="1508760" y="5047488"/>
            <a:ext cx="99669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Está construido para salir del prototipo</a:t>
            </a:r>
            <a:endParaRPr lang="en-US" sz="1500" dirty="0"/>
          </a:p>
        </p:txBody>
      </p:sp>
      <p:sp>
        <p:nvSpPr>
          <p:cNvPr id="16" name="Text 14"/>
          <p:cNvSpPr/>
          <p:nvPr/>
        </p:nvSpPr>
        <p:spPr>
          <a:xfrm>
            <a:off x="1508760" y="5358384"/>
            <a:ext cx="9966960" cy="457200"/>
          </a:xfrm>
          <a:prstGeom prst="rect">
            <a:avLst/>
          </a:prstGeom>
          <a:noFill/>
          <a:ln/>
        </p:spPr>
        <p:txBody>
          <a:bodyPr wrap="square" lIns="0" tIns="0" rIns="0" bIns="0" rtlCol="0" anchor="ctr"/>
          <a:lstStyle/>
          <a:p>
            <a:pPr marL="0" indent="0">
              <a:lnSpc>
                <a:spcPts val="1700"/>
              </a:lnSpc>
              <a:buNone/>
            </a:pPr>
            <a:r>
              <a:rPr lang="en-US" sz="1250" dirty="0">
                <a:solidFill>
                  <a:srgbClr val="CADCFC"/>
                </a:solidFill>
                <a:latin typeface="Calibri" pitchFamily="34" charset="0"/>
                <a:ea typeface="Calibri" pitchFamily="34" charset="-122"/>
                <a:cs typeface="Calibri" pitchFamily="34" charset="-120"/>
              </a:rPr>
              <a:t>Las herramientas no hacen entrada ni salida propia: pasar a producción es infraestructura, no reescritura.</a:t>
            </a:r>
            <a:endParaRPr lang="en-US" sz="1250" dirty="0"/>
          </a:p>
        </p:txBody>
      </p:sp>
      <p:sp>
        <p:nvSpPr>
          <p:cNvPr id="17" name="Shape 15"/>
          <p:cNvSpPr/>
          <p:nvPr/>
        </p:nvSpPr>
        <p:spPr>
          <a:xfrm>
            <a:off x="566928" y="5989320"/>
            <a:ext cx="1097280" cy="32004"/>
          </a:xfrm>
          <a:prstGeom prst="rect">
            <a:avLst/>
          </a:prstGeom>
          <a:solidFill>
            <a:srgbClr val="CADCFC"/>
          </a:solidFill>
          <a:ln/>
        </p:spPr>
        <p:txBody>
          <a:bodyPr/>
          <a:p/>
        </p:txBody>
      </p:sp>
      <p:sp>
        <p:nvSpPr>
          <p:cNvPr id="18" name="Text 16"/>
          <p:cNvSpPr/>
          <p:nvPr/>
        </p:nvSpPr>
        <p:spPr>
          <a:xfrm>
            <a:off x="566928" y="6217920"/>
            <a:ext cx="10972800" cy="365760"/>
          </a:xfrm>
          <a:prstGeom prst="rect">
            <a:avLst/>
          </a:prstGeom>
          <a:noFill/>
          <a:ln/>
        </p:spPr>
        <p:txBody>
          <a:bodyPr wrap="square" lIns="0" tIns="0" rIns="0" bIns="0" rtlCol="0" anchor="ctr"/>
          <a:lstStyle/>
          <a:p>
            <a:pPr marL="0" indent="0">
              <a:buNone/>
            </a:pPr>
            <a:r>
              <a:rPr lang="en-US" sz="1500" i="1" dirty="0">
                <a:solidFill>
                  <a:srgbClr val="CADCFC"/>
                </a:solidFill>
                <a:latin typeface="Cambria" pitchFamily="34" charset="0"/>
                <a:ea typeface="Cambria" pitchFamily="34" charset="-122"/>
                <a:cs typeface="Cambria" pitchFamily="34" charset="-120"/>
              </a:rPr>
              <a:t>Agéntico en la interpretación. Determinista en el cálculo financiero.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3764</Words>
  <Application>Microsoft Office PowerPoint</Application>
  <PresentationFormat>Panorámica</PresentationFormat>
  <Paragraphs>482</Paragraphs>
  <Slides>22</Slides>
  <Notes>22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Arial</vt:lpstr>
      <vt:lpstr>Calibri</vt:lpstr>
      <vt:lpstr>Cambria</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juan sebastian tellez lopez</cp:lastModifiedBy>
  <cp:revision>2</cp:revision>
  <dcterms:created xsi:type="dcterms:W3CDTF">2026-08-09T17:37:12Z</dcterms:created>
  <dcterms:modified xsi:type="dcterms:W3CDTF">2026-08-09T22:18:25Z</dcterms:modified>
</cp:coreProperties>
</file>